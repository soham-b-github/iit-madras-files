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notesSlides/notesSlide23.xml" ContentType="application/vnd.openxmlformats-officedocument.presentationml.notesSlide+xml"/>
  <Override PartName="/ppt/charts/chart7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26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4" r:id="rId26"/>
    <p:sldId id="280" r:id="rId27"/>
    <p:sldId id="281" r:id="rId28"/>
    <p:sldId id="282" r:id="rId29"/>
    <p:sldId id="283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173" autoAdjust="0"/>
  </p:normalViewPr>
  <p:slideViewPr>
    <p:cSldViewPr snapToGrid="0">
      <p:cViewPr varScale="1">
        <p:scale>
          <a:sx n="61" d="100"/>
          <a:sy n="61" d="100"/>
        </p:scale>
        <p:origin x="1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AIDS cases 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marker>
            <c:spPr>
              <a:solidFill>
                <a:schemeClr val="accent2"/>
              </a:solidFill>
            </c:spPr>
          </c:marker>
          <c:cat>
            <c:strRef>
              <c:f>Sheet1!$A$2:$A$14</c:f>
              <c:strCache>
                <c:ptCount val="13"/>
                <c:pt idx="0">
                  <c:v>Under 5 </c:v>
                </c:pt>
                <c:pt idx="1">
                  <c:v>5-12</c:v>
                </c:pt>
                <c:pt idx="2">
                  <c:v>13-19 </c:v>
                </c:pt>
                <c:pt idx="3">
                  <c:v>20-24 </c:v>
                </c:pt>
                <c:pt idx="4">
                  <c:v>25-29 </c:v>
                </c:pt>
                <c:pt idx="5">
                  <c:v>30-34 </c:v>
                </c:pt>
                <c:pt idx="6">
                  <c:v>35-39 </c:v>
                </c:pt>
                <c:pt idx="7">
                  <c:v>40-44 </c:v>
                </c:pt>
                <c:pt idx="8">
                  <c:v>45-49 </c:v>
                </c:pt>
                <c:pt idx="9">
                  <c:v>50-54 </c:v>
                </c:pt>
                <c:pt idx="10">
                  <c:v>55-59 </c:v>
                </c:pt>
                <c:pt idx="11">
                  <c:v>60-64 </c:v>
                </c:pt>
                <c:pt idx="12">
                  <c:v>Over 65 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6975</c:v>
                </c:pt>
                <c:pt idx="1">
                  <c:v>2099</c:v>
                </c:pt>
                <c:pt idx="2">
                  <c:v>4428</c:v>
                </c:pt>
                <c:pt idx="3">
                  <c:v>28665</c:v>
                </c:pt>
                <c:pt idx="4">
                  <c:v>105060</c:v>
                </c:pt>
                <c:pt idx="5">
                  <c:v>179164</c:v>
                </c:pt>
                <c:pt idx="6">
                  <c:v>182857</c:v>
                </c:pt>
                <c:pt idx="7">
                  <c:v>136145</c:v>
                </c:pt>
                <c:pt idx="8">
                  <c:v>80242</c:v>
                </c:pt>
                <c:pt idx="9">
                  <c:v>42780</c:v>
                </c:pt>
                <c:pt idx="10">
                  <c:v>23280</c:v>
                </c:pt>
                <c:pt idx="11">
                  <c:v>12898</c:v>
                </c:pt>
                <c:pt idx="12">
                  <c:v>11555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0B-4387-9B1C-B5CD1B97BE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968224560"/>
        <c:axId val="-968231632"/>
      </c:lineChart>
      <c:catAx>
        <c:axId val="-968224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5400000" vert="horz"/>
          <a:lstStyle/>
          <a:p>
            <a:pPr>
              <a:defRPr sz="985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-968231632"/>
        <c:crosses val="autoZero"/>
        <c:auto val="0"/>
        <c:lblAlgn val="ctr"/>
        <c:lblOffset val="100"/>
        <c:noMultiLvlLbl val="0"/>
      </c:catAx>
      <c:valAx>
        <c:axId val="-9682316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985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-968224560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032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689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AIDS cases </c:v>
                </c:pt>
              </c:strCache>
            </c:strRef>
          </c:tx>
          <c:spPr>
            <a:solidFill>
              <a:srgbClr val="333399"/>
            </a:solidFill>
            <a:ln>
              <a:solidFill>
                <a:schemeClr val="accent2"/>
              </a:solidFill>
            </a:ln>
          </c:spPr>
          <c:invertIfNegative val="0"/>
          <c:cat>
            <c:strRef>
              <c:f>Sheet1!$A$2:$A$14</c:f>
              <c:strCache>
                <c:ptCount val="13"/>
                <c:pt idx="0">
                  <c:v>Under 5 </c:v>
                </c:pt>
                <c:pt idx="1">
                  <c:v>5-12</c:v>
                </c:pt>
                <c:pt idx="2">
                  <c:v>13-19 </c:v>
                </c:pt>
                <c:pt idx="3">
                  <c:v>20-24 </c:v>
                </c:pt>
                <c:pt idx="4">
                  <c:v>25-29 </c:v>
                </c:pt>
                <c:pt idx="5">
                  <c:v>30-34 </c:v>
                </c:pt>
                <c:pt idx="6">
                  <c:v>35-39 </c:v>
                </c:pt>
                <c:pt idx="7">
                  <c:v>40-44 </c:v>
                </c:pt>
                <c:pt idx="8">
                  <c:v>45-49 </c:v>
                </c:pt>
                <c:pt idx="9">
                  <c:v>50-54 </c:v>
                </c:pt>
                <c:pt idx="10">
                  <c:v>55-59 </c:v>
                </c:pt>
                <c:pt idx="11">
                  <c:v>60-64 </c:v>
                </c:pt>
                <c:pt idx="12">
                  <c:v>Over 65 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6975</c:v>
                </c:pt>
                <c:pt idx="1">
                  <c:v>2099</c:v>
                </c:pt>
                <c:pt idx="2">
                  <c:v>4428</c:v>
                </c:pt>
                <c:pt idx="3">
                  <c:v>28665</c:v>
                </c:pt>
                <c:pt idx="4">
                  <c:v>105060</c:v>
                </c:pt>
                <c:pt idx="5">
                  <c:v>179164</c:v>
                </c:pt>
                <c:pt idx="6">
                  <c:v>182857</c:v>
                </c:pt>
                <c:pt idx="7">
                  <c:v>136145</c:v>
                </c:pt>
                <c:pt idx="8">
                  <c:v>80242</c:v>
                </c:pt>
                <c:pt idx="9">
                  <c:v>42780</c:v>
                </c:pt>
                <c:pt idx="10">
                  <c:v>23280</c:v>
                </c:pt>
                <c:pt idx="11">
                  <c:v>12898</c:v>
                </c:pt>
                <c:pt idx="12">
                  <c:v>11555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56-4623-9BB2-D36C917186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528006816"/>
        <c:axId val="-528009536"/>
      </c:barChart>
      <c:catAx>
        <c:axId val="-5280068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-5400000" vert="horz"/>
          <a:lstStyle/>
          <a:p>
            <a:pPr>
              <a:defRPr sz="923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-528009536"/>
        <c:crosses val="autoZero"/>
        <c:auto val="1"/>
        <c:lblAlgn val="ctr"/>
        <c:lblOffset val="100"/>
        <c:noMultiLvlLbl val="0"/>
      </c:catAx>
      <c:valAx>
        <c:axId val="-5280095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923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-528006816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967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583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2003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diamond"/>
            <c:size val="9"/>
            <c:spPr>
              <a:solidFill>
                <a:srgbClr val="FF0000"/>
              </a:solidFill>
            </c:spPr>
          </c:marker>
          <c:cat>
            <c:strRef>
              <c:f>Sheet1!$A$2:$A$13</c:f>
              <c:strCache>
                <c:ptCount val="12"/>
                <c:pt idx="0">
                  <c:v>Jan </c:v>
                </c:pt>
                <c:pt idx="1">
                  <c:v>Feb </c:v>
                </c:pt>
                <c:pt idx="2">
                  <c:v>Mar </c:v>
                </c:pt>
                <c:pt idx="3">
                  <c:v>Apr </c:v>
                </c:pt>
                <c:pt idx="4">
                  <c:v>May </c:v>
                </c:pt>
                <c:pt idx="5">
                  <c:v>Jun </c:v>
                </c:pt>
                <c:pt idx="6">
                  <c:v>Jul </c:v>
                </c:pt>
                <c:pt idx="7">
                  <c:v>Aug </c:v>
                </c:pt>
                <c:pt idx="8">
                  <c:v>Sep </c:v>
                </c:pt>
                <c:pt idx="9">
                  <c:v>Oct </c:v>
                </c:pt>
                <c:pt idx="10">
                  <c:v>Nov </c:v>
                </c:pt>
                <c:pt idx="11">
                  <c:v>Dec 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12.5</c:v>
                </c:pt>
                <c:pt idx="1">
                  <c:v>14.3</c:v>
                </c:pt>
                <c:pt idx="2">
                  <c:v>15.9</c:v>
                </c:pt>
                <c:pt idx="3">
                  <c:v>15</c:v>
                </c:pt>
                <c:pt idx="4">
                  <c:v>15.3</c:v>
                </c:pt>
                <c:pt idx="5">
                  <c:v>15.7</c:v>
                </c:pt>
                <c:pt idx="6">
                  <c:v>16.100000000000001</c:v>
                </c:pt>
                <c:pt idx="7">
                  <c:v>16.2</c:v>
                </c:pt>
                <c:pt idx="8">
                  <c:v>16.399999999999999</c:v>
                </c:pt>
                <c:pt idx="9">
                  <c:v>16.5</c:v>
                </c:pt>
                <c:pt idx="10">
                  <c:v>16.5</c:v>
                </c:pt>
                <c:pt idx="11">
                  <c:v>16.399999999999999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99-4E0E-AAD7-721E8240D2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2004</c:v>
                </c:pt>
              </c:strCache>
            </c:strRef>
          </c:tx>
          <c:spPr>
            <a:ln>
              <a:solidFill>
                <a:srgbClr val="002060"/>
              </a:solidFill>
            </a:ln>
          </c:spPr>
          <c:marker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 </c:v>
                </c:pt>
                <c:pt idx="1">
                  <c:v>Feb </c:v>
                </c:pt>
                <c:pt idx="2">
                  <c:v>Mar </c:v>
                </c:pt>
                <c:pt idx="3">
                  <c:v>Apr </c:v>
                </c:pt>
                <c:pt idx="4">
                  <c:v>May </c:v>
                </c:pt>
                <c:pt idx="5">
                  <c:v>Jun </c:v>
                </c:pt>
                <c:pt idx="6">
                  <c:v>Jul </c:v>
                </c:pt>
                <c:pt idx="7">
                  <c:v>Aug </c:v>
                </c:pt>
                <c:pt idx="8">
                  <c:v>Sep </c:v>
                </c:pt>
                <c:pt idx="9">
                  <c:v>Oct </c:v>
                </c:pt>
                <c:pt idx="10">
                  <c:v>Nov </c:v>
                </c:pt>
                <c:pt idx="11">
                  <c:v>Dec 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</c:v>
                </c:pt>
                <c:pt idx="1">
                  <c:v>16.100000000000001</c:v>
                </c:pt>
                <c:pt idx="2">
                  <c:v>15.4</c:v>
                </c:pt>
                <c:pt idx="3">
                  <c:v>15</c:v>
                </c:pt>
                <c:pt idx="4">
                  <c:v>14.6</c:v>
                </c:pt>
                <c:pt idx="5">
                  <c:v>13.8</c:v>
                </c:pt>
                <c:pt idx="6">
                  <c:v>12.5</c:v>
                </c:pt>
                <c:pt idx="7">
                  <c:v>11.4</c:v>
                </c:pt>
                <c:pt idx="8">
                  <c:v>10.9</c:v>
                </c:pt>
                <c:pt idx="9">
                  <c:v>10.200000000000001</c:v>
                </c:pt>
                <c:pt idx="10">
                  <c:v>9.7000000000000011</c:v>
                </c:pt>
                <c:pt idx="11">
                  <c:v>9.3000000000000007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99-4E0E-AAD7-721E8240D2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421849392"/>
        <c:axId val="-421851024"/>
      </c:lineChart>
      <c:catAx>
        <c:axId val="-4218493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25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Month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 rot="0" vert="horz"/>
          <a:lstStyle/>
          <a:p>
            <a:pPr>
              <a:defRPr sz="1031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-421851024"/>
        <c:crosses val="autoZero"/>
        <c:auto val="1"/>
        <c:lblAlgn val="ctr"/>
        <c:lblOffset val="100"/>
        <c:noMultiLvlLbl val="0"/>
      </c:catAx>
      <c:valAx>
        <c:axId val="-421851024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25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Sales ($ millions)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1031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-421849392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947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687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639405204460966"/>
          <c:y val="6.3926940639269403E-2"/>
          <c:w val="0.8413878562577447"/>
          <c:h val="0.675799086757991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rgbClr val="3366FF"/>
            </a:solidFill>
            <a:ln w="12884">
              <a:solidFill>
                <a:schemeClr val="tx1"/>
              </a:solidFill>
              <a:prstDash val="solid"/>
            </a:ln>
          </c:spPr>
          <c:invertIfNegative val="0"/>
          <c:dLbls>
            <c:spPr>
              <a:noFill/>
              <a:ln w="25769">
                <a:noFill/>
              </a:ln>
            </c:spPr>
            <c:txPr>
              <a:bodyPr/>
              <a:lstStyle/>
              <a:p>
                <a:pPr>
                  <a:defRPr sz="1826" b="1" i="0" u="none" strike="noStrike" baseline="0">
                    <a:solidFill>
                      <a:schemeClr val="tx1"/>
                    </a:solidFill>
                    <a:latin typeface="Arial Narrow"/>
                    <a:ea typeface="Arial Narrow"/>
                    <a:cs typeface="Arial Narrow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Sheet1!$B$1:$D$1</c:f>
              <c:strCache>
                <c:ptCount val="3"/>
                <c:pt idx="0">
                  <c:v>Product C</c:v>
                </c:pt>
                <c:pt idx="1">
                  <c:v>Product B</c:v>
                </c:pt>
                <c:pt idx="2">
                  <c:v>Product A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27</c:v>
                </c:pt>
                <c:pt idx="1">
                  <c:v>35</c:v>
                </c:pt>
                <c:pt idx="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93-4343-8561-CFCAD6B0BC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931374656"/>
        <c:axId val="-931375744"/>
      </c:barChart>
      <c:catAx>
        <c:axId val="-93137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221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826" b="1" i="0" u="none" strike="noStrike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pPr>
            <a:endParaRPr lang="en-US"/>
          </a:p>
        </c:txPr>
        <c:crossAx val="-93137574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931375744"/>
        <c:scaling>
          <c:orientation val="minMax"/>
        </c:scaling>
        <c:delete val="0"/>
        <c:axPos val="l"/>
        <c:title>
          <c:tx>
            <c:rich>
              <a:bodyPr rot="-60000" vert="horz"/>
              <a:lstStyle/>
              <a:p>
                <a:pPr algn="l">
                  <a:defRPr sz="1826" b="1" i="0" u="none" strike="noStrike" baseline="0">
                    <a:solidFill>
                      <a:schemeClr val="tx1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($ million)</a:t>
                </a:r>
              </a:p>
            </c:rich>
          </c:tx>
          <c:layout>
            <c:manualLayout>
              <c:xMode val="edge"/>
              <c:yMode val="edge"/>
              <c:x val="3.7174721189591089E-3"/>
              <c:y val="0.35844748858447506"/>
            </c:manualLayout>
          </c:layout>
          <c:overlay val="0"/>
          <c:spPr>
            <a:noFill/>
            <a:ln w="25769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221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623" b="1" i="0" u="none" strike="noStrike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pPr>
            <a:endParaRPr lang="en-US"/>
          </a:p>
        </c:txPr>
        <c:crossAx val="-931374656"/>
        <c:crosses val="autoZero"/>
        <c:crossBetween val="between"/>
        <c:majorUnit val="60"/>
        <c:minorUnit val="60"/>
      </c:valAx>
      <c:spPr>
        <a:noFill/>
        <a:ln w="25769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26" b="1" i="0" u="none" strike="noStrike" baseline="0">
          <a:solidFill>
            <a:schemeClr val="tx1"/>
          </a:solidFill>
          <a:latin typeface="Arial Black"/>
          <a:ea typeface="Arial Black"/>
          <a:cs typeface="Arial Black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003241491085895E-2"/>
          <c:y val="0.14155251141552511"/>
          <c:w val="0.83468395461912515"/>
          <c:h val="0.7420091324200921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East</c:v>
                </c:pt>
              </c:strCache>
            </c:strRef>
          </c:tx>
          <c:spPr>
            <a:ln w="26789">
              <a:noFill/>
            </a:ln>
          </c:spPr>
          <c:marker>
            <c:symbol val="diamond"/>
            <c:size val="7"/>
            <c:spPr>
              <a:solidFill>
                <a:schemeClr val="bg2">
                  <a:lumMod val="20000"/>
                  <a:lumOff val="80000"/>
                </a:schemeClr>
              </a:solidFill>
              <a:ln>
                <a:solidFill>
                  <a:srgbClr val="0000FF"/>
                </a:solidFill>
                <a:prstDash val="solid"/>
              </a:ln>
            </c:spPr>
          </c:marker>
          <c:xVal>
            <c:numRef>
              <c:f>Sheet1!$B$1:$Q$1</c:f>
              <c:numCache>
                <c:formatCode>General</c:formatCode>
                <c:ptCount val="16"/>
                <c:pt idx="0">
                  <c:v>1</c:v>
                </c:pt>
                <c:pt idx="1">
                  <c:v>1.25</c:v>
                </c:pt>
                <c:pt idx="2">
                  <c:v>1.5</c:v>
                </c:pt>
                <c:pt idx="3">
                  <c:v>1.75</c:v>
                </c:pt>
                <c:pt idx="4">
                  <c:v>2</c:v>
                </c:pt>
                <c:pt idx="5">
                  <c:v>2.25</c:v>
                </c:pt>
                <c:pt idx="6">
                  <c:v>2.5</c:v>
                </c:pt>
                <c:pt idx="7">
                  <c:v>2.75</c:v>
                </c:pt>
                <c:pt idx="8">
                  <c:v>3</c:v>
                </c:pt>
                <c:pt idx="9">
                  <c:v>3.25</c:v>
                </c:pt>
                <c:pt idx="10">
                  <c:v>3.5</c:v>
                </c:pt>
                <c:pt idx="11">
                  <c:v>3.75</c:v>
                </c:pt>
                <c:pt idx="12">
                  <c:v>4</c:v>
                </c:pt>
                <c:pt idx="13">
                  <c:v>4.25</c:v>
                </c:pt>
                <c:pt idx="14">
                  <c:v>4.5</c:v>
                </c:pt>
                <c:pt idx="15">
                  <c:v>4.75</c:v>
                </c:pt>
              </c:numCache>
            </c:numRef>
          </c:xVal>
          <c:yVal>
            <c:numRef>
              <c:f>Sheet1!$B$2:$Q$2</c:f>
              <c:numCache>
                <c:formatCode>General</c:formatCode>
                <c:ptCount val="16"/>
                <c:pt idx="0">
                  <c:v>0.34152038100000026</c:v>
                </c:pt>
                <c:pt idx="1">
                  <c:v>0.48499441900000018</c:v>
                </c:pt>
                <c:pt idx="2">
                  <c:v>0.83823171400000029</c:v>
                </c:pt>
                <c:pt idx="3">
                  <c:v>0.71628417700000002</c:v>
                </c:pt>
                <c:pt idx="4">
                  <c:v>0.590724464</c:v>
                </c:pt>
                <c:pt idx="5">
                  <c:v>0.25815898600000015</c:v>
                </c:pt>
                <c:pt idx="6">
                  <c:v>0.94094764600000036</c:v>
                </c:pt>
                <c:pt idx="7">
                  <c:v>0.13488744699999999</c:v>
                </c:pt>
                <c:pt idx="8">
                  <c:v>0.45422294700000015</c:v>
                </c:pt>
                <c:pt idx="9">
                  <c:v>0.62521565000000034</c:v>
                </c:pt>
                <c:pt idx="10">
                  <c:v>3.8095800000000016E-3</c:v>
                </c:pt>
                <c:pt idx="11">
                  <c:v>0.6060271340000003</c:v>
                </c:pt>
                <c:pt idx="12">
                  <c:v>0.13678797500000001</c:v>
                </c:pt>
                <c:pt idx="13">
                  <c:v>0.82129370300000004</c:v>
                </c:pt>
                <c:pt idx="14">
                  <c:v>0.89314835199999998</c:v>
                </c:pt>
                <c:pt idx="15">
                  <c:v>0.17927724500000009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3D9-437F-B9F1-4EB79CDE60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106056768"/>
        <c:axId val="-1106061664"/>
      </c:scatterChart>
      <c:valAx>
        <c:axId val="-1106056768"/>
        <c:scaling>
          <c:orientation val="minMax"/>
          <c:max val="5"/>
          <c:min val="1"/>
        </c:scaling>
        <c:delete val="0"/>
        <c:axPos val="b"/>
        <c:title>
          <c:tx>
            <c:rich>
              <a:bodyPr/>
              <a:lstStyle/>
              <a:p>
                <a:pPr>
                  <a:defRPr sz="1500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Tenure</a:t>
                </a:r>
              </a:p>
            </c:rich>
          </c:tx>
          <c:layout>
            <c:manualLayout>
              <c:xMode val="edge"/>
              <c:yMode val="edge"/>
              <c:x val="0.44894651539708291"/>
              <c:y val="0.88356164383561608"/>
            </c:manualLayout>
          </c:layout>
          <c:overlay val="0"/>
          <c:spPr>
            <a:noFill/>
            <a:ln w="23813">
              <a:noFill/>
            </a:ln>
          </c:spPr>
        </c:title>
        <c:numFmt formatCode="General" sourceLinked="1"/>
        <c:majorTickMark val="none"/>
        <c:minorTickMark val="none"/>
        <c:tickLblPos val="none"/>
        <c:spPr>
          <a:ln w="2977">
            <a:solidFill>
              <a:schemeClr val="tx1"/>
            </a:solidFill>
            <a:prstDash val="solid"/>
          </a:ln>
        </c:spPr>
        <c:crossAx val="-1106061664"/>
        <c:crosses val="autoZero"/>
        <c:crossBetween val="midCat"/>
      </c:valAx>
      <c:valAx>
        <c:axId val="-1106061664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 algn="ctr">
                  <a:defRPr sz="1500" b="1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Sales</a:t>
                </a:r>
              </a:p>
            </c:rich>
          </c:tx>
          <c:layout>
            <c:manualLayout>
              <c:xMode val="edge"/>
              <c:yMode val="edge"/>
              <c:x val="3.2414910858995162E-3"/>
              <c:y val="0.43607305936073076"/>
            </c:manualLayout>
          </c:layout>
          <c:overlay val="0"/>
          <c:spPr>
            <a:noFill/>
            <a:ln w="23813">
              <a:noFill/>
            </a:ln>
          </c:spPr>
        </c:title>
        <c:numFmt formatCode="General" sourceLinked="1"/>
        <c:majorTickMark val="none"/>
        <c:minorTickMark val="none"/>
        <c:tickLblPos val="none"/>
        <c:spPr>
          <a:ln w="2977">
            <a:solidFill>
              <a:schemeClr val="tx1"/>
            </a:solidFill>
            <a:prstDash val="solid"/>
          </a:ln>
        </c:spPr>
        <c:crossAx val="-1106056768"/>
        <c:crosses val="autoZero"/>
        <c:crossBetween val="midCat"/>
      </c:valAx>
      <c:spPr>
        <a:noFill/>
        <a:ln w="23813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25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841269841269857"/>
          <c:y val="0.23741007194244618"/>
          <c:w val="0.41111111111111109"/>
          <c:h val="0.62110311750599556"/>
        </c:manualLayout>
      </c:layout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chemeClr val="accent1"/>
            </a:solidFill>
            <a:ln w="25390">
              <a:noFill/>
            </a:ln>
          </c:spPr>
          <c:dPt>
            <c:idx val="1"/>
            <c:bubble3D val="0"/>
            <c:spPr>
              <a:solidFill>
                <a:schemeClr val="accent2"/>
              </a:solidFill>
              <a:ln w="25390">
                <a:noFill/>
              </a:ln>
            </c:spPr>
            <c:extLst>
              <c:ext xmlns:c16="http://schemas.microsoft.com/office/drawing/2014/chart" uri="{C3380CC4-5D6E-409C-BE32-E72D297353CC}">
                <c16:uniqueId val="{00000001-56B5-436A-A148-BE1F9DBE8A17}"/>
              </c:ext>
            </c:extLst>
          </c:dPt>
          <c:dPt>
            <c:idx val="2"/>
            <c:bubble3D val="0"/>
            <c:spPr>
              <a:solidFill>
                <a:schemeClr val="hlink"/>
              </a:solidFill>
              <a:ln w="25390">
                <a:noFill/>
              </a:ln>
            </c:spPr>
            <c:extLst>
              <c:ext xmlns:c16="http://schemas.microsoft.com/office/drawing/2014/chart" uri="{C3380CC4-5D6E-409C-BE32-E72D297353CC}">
                <c16:uniqueId val="{00000003-56B5-436A-A148-BE1F9DBE8A17}"/>
              </c:ext>
            </c:extLst>
          </c:dPt>
          <c:dPt>
            <c:idx val="3"/>
            <c:bubble3D val="0"/>
            <c:spPr>
              <a:solidFill>
                <a:schemeClr val="folHlink"/>
              </a:solidFill>
              <a:ln w="25390">
                <a:noFill/>
              </a:ln>
            </c:spPr>
            <c:extLst>
              <c:ext xmlns:c16="http://schemas.microsoft.com/office/drawing/2014/chart" uri="{C3380CC4-5D6E-409C-BE32-E72D297353CC}">
                <c16:uniqueId val="{00000005-56B5-436A-A148-BE1F9DBE8A17}"/>
              </c:ext>
            </c:extLst>
          </c:dPt>
          <c:dLbls>
            <c:dLbl>
              <c:idx val="0"/>
              <c:layout>
                <c:manualLayout>
                  <c:x val="1.2787050056243051E-2"/>
                  <c:y val="-1.1761410038989542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6B5-436A-A148-BE1F9DBE8A17}"/>
                </c:ext>
              </c:extLst>
            </c:dLbl>
            <c:dLbl>
              <c:idx val="1"/>
              <c:layout>
                <c:manualLayout>
                  <c:x val="-2.6219699100112438E-2"/>
                  <c:y val="2.011721123172320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B5-436A-A148-BE1F9DBE8A17}"/>
                </c:ext>
              </c:extLst>
            </c:dLbl>
            <c:dLbl>
              <c:idx val="2"/>
              <c:layout>
                <c:manualLayout>
                  <c:x val="-9.2406730408698696E-3"/>
                  <c:y val="-1.6557573108534042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B5-436A-A148-BE1F9DBE8A17}"/>
                </c:ext>
              </c:extLst>
            </c:dLbl>
            <c:dLbl>
              <c:idx val="3"/>
              <c:layout>
                <c:manualLayout>
                  <c:x val="3.7272364391950995E-2"/>
                  <c:y val="-0.11908473646072516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6B5-436A-A148-BE1F9DBE8A17}"/>
                </c:ext>
              </c:extLst>
            </c:dLbl>
            <c:numFmt formatCode="0%" sourceLinked="0"/>
            <c:spPr>
              <a:noFill/>
              <a:ln w="25390">
                <a:noFill/>
              </a:ln>
            </c:spPr>
            <c:txPr>
              <a:bodyPr/>
              <a:lstStyle/>
              <a:p>
                <a:pPr>
                  <a:defRPr sz="1399" b="1" i="1" u="none" strike="noStrike" baseline="0">
                    <a:solidFill>
                      <a:schemeClr val="tx1"/>
                    </a:solidFill>
                    <a:latin typeface="Arial Narrow"/>
                    <a:ea typeface="Arial Narrow"/>
                    <a:cs typeface="Arial Narrow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Sheet1!$B$1:$E$1</c:f>
              <c:strCache>
                <c:ptCount val="4"/>
                <c:pt idx="0">
                  <c:v>Competitor A</c:v>
                </c:pt>
                <c:pt idx="1">
                  <c:v>Competitor B</c:v>
                </c:pt>
                <c:pt idx="2">
                  <c:v>Competitor C</c:v>
                </c:pt>
                <c:pt idx="3">
                  <c:v>Competitor D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6B5-436A-A148-BE1F9DBE8A17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 w="25390">
          <a:noFill/>
        </a:ln>
      </c:spPr>
    </c:plotArea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200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75613275613293"/>
          <c:y val="7.3059360730593603E-2"/>
          <c:w val="0.85281385281385313"/>
          <c:h val="0.73744292237442954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East</c:v>
                </c:pt>
              </c:strCache>
            </c:strRef>
          </c:tx>
          <c:spPr>
            <a:ln w="23813">
              <a:solidFill>
                <a:schemeClr val="tx1"/>
              </a:solidFill>
              <a:prstDash val="solid"/>
            </a:ln>
          </c:spPr>
          <c:marker>
            <c:symbol val="diamond"/>
            <c:size val="8"/>
            <c:spPr>
              <a:solidFill>
                <a:schemeClr val="tx2"/>
              </a:solidFill>
              <a:ln>
                <a:solidFill>
                  <a:schemeClr val="tx1"/>
                </a:solidFill>
              </a:ln>
            </c:spPr>
          </c:marker>
          <c:dLbls>
            <c:dLbl>
              <c:idx val="0"/>
              <c:layout>
                <c:manualLayout>
                  <c:x val="-5.5938280018045475E-2"/>
                  <c:y val="-0.1070159243793156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4C0-48CE-AF9E-17EECEDCD7BB}"/>
                </c:ext>
              </c:extLst>
            </c:dLbl>
            <c:dLbl>
              <c:idx val="1"/>
              <c:layout>
                <c:manualLayout>
                  <c:x val="-6.0555805175592128E-2"/>
                  <c:y val="-7.19331419189039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4C0-48CE-AF9E-17EECEDCD7BB}"/>
                </c:ext>
              </c:extLst>
            </c:dLbl>
            <c:dLbl>
              <c:idx val="2"/>
              <c:layout>
                <c:manualLayout>
                  <c:x val="-7.9603501645831742E-2"/>
                  <c:y val="4.674535546070438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4C0-48CE-AF9E-17EECEDCD7BB}"/>
                </c:ext>
              </c:extLst>
            </c:dLbl>
            <c:dLbl>
              <c:idx val="3"/>
              <c:layout>
                <c:manualLayout>
                  <c:x val="-6.8348167813040803E-2"/>
                  <c:y val="6.089501825970389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4C0-48CE-AF9E-17EECEDCD7BB}"/>
                </c:ext>
              </c:extLst>
            </c:dLbl>
            <c:dLbl>
              <c:idx val="4"/>
              <c:layout>
                <c:manualLayout>
                  <c:x val="-4.4105664110558586E-2"/>
                  <c:y val="7.565537184564258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4C0-48CE-AF9E-17EECEDCD7BB}"/>
                </c:ext>
              </c:extLst>
            </c:dLbl>
            <c:spPr>
              <a:noFill/>
              <a:ln w="23813">
                <a:noFill/>
              </a:ln>
            </c:spPr>
            <c:txPr>
              <a:bodyPr/>
              <a:lstStyle/>
              <a:p>
                <a:pPr>
                  <a:defRPr sz="1781" b="1" i="1" u="none" strike="noStrike" baseline="0">
                    <a:solidFill>
                      <a:schemeClr val="tx1"/>
                    </a:solidFill>
                    <a:latin typeface="Arial Narrow"/>
                    <a:ea typeface="Arial Narrow"/>
                    <a:cs typeface="Arial Narrow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Sheet1!$B$1:$F$1</c:f>
              <c:numCache>
                <c:formatCode>General</c:formatCode>
                <c:ptCount val="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</c:numCache>
            </c:numRef>
          </c:cat>
          <c:val>
            <c:numRef>
              <c:f>Sheet1!$B$2:$F$2</c:f>
              <c:numCache>
                <c:formatCode>"$"#,##0.00</c:formatCode>
                <c:ptCount val="5"/>
                <c:pt idx="0">
                  <c:v>4.9000000000000004</c:v>
                </c:pt>
                <c:pt idx="1">
                  <c:v>4.8099999999999996</c:v>
                </c:pt>
                <c:pt idx="2">
                  <c:v>4.76</c:v>
                </c:pt>
                <c:pt idx="3">
                  <c:v>4.22</c:v>
                </c:pt>
                <c:pt idx="4">
                  <c:v>3.86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4C0-48CE-AF9E-17EECEDCD7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28918960"/>
        <c:axId val="-528920592"/>
      </c:lineChart>
      <c:catAx>
        <c:axId val="-5289189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781" b="1" i="0" u="none" strike="noStrike" baseline="0">
                    <a:solidFill>
                      <a:schemeClr val="tx1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Fiscal year ended</a:t>
                </a:r>
              </a:p>
            </c:rich>
          </c:tx>
          <c:layout>
            <c:manualLayout>
              <c:xMode val="edge"/>
              <c:yMode val="edge"/>
              <c:x val="0.42424242424242431"/>
              <c:y val="0.89954337899543357"/>
            </c:manualLayout>
          </c:layout>
          <c:overlay val="0"/>
          <c:spPr>
            <a:noFill/>
            <a:ln w="23813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2977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83" b="1" i="0" u="none" strike="noStrike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pPr>
            <a:endParaRPr lang="en-US"/>
          </a:p>
        </c:txPr>
        <c:crossAx val="-52892059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528920592"/>
        <c:scaling>
          <c:orientation val="minMax"/>
          <c:max val="8"/>
        </c:scaling>
        <c:delete val="0"/>
        <c:axPos val="l"/>
        <c:title>
          <c:tx>
            <c:rich>
              <a:bodyPr rot="0" vert="horz"/>
              <a:lstStyle/>
              <a:p>
                <a:pPr algn="ctr">
                  <a:defRPr sz="1313" b="1" i="0" u="none" strike="noStrike" baseline="0">
                    <a:solidFill>
                      <a:schemeClr val="tx1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Earnings 
per share</a:t>
                </a:r>
              </a:p>
            </c:rich>
          </c:tx>
          <c:layout>
            <c:manualLayout>
              <c:xMode val="edge"/>
              <c:yMode val="edge"/>
              <c:x val="0"/>
              <c:y val="0.3493150684931508"/>
            </c:manualLayout>
          </c:layout>
          <c:overlay val="0"/>
          <c:spPr>
            <a:noFill/>
            <a:ln w="23813">
              <a:noFill/>
            </a:ln>
          </c:spPr>
        </c:title>
        <c:numFmt formatCode="&quot;$&quot;#,##0.00" sourceLinked="1"/>
        <c:majorTickMark val="out"/>
        <c:minorTickMark val="none"/>
        <c:tickLblPos val="nextTo"/>
        <c:spPr>
          <a:ln w="2977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781" b="1" i="0" u="none" strike="noStrike" baseline="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pPr>
            <a:endParaRPr lang="en-US"/>
          </a:p>
        </c:txPr>
        <c:crossAx val="-528918960"/>
        <c:crosses val="autoZero"/>
        <c:crossBetween val="between"/>
        <c:majorUnit val="8"/>
        <c:minorUnit val="8"/>
      </c:valAx>
      <c:spPr>
        <a:noFill/>
        <a:ln w="23813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688" b="0" i="0" u="none" strike="noStrike" baseline="0">
          <a:solidFill>
            <a:schemeClr val="tx1"/>
          </a:solidFill>
          <a:latin typeface="Arial Narrow"/>
          <a:ea typeface="Arial Narrow"/>
          <a:cs typeface="Arial Narrow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60"/>
      <c:rotY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AIDS cases </c:v>
                </c:pt>
              </c:strCache>
            </c:strRef>
          </c:tx>
          <c:invertIfNegative val="0"/>
          <c:cat>
            <c:strRef>
              <c:f>Sheet1!$A$2:$A$14</c:f>
              <c:strCache>
                <c:ptCount val="13"/>
                <c:pt idx="0">
                  <c:v>Under 5 </c:v>
                </c:pt>
                <c:pt idx="1">
                  <c:v>5-12</c:v>
                </c:pt>
                <c:pt idx="2">
                  <c:v>13-19 </c:v>
                </c:pt>
                <c:pt idx="3">
                  <c:v>20-24 </c:v>
                </c:pt>
                <c:pt idx="4">
                  <c:v>25-29 </c:v>
                </c:pt>
                <c:pt idx="5">
                  <c:v>30-34 </c:v>
                </c:pt>
                <c:pt idx="6">
                  <c:v>35-39 </c:v>
                </c:pt>
                <c:pt idx="7">
                  <c:v>40-44 </c:v>
                </c:pt>
                <c:pt idx="8">
                  <c:v>45-49 </c:v>
                </c:pt>
                <c:pt idx="9">
                  <c:v>50-54 </c:v>
                </c:pt>
                <c:pt idx="10">
                  <c:v>55-59 </c:v>
                </c:pt>
                <c:pt idx="11">
                  <c:v>60-64 </c:v>
                </c:pt>
                <c:pt idx="12">
                  <c:v>Over 65 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6975</c:v>
                </c:pt>
                <c:pt idx="1">
                  <c:v>2099</c:v>
                </c:pt>
                <c:pt idx="2">
                  <c:v>4428</c:v>
                </c:pt>
                <c:pt idx="3">
                  <c:v>28665</c:v>
                </c:pt>
                <c:pt idx="4">
                  <c:v>105060</c:v>
                </c:pt>
                <c:pt idx="5">
                  <c:v>179164</c:v>
                </c:pt>
                <c:pt idx="6">
                  <c:v>182857</c:v>
                </c:pt>
                <c:pt idx="7">
                  <c:v>136145</c:v>
                </c:pt>
                <c:pt idx="8">
                  <c:v>80242</c:v>
                </c:pt>
                <c:pt idx="9">
                  <c:v>42780</c:v>
                </c:pt>
                <c:pt idx="10">
                  <c:v>23280</c:v>
                </c:pt>
                <c:pt idx="11">
                  <c:v>12898</c:v>
                </c:pt>
                <c:pt idx="12">
                  <c:v>11555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78-4585-9763-CF67CC4626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-528914608"/>
        <c:axId val="-528918416"/>
        <c:axId val="0"/>
      </c:bar3DChart>
      <c:catAx>
        <c:axId val="-5289146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528918416"/>
        <c:crosses val="autoZero"/>
        <c:auto val="1"/>
        <c:lblAlgn val="ctr"/>
        <c:lblOffset val="100"/>
        <c:noMultiLvlLbl val="0"/>
      </c:catAx>
      <c:valAx>
        <c:axId val="-5289184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5289146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AIDS cases </c:v>
                </c:pt>
              </c:strCache>
            </c:strRef>
          </c:tx>
          <c:invertIfNegative val="0"/>
          <c:dLbls>
            <c:dLbl>
              <c:idx val="5"/>
              <c:layout>
                <c:manualLayout>
                  <c:x val="-2.38095238095238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ABA-44A5-9235-E1373FF7B7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Under 5 </c:v>
                </c:pt>
                <c:pt idx="1">
                  <c:v>5-12</c:v>
                </c:pt>
                <c:pt idx="2">
                  <c:v>13-19 </c:v>
                </c:pt>
                <c:pt idx="3">
                  <c:v>20-24 </c:v>
                </c:pt>
                <c:pt idx="4">
                  <c:v>25-29 </c:v>
                </c:pt>
                <c:pt idx="5">
                  <c:v>30-34 </c:v>
                </c:pt>
                <c:pt idx="6">
                  <c:v>35-39 </c:v>
                </c:pt>
                <c:pt idx="7">
                  <c:v>40-44 </c:v>
                </c:pt>
                <c:pt idx="8">
                  <c:v>45-49 </c:v>
                </c:pt>
                <c:pt idx="9">
                  <c:v>50-54 </c:v>
                </c:pt>
                <c:pt idx="10">
                  <c:v>55-59 </c:v>
                </c:pt>
                <c:pt idx="11">
                  <c:v>60-64 </c:v>
                </c:pt>
                <c:pt idx="12">
                  <c:v>Over 65 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6975</c:v>
                </c:pt>
                <c:pt idx="1">
                  <c:v>2099</c:v>
                </c:pt>
                <c:pt idx="2">
                  <c:v>4428</c:v>
                </c:pt>
                <c:pt idx="3">
                  <c:v>28665</c:v>
                </c:pt>
                <c:pt idx="4">
                  <c:v>105060</c:v>
                </c:pt>
                <c:pt idx="5">
                  <c:v>179164</c:v>
                </c:pt>
                <c:pt idx="6">
                  <c:v>182857</c:v>
                </c:pt>
                <c:pt idx="7">
                  <c:v>136145</c:v>
                </c:pt>
                <c:pt idx="8">
                  <c:v>80242</c:v>
                </c:pt>
                <c:pt idx="9">
                  <c:v>42780</c:v>
                </c:pt>
                <c:pt idx="10">
                  <c:v>23280</c:v>
                </c:pt>
                <c:pt idx="11">
                  <c:v>12898</c:v>
                </c:pt>
                <c:pt idx="12">
                  <c:v>11555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BA-44A5-9235-E1373FF7B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528916784"/>
        <c:axId val="-528915696"/>
      </c:barChart>
      <c:catAx>
        <c:axId val="-528916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528915696"/>
        <c:crosses val="autoZero"/>
        <c:auto val="1"/>
        <c:lblAlgn val="ctr"/>
        <c:lblOffset val="100"/>
        <c:noMultiLvlLbl val="0"/>
      </c:catAx>
      <c:valAx>
        <c:axId val="-5289156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528916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Our Company</c:v>
                </c:pt>
                <c:pt idx="1">
                  <c:v>Competitor A</c:v>
                </c:pt>
                <c:pt idx="2">
                  <c:v>Competitor B</c:v>
                </c:pt>
                <c:pt idx="3">
                  <c:v>Competitor 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26</c:v>
                </c:pt>
                <c:pt idx="2">
                  <c:v>12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A3-4A8C-BE93-C0671E7695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1"/>
            <c:extLst>
              <c:ext xmlns:c16="http://schemas.microsoft.com/office/drawing/2014/chart" uri="{C3380CC4-5D6E-409C-BE32-E72D297353CC}">
                <c16:uniqueId val="{00000000-5CBD-417D-B173-178897DA450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Our Company</c:v>
                </c:pt>
                <c:pt idx="1">
                  <c:v>Competitor A</c:v>
                </c:pt>
                <c:pt idx="2">
                  <c:v>Competitor B</c:v>
                </c:pt>
                <c:pt idx="3">
                  <c:v>Competitor 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26</c:v>
                </c:pt>
                <c:pt idx="2">
                  <c:v>12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BD-417D-B173-178897DA45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B1EB7E-5E3A-4BB5-BEC8-DAE5442ECD3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14EBCCEB-7317-4B4C-9C38-C8FC8E1CB43A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1" i="0" u="none" strike="noStrike" cap="none" normalizeH="0" baseline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Arial" charset="0"/>
              <a:cs typeface="Arial" charset="0"/>
            </a:rPr>
            <a:t>Data</a:t>
          </a:r>
          <a:endParaRPr kumimoji="0" lang="en-US" altLang="en-US" b="0" i="0" u="none" strike="noStrike" cap="none" normalizeH="0" baseline="0">
            <a:ln>
              <a:noFill/>
            </a:ln>
            <a:solidFill>
              <a:schemeClr val="accent4">
                <a:lumMod val="40000"/>
                <a:lumOff val="60000"/>
              </a:schemeClr>
            </a:solidFill>
            <a:effectLst/>
            <a:latin typeface="Arial" charset="0"/>
            <a:cs typeface="Arial" charset="0"/>
          </a:endParaRPr>
        </a:p>
      </dgm:t>
    </dgm:pt>
    <dgm:pt modelId="{FE24128C-7363-46F9-91F0-97B80B36F951}" type="parTrans" cxnId="{0854DDE0-11C0-4846-BEEC-DB2D30021C5B}">
      <dgm:prSet/>
      <dgm:spPr/>
      <dgm:t>
        <a:bodyPr/>
        <a:lstStyle/>
        <a:p>
          <a:endParaRPr lang="en-IN"/>
        </a:p>
      </dgm:t>
    </dgm:pt>
    <dgm:pt modelId="{8B83E296-48C7-4285-8A60-E22237D7278E}" type="sibTrans" cxnId="{0854DDE0-11C0-4846-BEEC-DB2D30021C5B}">
      <dgm:prSet/>
      <dgm:spPr/>
      <dgm:t>
        <a:bodyPr/>
        <a:lstStyle/>
        <a:p>
          <a:endParaRPr lang="en-IN"/>
        </a:p>
      </dgm:t>
    </dgm:pt>
    <dgm:pt modelId="{C86116C7-991A-4A9D-A6D9-A2B2AEBA56A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b="1" i="0" u="none" strike="noStrike" cap="none" normalizeH="0" baseline="0" dirty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rgbClr val="92D050"/>
              </a:solidFill>
              <a:effectLst/>
              <a:latin typeface="Arial" charset="0"/>
              <a:cs typeface="Arial" charset="0"/>
            </a:rPr>
            <a:t>Categorical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b="1" i="0" u="none" strike="noStrike" cap="none" normalizeH="0" baseline="0" dirty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</dgm:t>
    </dgm:pt>
    <dgm:pt modelId="{6E966E55-4CC7-4006-B66F-4A4C23E28E46}" type="parTrans" cxnId="{785EFDD8-6D50-4527-B10F-FD0E78B821D0}">
      <dgm:prSet/>
      <dgm:spPr/>
      <dgm:t>
        <a:bodyPr/>
        <a:lstStyle/>
        <a:p>
          <a:endParaRPr lang="en-IN"/>
        </a:p>
      </dgm:t>
    </dgm:pt>
    <dgm:pt modelId="{9DF7F144-A73D-4038-8AF6-E886A7580045}" type="sibTrans" cxnId="{785EFDD8-6D50-4527-B10F-FD0E78B821D0}">
      <dgm:prSet/>
      <dgm:spPr/>
      <dgm:t>
        <a:bodyPr/>
        <a:lstStyle/>
        <a:p>
          <a:endParaRPr lang="en-IN"/>
        </a:p>
      </dgm:t>
    </dgm:pt>
    <dgm:pt modelId="{5CB3596D-3F9B-40CC-BC4A-ED7BA3FBEEE2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b="1" i="0" u="none" strike="noStrike" cap="none" normalizeH="0" baseline="0" dirty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rgbClr val="92D050"/>
              </a:solidFill>
              <a:effectLst/>
              <a:latin typeface="Arial" charset="0"/>
              <a:cs typeface="Arial" charset="0"/>
            </a:rPr>
            <a:t>Numerical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b="1" i="0" u="none" strike="noStrike" cap="none" normalizeH="0" baseline="0" dirty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</dgm:t>
    </dgm:pt>
    <dgm:pt modelId="{0F59978B-1253-4ED2-BA4E-C9B7721588FD}" type="parTrans" cxnId="{573D1E18-7C10-42E6-9EA0-F47CE3DE89C6}">
      <dgm:prSet/>
      <dgm:spPr/>
      <dgm:t>
        <a:bodyPr/>
        <a:lstStyle/>
        <a:p>
          <a:endParaRPr lang="en-IN"/>
        </a:p>
      </dgm:t>
    </dgm:pt>
    <dgm:pt modelId="{166D9E8F-334A-4195-BDD3-EA1C8663B185}" type="sibTrans" cxnId="{573D1E18-7C10-42E6-9EA0-F47CE3DE89C6}">
      <dgm:prSet/>
      <dgm:spPr/>
      <dgm:t>
        <a:bodyPr/>
        <a:lstStyle/>
        <a:p>
          <a:endParaRPr lang="en-IN"/>
        </a:p>
      </dgm:t>
    </dgm:pt>
    <dgm:pt modelId="{D191667A-877A-41EA-9BC7-8B5743D3D326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1" i="0" u="none" strike="noStrike" cap="none" normalizeH="0" baseline="0">
              <a:ln>
                <a:noFill/>
              </a:ln>
              <a:solidFill>
                <a:srgbClr val="92D050"/>
              </a:solidFill>
              <a:effectLst/>
              <a:latin typeface="Arial" charset="0"/>
              <a:cs typeface="Arial" charset="0"/>
            </a:rPr>
            <a:t>Discrete</a:t>
          </a:r>
          <a:endParaRPr kumimoji="0" lang="en-US" altLang="en-US" b="0" i="0" u="none" strike="noStrike" cap="none" normalizeH="0" baseline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</dgm:t>
    </dgm:pt>
    <dgm:pt modelId="{43987D4C-90BF-401C-871D-2A6E4B434D93}" type="parTrans" cxnId="{E53CEFAC-9A5C-47DA-8476-32DDA135FD32}">
      <dgm:prSet/>
      <dgm:spPr/>
      <dgm:t>
        <a:bodyPr/>
        <a:lstStyle/>
        <a:p>
          <a:endParaRPr lang="en-IN"/>
        </a:p>
      </dgm:t>
    </dgm:pt>
    <dgm:pt modelId="{7F197B4D-C6E7-455B-B7AA-6A0C63926BFE}" type="sibTrans" cxnId="{E53CEFAC-9A5C-47DA-8476-32DDA135FD32}">
      <dgm:prSet/>
      <dgm:spPr/>
      <dgm:t>
        <a:bodyPr/>
        <a:lstStyle/>
        <a:p>
          <a:endParaRPr lang="en-IN"/>
        </a:p>
      </dgm:t>
    </dgm:pt>
    <dgm:pt modelId="{CC723851-A0EF-49F0-9446-FEF1FA8277A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rgbClr val="92D050"/>
              </a:solidFill>
              <a:effectLst/>
              <a:latin typeface="Arial" charset="0"/>
              <a:cs typeface="Arial" charset="0"/>
            </a:rPr>
            <a:t>Continuous</a:t>
          </a:r>
          <a:endParaRPr kumimoji="0" lang="en-US" altLang="en-US" b="0" i="0" u="none" strike="noStrike" cap="none" normalizeH="0" baseline="0" dirty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</dgm:t>
    </dgm:pt>
    <dgm:pt modelId="{736B0FA0-F4B1-4875-B59E-3B2785FAF7DD}" type="parTrans" cxnId="{A03EC8BF-8AF5-4F33-B943-BA223890CB04}">
      <dgm:prSet/>
      <dgm:spPr/>
      <dgm:t>
        <a:bodyPr/>
        <a:lstStyle/>
        <a:p>
          <a:endParaRPr lang="en-IN"/>
        </a:p>
      </dgm:t>
    </dgm:pt>
    <dgm:pt modelId="{51B23055-4C0A-4C17-BB2C-63A4249DD540}" type="sibTrans" cxnId="{A03EC8BF-8AF5-4F33-B943-BA223890CB04}">
      <dgm:prSet/>
      <dgm:spPr/>
      <dgm:t>
        <a:bodyPr/>
        <a:lstStyle/>
        <a:p>
          <a:endParaRPr lang="en-IN"/>
        </a:p>
      </dgm:t>
    </dgm:pt>
    <dgm:pt modelId="{CD5280FC-12EA-4E10-9B5E-B819B4182158}" type="pres">
      <dgm:prSet presAssocID="{E3B1EB7E-5E3A-4BB5-BEC8-DAE5442ECD3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BC2DF6B-7B67-4D3F-8FFF-6C9137C3B941}" type="pres">
      <dgm:prSet presAssocID="{14EBCCEB-7317-4B4C-9C38-C8FC8E1CB43A}" presName="hierRoot1" presStyleCnt="0">
        <dgm:presLayoutVars>
          <dgm:hierBranch/>
        </dgm:presLayoutVars>
      </dgm:prSet>
      <dgm:spPr/>
    </dgm:pt>
    <dgm:pt modelId="{F22FD8D4-028F-48BD-A160-303A4480CA8F}" type="pres">
      <dgm:prSet presAssocID="{14EBCCEB-7317-4B4C-9C38-C8FC8E1CB43A}" presName="rootComposite1" presStyleCnt="0"/>
      <dgm:spPr/>
    </dgm:pt>
    <dgm:pt modelId="{2A3127DB-CB11-479B-A509-AEB2291D69A7}" type="pres">
      <dgm:prSet presAssocID="{14EBCCEB-7317-4B4C-9C38-C8FC8E1CB43A}" presName="rootText1" presStyleLbl="node0" presStyleIdx="0" presStyleCnt="1">
        <dgm:presLayoutVars>
          <dgm:chPref val="3"/>
        </dgm:presLayoutVars>
      </dgm:prSet>
      <dgm:spPr/>
    </dgm:pt>
    <dgm:pt modelId="{B76D0B37-6520-4F97-AC4D-B575CCB33A1C}" type="pres">
      <dgm:prSet presAssocID="{14EBCCEB-7317-4B4C-9C38-C8FC8E1CB43A}" presName="rootConnector1" presStyleLbl="node1" presStyleIdx="0" presStyleCnt="0"/>
      <dgm:spPr/>
    </dgm:pt>
    <dgm:pt modelId="{FECF51D2-7C99-4B4C-A91B-47ED0C0A7412}" type="pres">
      <dgm:prSet presAssocID="{14EBCCEB-7317-4B4C-9C38-C8FC8E1CB43A}" presName="hierChild2" presStyleCnt="0"/>
      <dgm:spPr/>
    </dgm:pt>
    <dgm:pt modelId="{B835EE2D-AAD1-472F-AC7E-F863885A4112}" type="pres">
      <dgm:prSet presAssocID="{6E966E55-4CC7-4006-B66F-4A4C23E28E46}" presName="Name35" presStyleLbl="parChTrans1D2" presStyleIdx="0" presStyleCnt="2"/>
      <dgm:spPr/>
    </dgm:pt>
    <dgm:pt modelId="{1AA8AD6B-9FF0-4F80-91D9-184374D21D35}" type="pres">
      <dgm:prSet presAssocID="{C86116C7-991A-4A9D-A6D9-A2B2AEBA56AD}" presName="hierRoot2" presStyleCnt="0">
        <dgm:presLayoutVars>
          <dgm:hierBranch/>
        </dgm:presLayoutVars>
      </dgm:prSet>
      <dgm:spPr/>
    </dgm:pt>
    <dgm:pt modelId="{134D560D-C43C-46FC-A31F-2E515AC61593}" type="pres">
      <dgm:prSet presAssocID="{C86116C7-991A-4A9D-A6D9-A2B2AEBA56AD}" presName="rootComposite" presStyleCnt="0"/>
      <dgm:spPr/>
    </dgm:pt>
    <dgm:pt modelId="{E0FCF1F9-C415-4599-9459-4B12E22BFADF}" type="pres">
      <dgm:prSet presAssocID="{C86116C7-991A-4A9D-A6D9-A2B2AEBA56AD}" presName="rootText" presStyleLbl="node2" presStyleIdx="0" presStyleCnt="2">
        <dgm:presLayoutVars>
          <dgm:chPref val="3"/>
        </dgm:presLayoutVars>
      </dgm:prSet>
      <dgm:spPr/>
    </dgm:pt>
    <dgm:pt modelId="{504DB6CF-0E59-400B-857B-F9EC8EE8983A}" type="pres">
      <dgm:prSet presAssocID="{C86116C7-991A-4A9D-A6D9-A2B2AEBA56AD}" presName="rootConnector" presStyleLbl="node2" presStyleIdx="0" presStyleCnt="2"/>
      <dgm:spPr/>
    </dgm:pt>
    <dgm:pt modelId="{B465BB65-6598-4DA1-AEF3-68ADAC94084B}" type="pres">
      <dgm:prSet presAssocID="{C86116C7-991A-4A9D-A6D9-A2B2AEBA56AD}" presName="hierChild4" presStyleCnt="0"/>
      <dgm:spPr/>
    </dgm:pt>
    <dgm:pt modelId="{3A959CB0-850A-41A4-958C-960F01C1A6D8}" type="pres">
      <dgm:prSet presAssocID="{C86116C7-991A-4A9D-A6D9-A2B2AEBA56AD}" presName="hierChild5" presStyleCnt="0"/>
      <dgm:spPr/>
    </dgm:pt>
    <dgm:pt modelId="{29B883CA-02DA-4FCA-BA05-3F9EF784FCCD}" type="pres">
      <dgm:prSet presAssocID="{0F59978B-1253-4ED2-BA4E-C9B7721588FD}" presName="Name35" presStyleLbl="parChTrans1D2" presStyleIdx="1" presStyleCnt="2"/>
      <dgm:spPr/>
    </dgm:pt>
    <dgm:pt modelId="{C815E2C3-916E-4F22-91DA-85CE16253A60}" type="pres">
      <dgm:prSet presAssocID="{5CB3596D-3F9B-40CC-BC4A-ED7BA3FBEEE2}" presName="hierRoot2" presStyleCnt="0">
        <dgm:presLayoutVars>
          <dgm:hierBranch/>
        </dgm:presLayoutVars>
      </dgm:prSet>
      <dgm:spPr/>
    </dgm:pt>
    <dgm:pt modelId="{3C9119AF-9E8A-4004-829A-81FF2659D0F1}" type="pres">
      <dgm:prSet presAssocID="{5CB3596D-3F9B-40CC-BC4A-ED7BA3FBEEE2}" presName="rootComposite" presStyleCnt="0"/>
      <dgm:spPr/>
    </dgm:pt>
    <dgm:pt modelId="{12666221-7E41-43D7-A6F2-487125A5D2FD}" type="pres">
      <dgm:prSet presAssocID="{5CB3596D-3F9B-40CC-BC4A-ED7BA3FBEEE2}" presName="rootText" presStyleLbl="node2" presStyleIdx="1" presStyleCnt="2">
        <dgm:presLayoutVars>
          <dgm:chPref val="3"/>
        </dgm:presLayoutVars>
      </dgm:prSet>
      <dgm:spPr/>
    </dgm:pt>
    <dgm:pt modelId="{9E66219C-48B4-432D-9F25-DDD59E667340}" type="pres">
      <dgm:prSet presAssocID="{5CB3596D-3F9B-40CC-BC4A-ED7BA3FBEEE2}" presName="rootConnector" presStyleLbl="node2" presStyleIdx="1" presStyleCnt="2"/>
      <dgm:spPr/>
    </dgm:pt>
    <dgm:pt modelId="{A007D34D-EF1E-4659-8CCA-B5249BFF5EF4}" type="pres">
      <dgm:prSet presAssocID="{5CB3596D-3F9B-40CC-BC4A-ED7BA3FBEEE2}" presName="hierChild4" presStyleCnt="0"/>
      <dgm:spPr/>
    </dgm:pt>
    <dgm:pt modelId="{1139C210-3C2A-4EF2-98C5-84A1E1CF9E70}" type="pres">
      <dgm:prSet presAssocID="{43987D4C-90BF-401C-871D-2A6E4B434D93}" presName="Name35" presStyleLbl="parChTrans1D3" presStyleIdx="0" presStyleCnt="2"/>
      <dgm:spPr/>
    </dgm:pt>
    <dgm:pt modelId="{12C1B41B-AF20-45AB-9ACB-31022E16A8F0}" type="pres">
      <dgm:prSet presAssocID="{D191667A-877A-41EA-9BC7-8B5743D3D326}" presName="hierRoot2" presStyleCnt="0">
        <dgm:presLayoutVars>
          <dgm:hierBranch val="r"/>
        </dgm:presLayoutVars>
      </dgm:prSet>
      <dgm:spPr/>
    </dgm:pt>
    <dgm:pt modelId="{8EF7BFDE-F46C-4A32-A360-57D8DAA5C672}" type="pres">
      <dgm:prSet presAssocID="{D191667A-877A-41EA-9BC7-8B5743D3D326}" presName="rootComposite" presStyleCnt="0"/>
      <dgm:spPr/>
    </dgm:pt>
    <dgm:pt modelId="{0E7E62BB-EBD6-4559-A0D8-033DDD008FD8}" type="pres">
      <dgm:prSet presAssocID="{D191667A-877A-41EA-9BC7-8B5743D3D326}" presName="rootText" presStyleLbl="node3" presStyleIdx="0" presStyleCnt="2">
        <dgm:presLayoutVars>
          <dgm:chPref val="3"/>
        </dgm:presLayoutVars>
      </dgm:prSet>
      <dgm:spPr/>
    </dgm:pt>
    <dgm:pt modelId="{2A1D68E1-5066-46F1-AD47-C4A6F76C8534}" type="pres">
      <dgm:prSet presAssocID="{D191667A-877A-41EA-9BC7-8B5743D3D326}" presName="rootConnector" presStyleLbl="node3" presStyleIdx="0" presStyleCnt="2"/>
      <dgm:spPr/>
    </dgm:pt>
    <dgm:pt modelId="{DD24AB1C-B0B9-4D85-997E-DE36AE7326ED}" type="pres">
      <dgm:prSet presAssocID="{D191667A-877A-41EA-9BC7-8B5743D3D326}" presName="hierChild4" presStyleCnt="0"/>
      <dgm:spPr/>
    </dgm:pt>
    <dgm:pt modelId="{9731E114-182F-4E95-AAAC-1A039CF9889D}" type="pres">
      <dgm:prSet presAssocID="{D191667A-877A-41EA-9BC7-8B5743D3D326}" presName="hierChild5" presStyleCnt="0"/>
      <dgm:spPr/>
    </dgm:pt>
    <dgm:pt modelId="{2DA29D14-370D-4A02-B1E0-AAF61CFF68A3}" type="pres">
      <dgm:prSet presAssocID="{736B0FA0-F4B1-4875-B59E-3B2785FAF7DD}" presName="Name35" presStyleLbl="parChTrans1D3" presStyleIdx="1" presStyleCnt="2"/>
      <dgm:spPr/>
    </dgm:pt>
    <dgm:pt modelId="{F01643A5-53C9-41BD-857E-34D7A8EDD3D4}" type="pres">
      <dgm:prSet presAssocID="{CC723851-A0EF-49F0-9446-FEF1FA8277AB}" presName="hierRoot2" presStyleCnt="0">
        <dgm:presLayoutVars>
          <dgm:hierBranch val="r"/>
        </dgm:presLayoutVars>
      </dgm:prSet>
      <dgm:spPr/>
    </dgm:pt>
    <dgm:pt modelId="{86915B90-C56E-4C17-9D52-F045ED49F9A8}" type="pres">
      <dgm:prSet presAssocID="{CC723851-A0EF-49F0-9446-FEF1FA8277AB}" presName="rootComposite" presStyleCnt="0"/>
      <dgm:spPr/>
    </dgm:pt>
    <dgm:pt modelId="{D9C908CE-C22F-4BC8-9781-58FBE6C231C1}" type="pres">
      <dgm:prSet presAssocID="{CC723851-A0EF-49F0-9446-FEF1FA8277AB}" presName="rootText" presStyleLbl="node3" presStyleIdx="1" presStyleCnt="2">
        <dgm:presLayoutVars>
          <dgm:chPref val="3"/>
        </dgm:presLayoutVars>
      </dgm:prSet>
      <dgm:spPr/>
    </dgm:pt>
    <dgm:pt modelId="{E86223B8-E32F-40B8-86E7-E739E25E8DAD}" type="pres">
      <dgm:prSet presAssocID="{CC723851-A0EF-49F0-9446-FEF1FA8277AB}" presName="rootConnector" presStyleLbl="node3" presStyleIdx="1" presStyleCnt="2"/>
      <dgm:spPr/>
    </dgm:pt>
    <dgm:pt modelId="{1250B039-CCA5-4F2D-A6B4-2FD8025113EA}" type="pres">
      <dgm:prSet presAssocID="{CC723851-A0EF-49F0-9446-FEF1FA8277AB}" presName="hierChild4" presStyleCnt="0"/>
      <dgm:spPr/>
    </dgm:pt>
    <dgm:pt modelId="{CAFE3A95-11A1-44BC-B284-5922161AF536}" type="pres">
      <dgm:prSet presAssocID="{CC723851-A0EF-49F0-9446-FEF1FA8277AB}" presName="hierChild5" presStyleCnt="0"/>
      <dgm:spPr/>
    </dgm:pt>
    <dgm:pt modelId="{EA6978AA-31E0-428D-9974-DC40EFA994DC}" type="pres">
      <dgm:prSet presAssocID="{5CB3596D-3F9B-40CC-BC4A-ED7BA3FBEEE2}" presName="hierChild5" presStyleCnt="0"/>
      <dgm:spPr/>
    </dgm:pt>
    <dgm:pt modelId="{19F9D2CC-B02A-4035-B1BC-F46289CFD9DE}" type="pres">
      <dgm:prSet presAssocID="{14EBCCEB-7317-4B4C-9C38-C8FC8E1CB43A}" presName="hierChild3" presStyleCnt="0"/>
      <dgm:spPr/>
    </dgm:pt>
  </dgm:ptLst>
  <dgm:cxnLst>
    <dgm:cxn modelId="{9E385C00-C86E-4AC6-BA65-008449A6AB53}" type="presOf" srcId="{5CB3596D-3F9B-40CC-BC4A-ED7BA3FBEEE2}" destId="{12666221-7E41-43D7-A6F2-487125A5D2FD}" srcOrd="0" destOrd="0" presId="urn:microsoft.com/office/officeart/2005/8/layout/orgChart1"/>
    <dgm:cxn modelId="{162A3F01-BCBB-472B-BF9B-643283C796C7}" type="presOf" srcId="{6E966E55-4CC7-4006-B66F-4A4C23E28E46}" destId="{B835EE2D-AAD1-472F-AC7E-F863885A4112}" srcOrd="0" destOrd="0" presId="urn:microsoft.com/office/officeart/2005/8/layout/orgChart1"/>
    <dgm:cxn modelId="{573D1E18-7C10-42E6-9EA0-F47CE3DE89C6}" srcId="{14EBCCEB-7317-4B4C-9C38-C8FC8E1CB43A}" destId="{5CB3596D-3F9B-40CC-BC4A-ED7BA3FBEEE2}" srcOrd="1" destOrd="0" parTransId="{0F59978B-1253-4ED2-BA4E-C9B7721588FD}" sibTransId="{166D9E8F-334A-4195-BDD3-EA1C8663B185}"/>
    <dgm:cxn modelId="{C7FBFC1E-5F54-47C2-A6FD-EA5DBE967A6D}" type="presOf" srcId="{14EBCCEB-7317-4B4C-9C38-C8FC8E1CB43A}" destId="{2A3127DB-CB11-479B-A509-AEB2291D69A7}" srcOrd="0" destOrd="0" presId="urn:microsoft.com/office/officeart/2005/8/layout/orgChart1"/>
    <dgm:cxn modelId="{DF226520-7B56-48FB-A827-91C5D7DAAEF0}" type="presOf" srcId="{E3B1EB7E-5E3A-4BB5-BEC8-DAE5442ECD34}" destId="{CD5280FC-12EA-4E10-9B5E-B819B4182158}" srcOrd="0" destOrd="0" presId="urn:microsoft.com/office/officeart/2005/8/layout/orgChart1"/>
    <dgm:cxn modelId="{172AAA24-2EC5-403D-AB8B-13B4DD26F3E3}" type="presOf" srcId="{CC723851-A0EF-49F0-9446-FEF1FA8277AB}" destId="{E86223B8-E32F-40B8-86E7-E739E25E8DAD}" srcOrd="1" destOrd="0" presId="urn:microsoft.com/office/officeart/2005/8/layout/orgChart1"/>
    <dgm:cxn modelId="{31564A2E-D45B-4EC4-A4CC-C0BFA1618D86}" type="presOf" srcId="{736B0FA0-F4B1-4875-B59E-3B2785FAF7DD}" destId="{2DA29D14-370D-4A02-B1E0-AAF61CFF68A3}" srcOrd="0" destOrd="0" presId="urn:microsoft.com/office/officeart/2005/8/layout/orgChart1"/>
    <dgm:cxn modelId="{C83C7E37-1CB4-4F33-8EC9-1DB3AA9934B3}" type="presOf" srcId="{14EBCCEB-7317-4B4C-9C38-C8FC8E1CB43A}" destId="{B76D0B37-6520-4F97-AC4D-B575CCB33A1C}" srcOrd="1" destOrd="0" presId="urn:microsoft.com/office/officeart/2005/8/layout/orgChart1"/>
    <dgm:cxn modelId="{1678E345-C83C-456B-842C-44D396C6F1A2}" type="presOf" srcId="{CC723851-A0EF-49F0-9446-FEF1FA8277AB}" destId="{D9C908CE-C22F-4BC8-9781-58FBE6C231C1}" srcOrd="0" destOrd="0" presId="urn:microsoft.com/office/officeart/2005/8/layout/orgChart1"/>
    <dgm:cxn modelId="{684B5198-3A54-49C6-8F20-89CC49E6CD15}" type="presOf" srcId="{5CB3596D-3F9B-40CC-BC4A-ED7BA3FBEEE2}" destId="{9E66219C-48B4-432D-9F25-DDD59E667340}" srcOrd="1" destOrd="0" presId="urn:microsoft.com/office/officeart/2005/8/layout/orgChart1"/>
    <dgm:cxn modelId="{46A2B199-8392-4A56-B311-B2E11D7BD98F}" type="presOf" srcId="{43987D4C-90BF-401C-871D-2A6E4B434D93}" destId="{1139C210-3C2A-4EF2-98C5-84A1E1CF9E70}" srcOrd="0" destOrd="0" presId="urn:microsoft.com/office/officeart/2005/8/layout/orgChart1"/>
    <dgm:cxn modelId="{ACF7C1AB-454C-46D7-ADB0-F168A114BC64}" type="presOf" srcId="{D191667A-877A-41EA-9BC7-8B5743D3D326}" destId="{0E7E62BB-EBD6-4559-A0D8-033DDD008FD8}" srcOrd="0" destOrd="0" presId="urn:microsoft.com/office/officeart/2005/8/layout/orgChart1"/>
    <dgm:cxn modelId="{E53CEFAC-9A5C-47DA-8476-32DDA135FD32}" srcId="{5CB3596D-3F9B-40CC-BC4A-ED7BA3FBEEE2}" destId="{D191667A-877A-41EA-9BC7-8B5743D3D326}" srcOrd="0" destOrd="0" parTransId="{43987D4C-90BF-401C-871D-2A6E4B434D93}" sibTransId="{7F197B4D-C6E7-455B-B7AA-6A0C63926BFE}"/>
    <dgm:cxn modelId="{A03EC8BF-8AF5-4F33-B943-BA223890CB04}" srcId="{5CB3596D-3F9B-40CC-BC4A-ED7BA3FBEEE2}" destId="{CC723851-A0EF-49F0-9446-FEF1FA8277AB}" srcOrd="1" destOrd="0" parTransId="{736B0FA0-F4B1-4875-B59E-3B2785FAF7DD}" sibTransId="{51B23055-4C0A-4C17-BB2C-63A4249DD540}"/>
    <dgm:cxn modelId="{297AF6C1-BFDD-48D6-85A4-BE4009A56D5C}" type="presOf" srcId="{D191667A-877A-41EA-9BC7-8B5743D3D326}" destId="{2A1D68E1-5066-46F1-AD47-C4A6F76C8534}" srcOrd="1" destOrd="0" presId="urn:microsoft.com/office/officeart/2005/8/layout/orgChart1"/>
    <dgm:cxn modelId="{CAAAF3C4-66E7-420A-BB30-68D2B793E275}" type="presOf" srcId="{C86116C7-991A-4A9D-A6D9-A2B2AEBA56AD}" destId="{504DB6CF-0E59-400B-857B-F9EC8EE8983A}" srcOrd="1" destOrd="0" presId="urn:microsoft.com/office/officeart/2005/8/layout/orgChart1"/>
    <dgm:cxn modelId="{281492CE-3072-47EC-91CA-4AA172C073AD}" type="presOf" srcId="{C86116C7-991A-4A9D-A6D9-A2B2AEBA56AD}" destId="{E0FCF1F9-C415-4599-9459-4B12E22BFADF}" srcOrd="0" destOrd="0" presId="urn:microsoft.com/office/officeart/2005/8/layout/orgChart1"/>
    <dgm:cxn modelId="{785EFDD8-6D50-4527-B10F-FD0E78B821D0}" srcId="{14EBCCEB-7317-4B4C-9C38-C8FC8E1CB43A}" destId="{C86116C7-991A-4A9D-A6D9-A2B2AEBA56AD}" srcOrd="0" destOrd="0" parTransId="{6E966E55-4CC7-4006-B66F-4A4C23E28E46}" sibTransId="{9DF7F144-A73D-4038-8AF6-E886A7580045}"/>
    <dgm:cxn modelId="{0854DDE0-11C0-4846-BEEC-DB2D30021C5B}" srcId="{E3B1EB7E-5E3A-4BB5-BEC8-DAE5442ECD34}" destId="{14EBCCEB-7317-4B4C-9C38-C8FC8E1CB43A}" srcOrd="0" destOrd="0" parTransId="{FE24128C-7363-46F9-91F0-97B80B36F951}" sibTransId="{8B83E296-48C7-4285-8A60-E22237D7278E}"/>
    <dgm:cxn modelId="{183C52F3-45FF-4492-AEEC-1FDF7C3ED14F}" type="presOf" srcId="{0F59978B-1253-4ED2-BA4E-C9B7721588FD}" destId="{29B883CA-02DA-4FCA-BA05-3F9EF784FCCD}" srcOrd="0" destOrd="0" presId="urn:microsoft.com/office/officeart/2005/8/layout/orgChart1"/>
    <dgm:cxn modelId="{C0B2A0C3-A067-4686-9933-DFD3D04C9B4E}" type="presParOf" srcId="{CD5280FC-12EA-4E10-9B5E-B819B4182158}" destId="{BBC2DF6B-7B67-4D3F-8FFF-6C9137C3B941}" srcOrd="0" destOrd="0" presId="urn:microsoft.com/office/officeart/2005/8/layout/orgChart1"/>
    <dgm:cxn modelId="{9C3C861D-9DC6-4793-8858-4FE075D0C905}" type="presParOf" srcId="{BBC2DF6B-7B67-4D3F-8FFF-6C9137C3B941}" destId="{F22FD8D4-028F-48BD-A160-303A4480CA8F}" srcOrd="0" destOrd="0" presId="urn:microsoft.com/office/officeart/2005/8/layout/orgChart1"/>
    <dgm:cxn modelId="{5ADF727B-565A-4BDD-A4B0-57F8FED13769}" type="presParOf" srcId="{F22FD8D4-028F-48BD-A160-303A4480CA8F}" destId="{2A3127DB-CB11-479B-A509-AEB2291D69A7}" srcOrd="0" destOrd="0" presId="urn:microsoft.com/office/officeart/2005/8/layout/orgChart1"/>
    <dgm:cxn modelId="{D16C2787-5AD1-4143-ABB7-79957F8FE831}" type="presParOf" srcId="{F22FD8D4-028F-48BD-A160-303A4480CA8F}" destId="{B76D0B37-6520-4F97-AC4D-B575CCB33A1C}" srcOrd="1" destOrd="0" presId="urn:microsoft.com/office/officeart/2005/8/layout/orgChart1"/>
    <dgm:cxn modelId="{77C01A48-B74A-40A1-A0AE-68558B1298DD}" type="presParOf" srcId="{BBC2DF6B-7B67-4D3F-8FFF-6C9137C3B941}" destId="{FECF51D2-7C99-4B4C-A91B-47ED0C0A7412}" srcOrd="1" destOrd="0" presId="urn:microsoft.com/office/officeart/2005/8/layout/orgChart1"/>
    <dgm:cxn modelId="{616C3B34-5F1C-4E7A-AFED-10B68F41F409}" type="presParOf" srcId="{FECF51D2-7C99-4B4C-A91B-47ED0C0A7412}" destId="{B835EE2D-AAD1-472F-AC7E-F863885A4112}" srcOrd="0" destOrd="0" presId="urn:microsoft.com/office/officeart/2005/8/layout/orgChart1"/>
    <dgm:cxn modelId="{ED4A5820-3038-4C53-B127-F255BC617349}" type="presParOf" srcId="{FECF51D2-7C99-4B4C-A91B-47ED0C0A7412}" destId="{1AA8AD6B-9FF0-4F80-91D9-184374D21D35}" srcOrd="1" destOrd="0" presId="urn:microsoft.com/office/officeart/2005/8/layout/orgChart1"/>
    <dgm:cxn modelId="{75066AA9-D1B3-4A1A-8C43-2A4E22ED60C0}" type="presParOf" srcId="{1AA8AD6B-9FF0-4F80-91D9-184374D21D35}" destId="{134D560D-C43C-46FC-A31F-2E515AC61593}" srcOrd="0" destOrd="0" presId="urn:microsoft.com/office/officeart/2005/8/layout/orgChart1"/>
    <dgm:cxn modelId="{D4CC2053-57F4-4959-B542-D442F45D1ABC}" type="presParOf" srcId="{134D560D-C43C-46FC-A31F-2E515AC61593}" destId="{E0FCF1F9-C415-4599-9459-4B12E22BFADF}" srcOrd="0" destOrd="0" presId="urn:microsoft.com/office/officeart/2005/8/layout/orgChart1"/>
    <dgm:cxn modelId="{B9C1EF63-CA22-4ED0-88CC-75E4650828F8}" type="presParOf" srcId="{134D560D-C43C-46FC-A31F-2E515AC61593}" destId="{504DB6CF-0E59-400B-857B-F9EC8EE8983A}" srcOrd="1" destOrd="0" presId="urn:microsoft.com/office/officeart/2005/8/layout/orgChart1"/>
    <dgm:cxn modelId="{8B769B00-8740-493F-9776-915E8C8F9C5E}" type="presParOf" srcId="{1AA8AD6B-9FF0-4F80-91D9-184374D21D35}" destId="{B465BB65-6598-4DA1-AEF3-68ADAC94084B}" srcOrd="1" destOrd="0" presId="urn:microsoft.com/office/officeart/2005/8/layout/orgChart1"/>
    <dgm:cxn modelId="{F27DE78B-2E1A-4406-B59E-E4D447773339}" type="presParOf" srcId="{1AA8AD6B-9FF0-4F80-91D9-184374D21D35}" destId="{3A959CB0-850A-41A4-958C-960F01C1A6D8}" srcOrd="2" destOrd="0" presId="urn:microsoft.com/office/officeart/2005/8/layout/orgChart1"/>
    <dgm:cxn modelId="{7FE2E5F1-BEB9-46AE-B08B-18CB46CD8563}" type="presParOf" srcId="{FECF51D2-7C99-4B4C-A91B-47ED0C0A7412}" destId="{29B883CA-02DA-4FCA-BA05-3F9EF784FCCD}" srcOrd="2" destOrd="0" presId="urn:microsoft.com/office/officeart/2005/8/layout/orgChart1"/>
    <dgm:cxn modelId="{322418F7-DC27-4337-A00D-0B5271B94FE0}" type="presParOf" srcId="{FECF51D2-7C99-4B4C-A91B-47ED0C0A7412}" destId="{C815E2C3-916E-4F22-91DA-85CE16253A60}" srcOrd="3" destOrd="0" presId="urn:microsoft.com/office/officeart/2005/8/layout/orgChart1"/>
    <dgm:cxn modelId="{79F69F4B-3BC1-44FE-BD54-A2F555909E1F}" type="presParOf" srcId="{C815E2C3-916E-4F22-91DA-85CE16253A60}" destId="{3C9119AF-9E8A-4004-829A-81FF2659D0F1}" srcOrd="0" destOrd="0" presId="urn:microsoft.com/office/officeart/2005/8/layout/orgChart1"/>
    <dgm:cxn modelId="{B8CAA402-3087-40E9-983C-AB2F50B59DAC}" type="presParOf" srcId="{3C9119AF-9E8A-4004-829A-81FF2659D0F1}" destId="{12666221-7E41-43D7-A6F2-487125A5D2FD}" srcOrd="0" destOrd="0" presId="urn:microsoft.com/office/officeart/2005/8/layout/orgChart1"/>
    <dgm:cxn modelId="{748DD345-0553-4EF7-A87B-BC002CFAC7AB}" type="presParOf" srcId="{3C9119AF-9E8A-4004-829A-81FF2659D0F1}" destId="{9E66219C-48B4-432D-9F25-DDD59E667340}" srcOrd="1" destOrd="0" presId="urn:microsoft.com/office/officeart/2005/8/layout/orgChart1"/>
    <dgm:cxn modelId="{C32F16F0-16B5-4E01-818B-D011939807A2}" type="presParOf" srcId="{C815E2C3-916E-4F22-91DA-85CE16253A60}" destId="{A007D34D-EF1E-4659-8CCA-B5249BFF5EF4}" srcOrd="1" destOrd="0" presId="urn:microsoft.com/office/officeart/2005/8/layout/orgChart1"/>
    <dgm:cxn modelId="{4EEF1A6F-AF02-482E-B6F9-43226867BB2E}" type="presParOf" srcId="{A007D34D-EF1E-4659-8CCA-B5249BFF5EF4}" destId="{1139C210-3C2A-4EF2-98C5-84A1E1CF9E70}" srcOrd="0" destOrd="0" presId="urn:microsoft.com/office/officeart/2005/8/layout/orgChart1"/>
    <dgm:cxn modelId="{21A88820-43B8-4DBE-B1EF-3ACD777A8E2F}" type="presParOf" srcId="{A007D34D-EF1E-4659-8CCA-B5249BFF5EF4}" destId="{12C1B41B-AF20-45AB-9ACB-31022E16A8F0}" srcOrd="1" destOrd="0" presId="urn:microsoft.com/office/officeart/2005/8/layout/orgChart1"/>
    <dgm:cxn modelId="{5F2A0FF9-A91F-4AED-AEAC-BAA0BA888124}" type="presParOf" srcId="{12C1B41B-AF20-45AB-9ACB-31022E16A8F0}" destId="{8EF7BFDE-F46C-4A32-A360-57D8DAA5C672}" srcOrd="0" destOrd="0" presId="urn:microsoft.com/office/officeart/2005/8/layout/orgChart1"/>
    <dgm:cxn modelId="{38082C00-20BD-4DE0-8E89-F49DCFF82914}" type="presParOf" srcId="{8EF7BFDE-F46C-4A32-A360-57D8DAA5C672}" destId="{0E7E62BB-EBD6-4559-A0D8-033DDD008FD8}" srcOrd="0" destOrd="0" presId="urn:microsoft.com/office/officeart/2005/8/layout/orgChart1"/>
    <dgm:cxn modelId="{603788EF-9289-4330-A81A-09FC334F54F0}" type="presParOf" srcId="{8EF7BFDE-F46C-4A32-A360-57D8DAA5C672}" destId="{2A1D68E1-5066-46F1-AD47-C4A6F76C8534}" srcOrd="1" destOrd="0" presId="urn:microsoft.com/office/officeart/2005/8/layout/orgChart1"/>
    <dgm:cxn modelId="{B33F291D-7EA6-4DF1-8BB7-9A5FA9B9422E}" type="presParOf" srcId="{12C1B41B-AF20-45AB-9ACB-31022E16A8F0}" destId="{DD24AB1C-B0B9-4D85-997E-DE36AE7326ED}" srcOrd="1" destOrd="0" presId="urn:microsoft.com/office/officeart/2005/8/layout/orgChart1"/>
    <dgm:cxn modelId="{5FE90740-948B-4711-9F52-6BDBF0BDF7A0}" type="presParOf" srcId="{12C1B41B-AF20-45AB-9ACB-31022E16A8F0}" destId="{9731E114-182F-4E95-AAAC-1A039CF9889D}" srcOrd="2" destOrd="0" presId="urn:microsoft.com/office/officeart/2005/8/layout/orgChart1"/>
    <dgm:cxn modelId="{E71A1659-8B08-4A30-AA4D-51BB55354D62}" type="presParOf" srcId="{A007D34D-EF1E-4659-8CCA-B5249BFF5EF4}" destId="{2DA29D14-370D-4A02-B1E0-AAF61CFF68A3}" srcOrd="2" destOrd="0" presId="urn:microsoft.com/office/officeart/2005/8/layout/orgChart1"/>
    <dgm:cxn modelId="{28F3C7EB-C433-4268-B415-BD6AD6400371}" type="presParOf" srcId="{A007D34D-EF1E-4659-8CCA-B5249BFF5EF4}" destId="{F01643A5-53C9-41BD-857E-34D7A8EDD3D4}" srcOrd="3" destOrd="0" presId="urn:microsoft.com/office/officeart/2005/8/layout/orgChart1"/>
    <dgm:cxn modelId="{17859D86-BE73-4B1B-A9CE-FE1E05D4510F}" type="presParOf" srcId="{F01643A5-53C9-41BD-857E-34D7A8EDD3D4}" destId="{86915B90-C56E-4C17-9D52-F045ED49F9A8}" srcOrd="0" destOrd="0" presId="urn:microsoft.com/office/officeart/2005/8/layout/orgChart1"/>
    <dgm:cxn modelId="{3043061E-F177-493F-BBC9-678C9BF7181F}" type="presParOf" srcId="{86915B90-C56E-4C17-9D52-F045ED49F9A8}" destId="{D9C908CE-C22F-4BC8-9781-58FBE6C231C1}" srcOrd="0" destOrd="0" presId="urn:microsoft.com/office/officeart/2005/8/layout/orgChart1"/>
    <dgm:cxn modelId="{67454526-4EC6-498F-AF1F-569B6C638F84}" type="presParOf" srcId="{86915B90-C56E-4C17-9D52-F045ED49F9A8}" destId="{E86223B8-E32F-40B8-86E7-E739E25E8DAD}" srcOrd="1" destOrd="0" presId="urn:microsoft.com/office/officeart/2005/8/layout/orgChart1"/>
    <dgm:cxn modelId="{B7835D57-39EE-4C76-A57E-445BD988A2C5}" type="presParOf" srcId="{F01643A5-53C9-41BD-857E-34D7A8EDD3D4}" destId="{1250B039-CCA5-4F2D-A6B4-2FD8025113EA}" srcOrd="1" destOrd="0" presId="urn:microsoft.com/office/officeart/2005/8/layout/orgChart1"/>
    <dgm:cxn modelId="{97E85D12-018C-42E3-98AF-FC605DADC9EA}" type="presParOf" srcId="{F01643A5-53C9-41BD-857E-34D7A8EDD3D4}" destId="{CAFE3A95-11A1-44BC-B284-5922161AF536}" srcOrd="2" destOrd="0" presId="urn:microsoft.com/office/officeart/2005/8/layout/orgChart1"/>
    <dgm:cxn modelId="{153C8BF9-9157-499D-8278-F00FC141A5E7}" type="presParOf" srcId="{C815E2C3-916E-4F22-91DA-85CE16253A60}" destId="{EA6978AA-31E0-428D-9974-DC40EFA994DC}" srcOrd="2" destOrd="0" presId="urn:microsoft.com/office/officeart/2005/8/layout/orgChart1"/>
    <dgm:cxn modelId="{3E5D1E95-3FE9-44E3-84D7-2D4A94CCCF28}" type="presParOf" srcId="{BBC2DF6B-7B67-4D3F-8FFF-6C9137C3B941}" destId="{19F9D2CC-B02A-4035-B1BC-F46289CFD9D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C01368-0DFF-417A-88A0-2DAC15ADA945}" type="doc">
      <dgm:prSet loTypeId="urn:microsoft.com/office/officeart/2005/8/layout/hProcess4" loCatId="process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6C9D3231-4F89-4095-8352-D75F3D99A304}">
      <dgm:prSet/>
      <dgm:spPr/>
      <dgm:t>
        <a:bodyPr/>
        <a:lstStyle/>
        <a:p>
          <a:pPr rtl="0"/>
          <a:r>
            <a:rPr lang="en-US" dirty="0"/>
            <a:t>Defining Message</a:t>
          </a:r>
        </a:p>
      </dgm:t>
    </dgm:pt>
    <dgm:pt modelId="{BA429D65-B28A-4BB9-9E14-52CA7B57B27F}" type="parTrans" cxnId="{C7847990-7990-4FA9-9A83-3432967DD2E2}">
      <dgm:prSet/>
      <dgm:spPr/>
      <dgm:t>
        <a:bodyPr/>
        <a:lstStyle/>
        <a:p>
          <a:endParaRPr lang="en-US"/>
        </a:p>
      </dgm:t>
    </dgm:pt>
    <dgm:pt modelId="{00EA24AB-81CE-4999-A738-CDA4E5E788B5}" type="sibTrans" cxnId="{C7847990-7990-4FA9-9A83-3432967DD2E2}">
      <dgm:prSet/>
      <dgm:spPr/>
      <dgm:t>
        <a:bodyPr/>
        <a:lstStyle/>
        <a:p>
          <a:endParaRPr lang="en-US"/>
        </a:p>
      </dgm:t>
    </dgm:pt>
    <dgm:pt modelId="{5A6EE632-8DB4-48B2-9216-179EC1E9A68D}">
      <dgm:prSet/>
      <dgm:spPr/>
      <dgm:t>
        <a:bodyPr/>
        <a:lstStyle/>
        <a:p>
          <a:pPr rtl="0"/>
          <a:r>
            <a:rPr lang="en-US" dirty="0"/>
            <a:t>Choosing Form</a:t>
          </a:r>
        </a:p>
      </dgm:t>
    </dgm:pt>
    <dgm:pt modelId="{413052DB-2EFA-4420-8713-BBBF182FFCE0}" type="parTrans" cxnId="{A545F477-0E30-47B5-80EA-BD72EE44BB1A}">
      <dgm:prSet/>
      <dgm:spPr/>
      <dgm:t>
        <a:bodyPr/>
        <a:lstStyle/>
        <a:p>
          <a:endParaRPr lang="en-US"/>
        </a:p>
      </dgm:t>
    </dgm:pt>
    <dgm:pt modelId="{D6745372-F9F6-4204-A3AE-6EAFD0FD77CE}" type="sibTrans" cxnId="{A545F477-0E30-47B5-80EA-BD72EE44BB1A}">
      <dgm:prSet/>
      <dgm:spPr/>
      <dgm:t>
        <a:bodyPr/>
        <a:lstStyle/>
        <a:p>
          <a:endParaRPr lang="en-US"/>
        </a:p>
      </dgm:t>
    </dgm:pt>
    <dgm:pt modelId="{8BB92571-4041-4BBD-A80E-BEAC856CCAAE}">
      <dgm:prSet/>
      <dgm:spPr/>
      <dgm:t>
        <a:bodyPr/>
        <a:lstStyle/>
        <a:p>
          <a:pPr rtl="0"/>
          <a:r>
            <a:rPr lang="en-US" dirty="0"/>
            <a:t>Creating Design</a:t>
          </a:r>
        </a:p>
      </dgm:t>
    </dgm:pt>
    <dgm:pt modelId="{4496CBFA-097C-4E35-A888-76711ED7FEB6}" type="parTrans" cxnId="{DE40BB55-E5A1-4D5E-A989-5533AC6BD734}">
      <dgm:prSet/>
      <dgm:spPr/>
      <dgm:t>
        <a:bodyPr/>
        <a:lstStyle/>
        <a:p>
          <a:endParaRPr lang="en-US"/>
        </a:p>
      </dgm:t>
    </dgm:pt>
    <dgm:pt modelId="{77349D07-BAF6-48D8-B158-836B303B3E61}" type="sibTrans" cxnId="{DE40BB55-E5A1-4D5E-A989-5533AC6BD734}">
      <dgm:prSet/>
      <dgm:spPr/>
      <dgm:t>
        <a:bodyPr/>
        <a:lstStyle/>
        <a:p>
          <a:endParaRPr lang="en-US"/>
        </a:p>
      </dgm:t>
    </dgm:pt>
    <dgm:pt modelId="{864F04F8-0C31-4BD6-880F-8ED648C9327B}">
      <dgm:prSet custT="1"/>
      <dgm:spPr/>
      <dgm:t>
        <a:bodyPr/>
        <a:lstStyle/>
        <a:p>
          <a:pPr rtl="0"/>
          <a:r>
            <a:rPr lang="en-US" sz="1800" dirty="0"/>
            <a:t>What am I trying to communicate?</a:t>
          </a:r>
        </a:p>
      </dgm:t>
    </dgm:pt>
    <dgm:pt modelId="{2E909FA4-9BC7-4052-B07B-3435ABDE9C93}" type="parTrans" cxnId="{788CB1C4-584C-4C9A-A5FA-46819BA8921D}">
      <dgm:prSet/>
      <dgm:spPr/>
      <dgm:t>
        <a:bodyPr/>
        <a:lstStyle/>
        <a:p>
          <a:endParaRPr lang="en-US"/>
        </a:p>
      </dgm:t>
    </dgm:pt>
    <dgm:pt modelId="{5475FF2D-1399-4361-BF11-517BEA128BAF}" type="sibTrans" cxnId="{788CB1C4-584C-4C9A-A5FA-46819BA8921D}">
      <dgm:prSet/>
      <dgm:spPr/>
      <dgm:t>
        <a:bodyPr/>
        <a:lstStyle/>
        <a:p>
          <a:endParaRPr lang="en-US"/>
        </a:p>
      </dgm:t>
    </dgm:pt>
    <dgm:pt modelId="{CAA84FAD-ADEC-4A07-981D-5A2FD9911061}">
      <dgm:prSet custT="1"/>
      <dgm:spPr/>
      <dgm:t>
        <a:bodyPr/>
        <a:lstStyle/>
        <a:p>
          <a:pPr rtl="0"/>
          <a:r>
            <a:rPr lang="en-US" sz="1800" dirty="0"/>
            <a:t>What is the message?</a:t>
          </a:r>
        </a:p>
      </dgm:t>
    </dgm:pt>
    <dgm:pt modelId="{13C5ADC6-59F7-4F70-8858-0BA4CDCC5019}" type="parTrans" cxnId="{7F2DB68D-3A4D-4735-84AB-FC588067F7F1}">
      <dgm:prSet/>
      <dgm:spPr/>
      <dgm:t>
        <a:bodyPr/>
        <a:lstStyle/>
        <a:p>
          <a:endParaRPr lang="en-US"/>
        </a:p>
      </dgm:t>
    </dgm:pt>
    <dgm:pt modelId="{3C6E1A09-C2C2-4E17-B8B7-15C7C8EED8A0}" type="sibTrans" cxnId="{7F2DB68D-3A4D-4735-84AB-FC588067F7F1}">
      <dgm:prSet/>
      <dgm:spPr/>
      <dgm:t>
        <a:bodyPr/>
        <a:lstStyle/>
        <a:p>
          <a:endParaRPr lang="en-US"/>
        </a:p>
      </dgm:t>
    </dgm:pt>
    <dgm:pt modelId="{333E6767-AACF-4387-9840-03B7E5A3D88F}">
      <dgm:prSet custT="1"/>
      <dgm:spPr/>
      <dgm:t>
        <a:bodyPr/>
        <a:lstStyle/>
        <a:p>
          <a:pPr rtl="0"/>
          <a:r>
            <a:rPr lang="en-US" sz="1800" dirty="0"/>
            <a:t>How do I make that message clear at a glance?</a:t>
          </a:r>
        </a:p>
      </dgm:t>
    </dgm:pt>
    <dgm:pt modelId="{7599C4A4-0373-41C1-AEBB-BA194A6C5496}" type="parTrans" cxnId="{731F3729-1FF3-44C3-BF0C-D5188DBCB23D}">
      <dgm:prSet/>
      <dgm:spPr/>
      <dgm:t>
        <a:bodyPr/>
        <a:lstStyle/>
        <a:p>
          <a:endParaRPr lang="en-US"/>
        </a:p>
      </dgm:t>
    </dgm:pt>
    <dgm:pt modelId="{159383AD-9062-4546-B36E-42368C664C1E}" type="sibTrans" cxnId="{731F3729-1FF3-44C3-BF0C-D5188DBCB23D}">
      <dgm:prSet/>
      <dgm:spPr/>
      <dgm:t>
        <a:bodyPr/>
        <a:lstStyle/>
        <a:p>
          <a:endParaRPr lang="en-US"/>
        </a:p>
      </dgm:t>
    </dgm:pt>
    <dgm:pt modelId="{A3BA89F5-4506-424F-BDFF-A40030F461F4}">
      <dgm:prSet/>
      <dgm:spPr/>
      <dgm:t>
        <a:bodyPr/>
        <a:lstStyle/>
        <a:p>
          <a:pPr rtl="0"/>
          <a:r>
            <a:rPr lang="en-US" dirty="0"/>
            <a:t>Should I use text, table, graph or a diagram?</a:t>
          </a:r>
        </a:p>
      </dgm:t>
    </dgm:pt>
    <dgm:pt modelId="{7C0D99AF-FCE2-4C7E-A762-137ECE5313F6}" type="parTrans" cxnId="{C2B5233F-75CF-43A6-9170-E6FD08B6F1B4}">
      <dgm:prSet/>
      <dgm:spPr/>
      <dgm:t>
        <a:bodyPr/>
        <a:lstStyle/>
        <a:p>
          <a:endParaRPr lang="en-US"/>
        </a:p>
      </dgm:t>
    </dgm:pt>
    <dgm:pt modelId="{C82A35C4-0DD0-45C9-AEE0-B60226E4C512}" type="sibTrans" cxnId="{C2B5233F-75CF-43A6-9170-E6FD08B6F1B4}">
      <dgm:prSet/>
      <dgm:spPr/>
      <dgm:t>
        <a:bodyPr/>
        <a:lstStyle/>
        <a:p>
          <a:endParaRPr lang="en-US"/>
        </a:p>
      </dgm:t>
    </dgm:pt>
    <dgm:pt modelId="{6159B6BE-3F8B-4EFC-99D9-907D810B8B7C}">
      <dgm:prSet/>
      <dgm:spPr/>
      <dgm:t>
        <a:bodyPr/>
        <a:lstStyle/>
        <a:p>
          <a:pPr rtl="0"/>
          <a:r>
            <a:rPr lang="en-US" dirty="0"/>
            <a:t>Or a combination?</a:t>
          </a:r>
        </a:p>
      </dgm:t>
    </dgm:pt>
    <dgm:pt modelId="{61FD7320-6986-4349-B5F6-71D836EF3939}" type="parTrans" cxnId="{B00B69B0-8CF8-47A1-BC0C-6973A7DB2FB3}">
      <dgm:prSet/>
      <dgm:spPr/>
      <dgm:t>
        <a:bodyPr/>
        <a:lstStyle/>
        <a:p>
          <a:endParaRPr lang="en-US"/>
        </a:p>
      </dgm:t>
    </dgm:pt>
    <dgm:pt modelId="{663F6852-8E33-4FCF-A308-048739CB8A6A}" type="sibTrans" cxnId="{B00B69B0-8CF8-47A1-BC0C-6973A7DB2FB3}">
      <dgm:prSet/>
      <dgm:spPr/>
      <dgm:t>
        <a:bodyPr/>
        <a:lstStyle/>
        <a:p>
          <a:endParaRPr lang="en-US"/>
        </a:p>
      </dgm:t>
    </dgm:pt>
    <dgm:pt modelId="{F2D2FDED-1CA1-4367-851F-4DD719D25B4A}">
      <dgm:prSet/>
      <dgm:spPr/>
      <dgm:t>
        <a:bodyPr/>
        <a:lstStyle/>
        <a:p>
          <a:pPr rtl="0"/>
          <a:r>
            <a:rPr lang="en-US" dirty="0"/>
            <a:t>What design principles lead to quick cognitive processing and effective communication of the message?</a:t>
          </a:r>
        </a:p>
      </dgm:t>
    </dgm:pt>
    <dgm:pt modelId="{C553B1E2-97F2-4B20-A265-4C2E94EE8E16}" type="parTrans" cxnId="{B6F46EE7-C49B-4A47-8436-389DE2C74417}">
      <dgm:prSet/>
      <dgm:spPr/>
      <dgm:t>
        <a:bodyPr/>
        <a:lstStyle/>
        <a:p>
          <a:endParaRPr lang="en-US"/>
        </a:p>
      </dgm:t>
    </dgm:pt>
    <dgm:pt modelId="{02E34ACA-9779-4F6F-9D24-0731AC6214B9}" type="sibTrans" cxnId="{B6F46EE7-C49B-4A47-8436-389DE2C74417}">
      <dgm:prSet/>
      <dgm:spPr/>
      <dgm:t>
        <a:bodyPr/>
        <a:lstStyle/>
        <a:p>
          <a:endParaRPr lang="en-US"/>
        </a:p>
      </dgm:t>
    </dgm:pt>
    <dgm:pt modelId="{0AB3ECCC-78A1-4C9C-82FA-43AFEA16B096}" type="pres">
      <dgm:prSet presAssocID="{32C01368-0DFF-417A-88A0-2DAC15ADA945}" presName="Name0" presStyleCnt="0">
        <dgm:presLayoutVars>
          <dgm:dir/>
          <dgm:animLvl val="lvl"/>
          <dgm:resizeHandles val="exact"/>
        </dgm:presLayoutVars>
      </dgm:prSet>
      <dgm:spPr/>
    </dgm:pt>
    <dgm:pt modelId="{6C0B22A8-4E9D-414C-9F55-A02FAA7B2F72}" type="pres">
      <dgm:prSet presAssocID="{32C01368-0DFF-417A-88A0-2DAC15ADA945}" presName="tSp" presStyleCnt="0"/>
      <dgm:spPr/>
    </dgm:pt>
    <dgm:pt modelId="{5B03D77E-D969-4AFD-B3BF-EC01EF557D39}" type="pres">
      <dgm:prSet presAssocID="{32C01368-0DFF-417A-88A0-2DAC15ADA945}" presName="bSp" presStyleCnt="0"/>
      <dgm:spPr/>
    </dgm:pt>
    <dgm:pt modelId="{893CE6ED-918E-44DA-AB0A-F132DD38E634}" type="pres">
      <dgm:prSet presAssocID="{32C01368-0DFF-417A-88A0-2DAC15ADA945}" presName="process" presStyleCnt="0"/>
      <dgm:spPr/>
    </dgm:pt>
    <dgm:pt modelId="{911EDCB8-BA77-448D-90CF-0820E55ACF85}" type="pres">
      <dgm:prSet presAssocID="{6C9D3231-4F89-4095-8352-D75F3D99A304}" presName="composite1" presStyleCnt="0"/>
      <dgm:spPr/>
    </dgm:pt>
    <dgm:pt modelId="{A64F304B-EE9D-4A3A-AC2D-0C7E33E8A881}" type="pres">
      <dgm:prSet presAssocID="{6C9D3231-4F89-4095-8352-D75F3D99A304}" presName="dummyNode1" presStyleLbl="node1" presStyleIdx="0" presStyleCnt="3"/>
      <dgm:spPr/>
    </dgm:pt>
    <dgm:pt modelId="{3FB193C9-0E9E-4463-9154-2356150E88D9}" type="pres">
      <dgm:prSet presAssocID="{6C9D3231-4F89-4095-8352-D75F3D99A304}" presName="childNode1" presStyleLbl="bgAcc1" presStyleIdx="0" presStyleCnt="3" custScaleY="134477">
        <dgm:presLayoutVars>
          <dgm:bulletEnabled val="1"/>
        </dgm:presLayoutVars>
      </dgm:prSet>
      <dgm:spPr/>
    </dgm:pt>
    <dgm:pt modelId="{B90378A0-CEA8-43F1-8D23-A3162FCB3A2C}" type="pres">
      <dgm:prSet presAssocID="{6C9D3231-4F89-4095-8352-D75F3D99A304}" presName="childNode1tx" presStyleLbl="bgAcc1" presStyleIdx="0" presStyleCnt="3">
        <dgm:presLayoutVars>
          <dgm:bulletEnabled val="1"/>
        </dgm:presLayoutVars>
      </dgm:prSet>
      <dgm:spPr/>
    </dgm:pt>
    <dgm:pt modelId="{7BB31D39-27DB-46AB-A589-D0CCCACF1D45}" type="pres">
      <dgm:prSet presAssocID="{6C9D3231-4F89-4095-8352-D75F3D99A304}" presName="parentNode1" presStyleLbl="node1" presStyleIdx="0" presStyleCnt="3" custLinFactNeighborY="31176">
        <dgm:presLayoutVars>
          <dgm:chMax val="1"/>
          <dgm:bulletEnabled val="1"/>
        </dgm:presLayoutVars>
      </dgm:prSet>
      <dgm:spPr/>
    </dgm:pt>
    <dgm:pt modelId="{AFAF1352-42DA-4C88-8A95-08F5B705540D}" type="pres">
      <dgm:prSet presAssocID="{6C9D3231-4F89-4095-8352-D75F3D99A304}" presName="connSite1" presStyleCnt="0"/>
      <dgm:spPr/>
    </dgm:pt>
    <dgm:pt modelId="{59CAF53F-3ECD-43DD-972F-396CAD0B84CB}" type="pres">
      <dgm:prSet presAssocID="{00EA24AB-81CE-4999-A738-CDA4E5E788B5}" presName="Name9" presStyleLbl="sibTrans2D1" presStyleIdx="0" presStyleCnt="2"/>
      <dgm:spPr/>
    </dgm:pt>
    <dgm:pt modelId="{072C877C-DBF6-447E-A76F-0E3DC4C72947}" type="pres">
      <dgm:prSet presAssocID="{5A6EE632-8DB4-48B2-9216-179EC1E9A68D}" presName="composite2" presStyleCnt="0"/>
      <dgm:spPr/>
    </dgm:pt>
    <dgm:pt modelId="{F768CD88-D15C-4435-84F4-772B2889B868}" type="pres">
      <dgm:prSet presAssocID="{5A6EE632-8DB4-48B2-9216-179EC1E9A68D}" presName="dummyNode2" presStyleLbl="node1" presStyleIdx="0" presStyleCnt="3"/>
      <dgm:spPr/>
    </dgm:pt>
    <dgm:pt modelId="{4FACE709-AFAF-4B34-894F-9CF57B38D93B}" type="pres">
      <dgm:prSet presAssocID="{5A6EE632-8DB4-48B2-9216-179EC1E9A68D}" presName="childNode2" presStyleLbl="bgAcc1" presStyleIdx="1" presStyleCnt="3" custScaleY="134477">
        <dgm:presLayoutVars>
          <dgm:bulletEnabled val="1"/>
        </dgm:presLayoutVars>
      </dgm:prSet>
      <dgm:spPr/>
    </dgm:pt>
    <dgm:pt modelId="{F8D9A965-1F24-41D2-B90E-C8447F3227D9}" type="pres">
      <dgm:prSet presAssocID="{5A6EE632-8DB4-48B2-9216-179EC1E9A68D}" presName="childNode2tx" presStyleLbl="bgAcc1" presStyleIdx="1" presStyleCnt="3">
        <dgm:presLayoutVars>
          <dgm:bulletEnabled val="1"/>
        </dgm:presLayoutVars>
      </dgm:prSet>
      <dgm:spPr/>
    </dgm:pt>
    <dgm:pt modelId="{23AA9380-A702-4DCC-8F87-2065CD157F3D}" type="pres">
      <dgm:prSet presAssocID="{5A6EE632-8DB4-48B2-9216-179EC1E9A68D}" presName="parentNode2" presStyleLbl="node1" presStyleIdx="1" presStyleCnt="3" custLinFactNeighborY="-29444">
        <dgm:presLayoutVars>
          <dgm:chMax val="0"/>
          <dgm:bulletEnabled val="1"/>
        </dgm:presLayoutVars>
      </dgm:prSet>
      <dgm:spPr/>
    </dgm:pt>
    <dgm:pt modelId="{9C4D8905-E6F6-4AA8-9F14-3DCB351C38E9}" type="pres">
      <dgm:prSet presAssocID="{5A6EE632-8DB4-48B2-9216-179EC1E9A68D}" presName="connSite2" presStyleCnt="0"/>
      <dgm:spPr/>
    </dgm:pt>
    <dgm:pt modelId="{D83778CE-6B94-485D-81D3-2237D654C18C}" type="pres">
      <dgm:prSet presAssocID="{D6745372-F9F6-4204-A3AE-6EAFD0FD77CE}" presName="Name18" presStyleLbl="sibTrans2D1" presStyleIdx="1" presStyleCnt="2"/>
      <dgm:spPr/>
    </dgm:pt>
    <dgm:pt modelId="{0705EF25-BCCA-4533-BA28-3107E77FE478}" type="pres">
      <dgm:prSet presAssocID="{8BB92571-4041-4BBD-A80E-BEAC856CCAAE}" presName="composite1" presStyleCnt="0"/>
      <dgm:spPr/>
    </dgm:pt>
    <dgm:pt modelId="{FDF7B9F2-4D84-4FDD-BD8D-3602CD8B5289}" type="pres">
      <dgm:prSet presAssocID="{8BB92571-4041-4BBD-A80E-BEAC856CCAAE}" presName="dummyNode1" presStyleLbl="node1" presStyleIdx="1" presStyleCnt="3"/>
      <dgm:spPr/>
    </dgm:pt>
    <dgm:pt modelId="{9AE28D42-B290-40F8-9523-0C66878E209E}" type="pres">
      <dgm:prSet presAssocID="{8BB92571-4041-4BBD-A80E-BEAC856CCAAE}" presName="childNode1" presStyleLbl="bgAcc1" presStyleIdx="2" presStyleCnt="3" custScaleY="137446">
        <dgm:presLayoutVars>
          <dgm:bulletEnabled val="1"/>
        </dgm:presLayoutVars>
      </dgm:prSet>
      <dgm:spPr/>
    </dgm:pt>
    <dgm:pt modelId="{00853170-46E5-4DED-9E73-492A1B067348}" type="pres">
      <dgm:prSet presAssocID="{8BB92571-4041-4BBD-A80E-BEAC856CCAAE}" presName="childNode1tx" presStyleLbl="bgAcc1" presStyleIdx="2" presStyleCnt="3">
        <dgm:presLayoutVars>
          <dgm:bulletEnabled val="1"/>
        </dgm:presLayoutVars>
      </dgm:prSet>
      <dgm:spPr/>
    </dgm:pt>
    <dgm:pt modelId="{E9B05127-2A1A-46D4-8E70-266278CCE4A7}" type="pres">
      <dgm:prSet presAssocID="{8BB92571-4041-4BBD-A80E-BEAC856CCAAE}" presName="parentNode1" presStyleLbl="node1" presStyleIdx="2" presStyleCnt="3" custLinFactNeighborY="41568">
        <dgm:presLayoutVars>
          <dgm:chMax val="1"/>
          <dgm:bulletEnabled val="1"/>
        </dgm:presLayoutVars>
      </dgm:prSet>
      <dgm:spPr/>
    </dgm:pt>
    <dgm:pt modelId="{CB123AE5-78C9-45A8-A363-8962F781DA58}" type="pres">
      <dgm:prSet presAssocID="{8BB92571-4041-4BBD-A80E-BEAC856CCAAE}" presName="connSite1" presStyleCnt="0"/>
      <dgm:spPr/>
    </dgm:pt>
  </dgm:ptLst>
  <dgm:cxnLst>
    <dgm:cxn modelId="{89393C03-27C3-48B7-B304-8D942E7AF290}" type="presOf" srcId="{333E6767-AACF-4387-9840-03B7E5A3D88F}" destId="{B90378A0-CEA8-43F1-8D23-A3162FCB3A2C}" srcOrd="1" destOrd="2" presId="urn:microsoft.com/office/officeart/2005/8/layout/hProcess4"/>
    <dgm:cxn modelId="{11C24612-B57E-4311-85D2-F8AD8516591E}" type="presOf" srcId="{CAA84FAD-ADEC-4A07-981D-5A2FD9911061}" destId="{3FB193C9-0E9E-4463-9154-2356150E88D9}" srcOrd="0" destOrd="1" presId="urn:microsoft.com/office/officeart/2005/8/layout/hProcess4"/>
    <dgm:cxn modelId="{A0A1DD24-9983-4375-B8B5-CF19C4205A20}" type="presOf" srcId="{32C01368-0DFF-417A-88A0-2DAC15ADA945}" destId="{0AB3ECCC-78A1-4C9C-82FA-43AFEA16B096}" srcOrd="0" destOrd="0" presId="urn:microsoft.com/office/officeart/2005/8/layout/hProcess4"/>
    <dgm:cxn modelId="{731F3729-1FF3-44C3-BF0C-D5188DBCB23D}" srcId="{6C9D3231-4F89-4095-8352-D75F3D99A304}" destId="{333E6767-AACF-4387-9840-03B7E5A3D88F}" srcOrd="2" destOrd="0" parTransId="{7599C4A4-0373-41C1-AEBB-BA194A6C5496}" sibTransId="{159383AD-9062-4546-B36E-42368C664C1E}"/>
    <dgm:cxn modelId="{81ED232E-0F14-4C11-88D4-B6248DB64B15}" type="presOf" srcId="{6C9D3231-4F89-4095-8352-D75F3D99A304}" destId="{7BB31D39-27DB-46AB-A589-D0CCCACF1D45}" srcOrd="0" destOrd="0" presId="urn:microsoft.com/office/officeart/2005/8/layout/hProcess4"/>
    <dgm:cxn modelId="{87A9F62E-D694-4DBC-B6C2-6576CCFEF239}" type="presOf" srcId="{00EA24AB-81CE-4999-A738-CDA4E5E788B5}" destId="{59CAF53F-3ECD-43DD-972F-396CAD0B84CB}" srcOrd="0" destOrd="0" presId="urn:microsoft.com/office/officeart/2005/8/layout/hProcess4"/>
    <dgm:cxn modelId="{C2B5233F-75CF-43A6-9170-E6FD08B6F1B4}" srcId="{5A6EE632-8DB4-48B2-9216-179EC1E9A68D}" destId="{A3BA89F5-4506-424F-BDFF-A40030F461F4}" srcOrd="0" destOrd="0" parTransId="{7C0D99AF-FCE2-4C7E-A762-137ECE5313F6}" sibTransId="{C82A35C4-0DD0-45C9-AEE0-B60226E4C512}"/>
    <dgm:cxn modelId="{3940AD3F-7DB5-4DE7-AAB8-2A8DC2F2FC19}" type="presOf" srcId="{6159B6BE-3F8B-4EFC-99D9-907D810B8B7C}" destId="{F8D9A965-1F24-41D2-B90E-C8447F3227D9}" srcOrd="1" destOrd="1" presId="urn:microsoft.com/office/officeart/2005/8/layout/hProcess4"/>
    <dgm:cxn modelId="{93D3C841-7F57-45DD-8317-428454FC39D2}" type="presOf" srcId="{F2D2FDED-1CA1-4367-851F-4DD719D25B4A}" destId="{00853170-46E5-4DED-9E73-492A1B067348}" srcOrd="1" destOrd="0" presId="urn:microsoft.com/office/officeart/2005/8/layout/hProcess4"/>
    <dgm:cxn modelId="{99038E69-3EBE-4437-AA95-5B1CB9482178}" type="presOf" srcId="{8BB92571-4041-4BBD-A80E-BEAC856CCAAE}" destId="{E9B05127-2A1A-46D4-8E70-266278CCE4A7}" srcOrd="0" destOrd="0" presId="urn:microsoft.com/office/officeart/2005/8/layout/hProcess4"/>
    <dgm:cxn modelId="{3AF2B949-CF9A-40E6-88D6-DF2535798ECA}" type="presOf" srcId="{6159B6BE-3F8B-4EFC-99D9-907D810B8B7C}" destId="{4FACE709-AFAF-4B34-894F-9CF57B38D93B}" srcOrd="0" destOrd="1" presId="urn:microsoft.com/office/officeart/2005/8/layout/hProcess4"/>
    <dgm:cxn modelId="{68EAC94A-A61C-468E-BCB3-719AB5E01F58}" type="presOf" srcId="{A3BA89F5-4506-424F-BDFF-A40030F461F4}" destId="{F8D9A965-1F24-41D2-B90E-C8447F3227D9}" srcOrd="1" destOrd="0" presId="urn:microsoft.com/office/officeart/2005/8/layout/hProcess4"/>
    <dgm:cxn modelId="{88F9E874-0D7D-4640-B4C5-C359098215BD}" type="presOf" srcId="{CAA84FAD-ADEC-4A07-981D-5A2FD9911061}" destId="{B90378A0-CEA8-43F1-8D23-A3162FCB3A2C}" srcOrd="1" destOrd="1" presId="urn:microsoft.com/office/officeart/2005/8/layout/hProcess4"/>
    <dgm:cxn modelId="{DE40BB55-E5A1-4D5E-A989-5533AC6BD734}" srcId="{32C01368-0DFF-417A-88A0-2DAC15ADA945}" destId="{8BB92571-4041-4BBD-A80E-BEAC856CCAAE}" srcOrd="2" destOrd="0" parTransId="{4496CBFA-097C-4E35-A888-76711ED7FEB6}" sibTransId="{77349D07-BAF6-48D8-B158-836B303B3E61}"/>
    <dgm:cxn modelId="{5DCF0C57-CD75-403A-AF10-72F455ED6427}" type="presOf" srcId="{5A6EE632-8DB4-48B2-9216-179EC1E9A68D}" destId="{23AA9380-A702-4DCC-8F87-2065CD157F3D}" srcOrd="0" destOrd="0" presId="urn:microsoft.com/office/officeart/2005/8/layout/hProcess4"/>
    <dgm:cxn modelId="{A545F477-0E30-47B5-80EA-BD72EE44BB1A}" srcId="{32C01368-0DFF-417A-88A0-2DAC15ADA945}" destId="{5A6EE632-8DB4-48B2-9216-179EC1E9A68D}" srcOrd="1" destOrd="0" parTransId="{413052DB-2EFA-4420-8713-BBBF182FFCE0}" sibTransId="{D6745372-F9F6-4204-A3AE-6EAFD0FD77CE}"/>
    <dgm:cxn modelId="{7F2DB68D-3A4D-4735-84AB-FC588067F7F1}" srcId="{6C9D3231-4F89-4095-8352-D75F3D99A304}" destId="{CAA84FAD-ADEC-4A07-981D-5A2FD9911061}" srcOrd="1" destOrd="0" parTransId="{13C5ADC6-59F7-4F70-8858-0BA4CDCC5019}" sibTransId="{3C6E1A09-C2C2-4E17-B8B7-15C7C8EED8A0}"/>
    <dgm:cxn modelId="{C7847990-7990-4FA9-9A83-3432967DD2E2}" srcId="{32C01368-0DFF-417A-88A0-2DAC15ADA945}" destId="{6C9D3231-4F89-4095-8352-D75F3D99A304}" srcOrd="0" destOrd="0" parTransId="{BA429D65-B28A-4BB9-9E14-52CA7B57B27F}" sibTransId="{00EA24AB-81CE-4999-A738-CDA4E5E788B5}"/>
    <dgm:cxn modelId="{39177C9E-E8AC-43BD-9463-572732FF5269}" type="presOf" srcId="{864F04F8-0C31-4BD6-880F-8ED648C9327B}" destId="{B90378A0-CEA8-43F1-8D23-A3162FCB3A2C}" srcOrd="1" destOrd="0" presId="urn:microsoft.com/office/officeart/2005/8/layout/hProcess4"/>
    <dgm:cxn modelId="{70E07FA0-5C75-4FB7-B000-EE4BAFDACFBA}" type="presOf" srcId="{D6745372-F9F6-4204-A3AE-6EAFD0FD77CE}" destId="{D83778CE-6B94-485D-81D3-2237D654C18C}" srcOrd="0" destOrd="0" presId="urn:microsoft.com/office/officeart/2005/8/layout/hProcess4"/>
    <dgm:cxn modelId="{D23A4AAA-A23D-490E-A2DB-0F5F7450E203}" type="presOf" srcId="{F2D2FDED-1CA1-4367-851F-4DD719D25B4A}" destId="{9AE28D42-B290-40F8-9523-0C66878E209E}" srcOrd="0" destOrd="0" presId="urn:microsoft.com/office/officeart/2005/8/layout/hProcess4"/>
    <dgm:cxn modelId="{B00B69B0-8CF8-47A1-BC0C-6973A7DB2FB3}" srcId="{5A6EE632-8DB4-48B2-9216-179EC1E9A68D}" destId="{6159B6BE-3F8B-4EFC-99D9-907D810B8B7C}" srcOrd="1" destOrd="0" parTransId="{61FD7320-6986-4349-B5F6-71D836EF3939}" sibTransId="{663F6852-8E33-4FCF-A308-048739CB8A6A}"/>
    <dgm:cxn modelId="{788CB1C4-584C-4C9A-A5FA-46819BA8921D}" srcId="{6C9D3231-4F89-4095-8352-D75F3D99A304}" destId="{864F04F8-0C31-4BD6-880F-8ED648C9327B}" srcOrd="0" destOrd="0" parTransId="{2E909FA4-9BC7-4052-B07B-3435ABDE9C93}" sibTransId="{5475FF2D-1399-4361-BF11-517BEA128BAF}"/>
    <dgm:cxn modelId="{167DF2DD-3425-4608-AFF6-6639D4F71A20}" type="presOf" srcId="{333E6767-AACF-4387-9840-03B7E5A3D88F}" destId="{3FB193C9-0E9E-4463-9154-2356150E88D9}" srcOrd="0" destOrd="2" presId="urn:microsoft.com/office/officeart/2005/8/layout/hProcess4"/>
    <dgm:cxn modelId="{17BAFFE1-EF0E-4201-9EE7-52E38FF9F129}" type="presOf" srcId="{A3BA89F5-4506-424F-BDFF-A40030F461F4}" destId="{4FACE709-AFAF-4B34-894F-9CF57B38D93B}" srcOrd="0" destOrd="0" presId="urn:microsoft.com/office/officeart/2005/8/layout/hProcess4"/>
    <dgm:cxn modelId="{B6F46EE7-C49B-4A47-8436-389DE2C74417}" srcId="{8BB92571-4041-4BBD-A80E-BEAC856CCAAE}" destId="{F2D2FDED-1CA1-4367-851F-4DD719D25B4A}" srcOrd="0" destOrd="0" parTransId="{C553B1E2-97F2-4B20-A265-4C2E94EE8E16}" sibTransId="{02E34ACA-9779-4F6F-9D24-0731AC6214B9}"/>
    <dgm:cxn modelId="{1925E3FC-BF1E-4E0A-A43D-99330BF90E3C}" type="presOf" srcId="{864F04F8-0C31-4BD6-880F-8ED648C9327B}" destId="{3FB193C9-0E9E-4463-9154-2356150E88D9}" srcOrd="0" destOrd="0" presId="urn:microsoft.com/office/officeart/2005/8/layout/hProcess4"/>
    <dgm:cxn modelId="{660D1BA9-0ECB-4078-9888-E89E52253B68}" type="presParOf" srcId="{0AB3ECCC-78A1-4C9C-82FA-43AFEA16B096}" destId="{6C0B22A8-4E9D-414C-9F55-A02FAA7B2F72}" srcOrd="0" destOrd="0" presId="urn:microsoft.com/office/officeart/2005/8/layout/hProcess4"/>
    <dgm:cxn modelId="{89970813-9605-4722-9C2C-5BB8CE599A0D}" type="presParOf" srcId="{0AB3ECCC-78A1-4C9C-82FA-43AFEA16B096}" destId="{5B03D77E-D969-4AFD-B3BF-EC01EF557D39}" srcOrd="1" destOrd="0" presId="urn:microsoft.com/office/officeart/2005/8/layout/hProcess4"/>
    <dgm:cxn modelId="{026803CA-C386-4EF0-9C01-F904E508356B}" type="presParOf" srcId="{0AB3ECCC-78A1-4C9C-82FA-43AFEA16B096}" destId="{893CE6ED-918E-44DA-AB0A-F132DD38E634}" srcOrd="2" destOrd="0" presId="urn:microsoft.com/office/officeart/2005/8/layout/hProcess4"/>
    <dgm:cxn modelId="{58295B45-0F8D-4F9A-9B6D-0D2076CE83C6}" type="presParOf" srcId="{893CE6ED-918E-44DA-AB0A-F132DD38E634}" destId="{911EDCB8-BA77-448D-90CF-0820E55ACF85}" srcOrd="0" destOrd="0" presId="urn:microsoft.com/office/officeart/2005/8/layout/hProcess4"/>
    <dgm:cxn modelId="{817B5411-0A94-44B7-893D-EAFB6A300679}" type="presParOf" srcId="{911EDCB8-BA77-448D-90CF-0820E55ACF85}" destId="{A64F304B-EE9D-4A3A-AC2D-0C7E33E8A881}" srcOrd="0" destOrd="0" presId="urn:microsoft.com/office/officeart/2005/8/layout/hProcess4"/>
    <dgm:cxn modelId="{F6C59B55-4165-438B-A702-2CC1073373B2}" type="presParOf" srcId="{911EDCB8-BA77-448D-90CF-0820E55ACF85}" destId="{3FB193C9-0E9E-4463-9154-2356150E88D9}" srcOrd="1" destOrd="0" presId="urn:microsoft.com/office/officeart/2005/8/layout/hProcess4"/>
    <dgm:cxn modelId="{8AAC56B7-904E-4308-96D7-525332E1F5E9}" type="presParOf" srcId="{911EDCB8-BA77-448D-90CF-0820E55ACF85}" destId="{B90378A0-CEA8-43F1-8D23-A3162FCB3A2C}" srcOrd="2" destOrd="0" presId="urn:microsoft.com/office/officeart/2005/8/layout/hProcess4"/>
    <dgm:cxn modelId="{81FAB219-1599-424F-BD44-E39163F159C8}" type="presParOf" srcId="{911EDCB8-BA77-448D-90CF-0820E55ACF85}" destId="{7BB31D39-27DB-46AB-A589-D0CCCACF1D45}" srcOrd="3" destOrd="0" presId="urn:microsoft.com/office/officeart/2005/8/layout/hProcess4"/>
    <dgm:cxn modelId="{520EB70E-9220-4E32-A7D3-D06E55B95798}" type="presParOf" srcId="{911EDCB8-BA77-448D-90CF-0820E55ACF85}" destId="{AFAF1352-42DA-4C88-8A95-08F5B705540D}" srcOrd="4" destOrd="0" presId="urn:microsoft.com/office/officeart/2005/8/layout/hProcess4"/>
    <dgm:cxn modelId="{125972D9-4B1B-4BC3-A161-11568B2196E7}" type="presParOf" srcId="{893CE6ED-918E-44DA-AB0A-F132DD38E634}" destId="{59CAF53F-3ECD-43DD-972F-396CAD0B84CB}" srcOrd="1" destOrd="0" presId="urn:microsoft.com/office/officeart/2005/8/layout/hProcess4"/>
    <dgm:cxn modelId="{97D58A36-A464-4583-A0A5-D4AE4D2557CA}" type="presParOf" srcId="{893CE6ED-918E-44DA-AB0A-F132DD38E634}" destId="{072C877C-DBF6-447E-A76F-0E3DC4C72947}" srcOrd="2" destOrd="0" presId="urn:microsoft.com/office/officeart/2005/8/layout/hProcess4"/>
    <dgm:cxn modelId="{8A24EA7B-C299-4D74-AE80-1C4B889F5890}" type="presParOf" srcId="{072C877C-DBF6-447E-A76F-0E3DC4C72947}" destId="{F768CD88-D15C-4435-84F4-772B2889B868}" srcOrd="0" destOrd="0" presId="urn:microsoft.com/office/officeart/2005/8/layout/hProcess4"/>
    <dgm:cxn modelId="{1231E3D5-DCCC-46B8-AF97-054BD0DA330F}" type="presParOf" srcId="{072C877C-DBF6-447E-A76F-0E3DC4C72947}" destId="{4FACE709-AFAF-4B34-894F-9CF57B38D93B}" srcOrd="1" destOrd="0" presId="urn:microsoft.com/office/officeart/2005/8/layout/hProcess4"/>
    <dgm:cxn modelId="{2AEE4634-9219-46EE-B6E3-3708315ECD8D}" type="presParOf" srcId="{072C877C-DBF6-447E-A76F-0E3DC4C72947}" destId="{F8D9A965-1F24-41D2-B90E-C8447F3227D9}" srcOrd="2" destOrd="0" presId="urn:microsoft.com/office/officeart/2005/8/layout/hProcess4"/>
    <dgm:cxn modelId="{EB7570F0-BF0A-4A2B-89B2-ADA9D9546075}" type="presParOf" srcId="{072C877C-DBF6-447E-A76F-0E3DC4C72947}" destId="{23AA9380-A702-4DCC-8F87-2065CD157F3D}" srcOrd="3" destOrd="0" presId="urn:microsoft.com/office/officeart/2005/8/layout/hProcess4"/>
    <dgm:cxn modelId="{00643809-3C7B-4129-B126-22A9D1EB02B6}" type="presParOf" srcId="{072C877C-DBF6-447E-A76F-0E3DC4C72947}" destId="{9C4D8905-E6F6-4AA8-9F14-3DCB351C38E9}" srcOrd="4" destOrd="0" presId="urn:microsoft.com/office/officeart/2005/8/layout/hProcess4"/>
    <dgm:cxn modelId="{3BF00B90-4D84-4AA8-80CE-250EC1E29E56}" type="presParOf" srcId="{893CE6ED-918E-44DA-AB0A-F132DD38E634}" destId="{D83778CE-6B94-485D-81D3-2237D654C18C}" srcOrd="3" destOrd="0" presId="urn:microsoft.com/office/officeart/2005/8/layout/hProcess4"/>
    <dgm:cxn modelId="{98666D24-DD9E-4E1B-A1FA-1731313D6D17}" type="presParOf" srcId="{893CE6ED-918E-44DA-AB0A-F132DD38E634}" destId="{0705EF25-BCCA-4533-BA28-3107E77FE478}" srcOrd="4" destOrd="0" presId="urn:microsoft.com/office/officeart/2005/8/layout/hProcess4"/>
    <dgm:cxn modelId="{AE442A20-2C2C-4752-A313-B0B6DEFF941C}" type="presParOf" srcId="{0705EF25-BCCA-4533-BA28-3107E77FE478}" destId="{FDF7B9F2-4D84-4FDD-BD8D-3602CD8B5289}" srcOrd="0" destOrd="0" presId="urn:microsoft.com/office/officeart/2005/8/layout/hProcess4"/>
    <dgm:cxn modelId="{061F9AE0-A2E7-4824-AAC1-E8669A4983DD}" type="presParOf" srcId="{0705EF25-BCCA-4533-BA28-3107E77FE478}" destId="{9AE28D42-B290-40F8-9523-0C66878E209E}" srcOrd="1" destOrd="0" presId="urn:microsoft.com/office/officeart/2005/8/layout/hProcess4"/>
    <dgm:cxn modelId="{29C521C2-76C4-4460-A40C-6BFEC52ACBBC}" type="presParOf" srcId="{0705EF25-BCCA-4533-BA28-3107E77FE478}" destId="{00853170-46E5-4DED-9E73-492A1B067348}" srcOrd="2" destOrd="0" presId="urn:microsoft.com/office/officeart/2005/8/layout/hProcess4"/>
    <dgm:cxn modelId="{572F8AA5-4F70-4EE4-9EA9-775A95EC7A2C}" type="presParOf" srcId="{0705EF25-BCCA-4533-BA28-3107E77FE478}" destId="{E9B05127-2A1A-46D4-8E70-266278CCE4A7}" srcOrd="3" destOrd="0" presId="urn:microsoft.com/office/officeart/2005/8/layout/hProcess4"/>
    <dgm:cxn modelId="{AA2E7301-B03D-4214-BA90-47A93E80D0A5}" type="presParOf" srcId="{0705EF25-BCCA-4533-BA28-3107E77FE478}" destId="{CB123AE5-78C9-45A8-A363-8962F781DA58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3442D4-D8F7-4EE9-BC92-00CA296EB9D2}" type="doc">
      <dgm:prSet loTypeId="urn:microsoft.com/office/officeart/2005/8/layout/matrix1" loCatId="matrix" qsTypeId="urn:microsoft.com/office/officeart/2005/8/quickstyle/3d3" qsCatId="3D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5040AF72-A9D7-43E7-9BC4-8008C406443A}">
      <dgm:prSet custT="1"/>
      <dgm:spPr/>
      <dgm:t>
        <a:bodyPr/>
        <a:lstStyle/>
        <a:p>
          <a:pPr rtl="0"/>
          <a:r>
            <a:rPr lang="en-US" dirty="0"/>
            <a:t>Display complete data set</a:t>
          </a:r>
          <a:endParaRPr lang="en-US" sz="2400" dirty="0"/>
        </a:p>
      </dgm:t>
    </dgm:pt>
    <dgm:pt modelId="{DB66A82C-E54C-48A4-9368-50EAC1EFB430}" type="parTrans" cxnId="{742EC47B-DB87-42AC-A579-30E27CAEE322}">
      <dgm:prSet/>
      <dgm:spPr/>
      <dgm:t>
        <a:bodyPr/>
        <a:lstStyle/>
        <a:p>
          <a:endParaRPr lang="en-US"/>
        </a:p>
      </dgm:t>
    </dgm:pt>
    <dgm:pt modelId="{41E06F13-BB27-439A-A03B-B45D9781670A}" type="sibTrans" cxnId="{742EC47B-DB87-42AC-A579-30E27CAEE322}">
      <dgm:prSet/>
      <dgm:spPr/>
      <dgm:t>
        <a:bodyPr/>
        <a:lstStyle/>
        <a:p>
          <a:endParaRPr lang="en-US"/>
        </a:p>
      </dgm:t>
    </dgm:pt>
    <dgm:pt modelId="{D11948B7-8BF0-4CA9-A77D-AAB7A874F462}">
      <dgm:prSet/>
      <dgm:spPr/>
      <dgm:t>
        <a:bodyPr/>
        <a:lstStyle/>
        <a:p>
          <a:pPr rtl="0"/>
          <a:r>
            <a:rPr lang="en-US" dirty="0">
              <a:solidFill>
                <a:schemeClr val="bg1"/>
              </a:solidFill>
            </a:rPr>
            <a:t>Focus on specific item (highlighted) in context of complete data set</a:t>
          </a:r>
        </a:p>
      </dgm:t>
    </dgm:pt>
    <dgm:pt modelId="{19DEBDA6-2B36-4E65-85F8-0518A3D172BD}" type="parTrans" cxnId="{D5AF4DCF-E9D6-4251-94B1-D1403D39A687}">
      <dgm:prSet/>
      <dgm:spPr/>
      <dgm:t>
        <a:bodyPr/>
        <a:lstStyle/>
        <a:p>
          <a:endParaRPr lang="en-US"/>
        </a:p>
      </dgm:t>
    </dgm:pt>
    <dgm:pt modelId="{D8238DC3-E3FB-4C0D-AE30-2E9705C3B996}" type="sibTrans" cxnId="{D5AF4DCF-E9D6-4251-94B1-D1403D39A687}">
      <dgm:prSet/>
      <dgm:spPr/>
      <dgm:t>
        <a:bodyPr/>
        <a:lstStyle/>
        <a:p>
          <a:endParaRPr lang="en-US"/>
        </a:p>
      </dgm:t>
    </dgm:pt>
    <dgm:pt modelId="{D2C1E3A1-2EC5-45DF-84D1-07710892733B}">
      <dgm:prSet/>
      <dgm:spPr/>
      <dgm:t>
        <a:bodyPr/>
        <a:lstStyle/>
        <a:p>
          <a:pPr rtl="0"/>
          <a:r>
            <a:rPr lang="en-US" dirty="0"/>
            <a:t>Present wide range of data that is difficult to scale using a graph</a:t>
          </a:r>
        </a:p>
      </dgm:t>
    </dgm:pt>
    <dgm:pt modelId="{83A33BF6-ECF2-4AFE-9F63-4F6441A06153}" type="parTrans" cxnId="{0BAE62A2-BCBB-4572-AC5F-3343F114C1C6}">
      <dgm:prSet/>
      <dgm:spPr/>
      <dgm:t>
        <a:bodyPr/>
        <a:lstStyle/>
        <a:p>
          <a:endParaRPr lang="en-US"/>
        </a:p>
      </dgm:t>
    </dgm:pt>
    <dgm:pt modelId="{255E211F-BB88-41A8-A1BF-C9700D716F39}" type="sibTrans" cxnId="{0BAE62A2-BCBB-4572-AC5F-3343F114C1C6}">
      <dgm:prSet/>
      <dgm:spPr/>
      <dgm:t>
        <a:bodyPr/>
        <a:lstStyle/>
        <a:p>
          <a:endParaRPr lang="en-US"/>
        </a:p>
      </dgm:t>
    </dgm:pt>
    <dgm:pt modelId="{34F567AF-C086-41E3-B55B-22473A3695AD}">
      <dgm:prSet/>
      <dgm:spPr/>
      <dgm:t>
        <a:bodyPr/>
        <a:lstStyle/>
        <a:p>
          <a:pPr rtl="0"/>
          <a:r>
            <a:rPr lang="en-US" dirty="0"/>
            <a:t>Explain how numbers are derived – how results were calculated</a:t>
          </a:r>
        </a:p>
      </dgm:t>
    </dgm:pt>
    <dgm:pt modelId="{024450FF-699B-42BE-A9E2-4BE0404CF5B9}" type="parTrans" cxnId="{BDE5D385-2FE0-4638-833A-1E7D53DA2F16}">
      <dgm:prSet/>
      <dgm:spPr/>
      <dgm:t>
        <a:bodyPr/>
        <a:lstStyle/>
        <a:p>
          <a:endParaRPr lang="en-US"/>
        </a:p>
      </dgm:t>
    </dgm:pt>
    <dgm:pt modelId="{1EC38267-158C-4FCE-BB52-A0D78324C719}" type="sibTrans" cxnId="{BDE5D385-2FE0-4638-833A-1E7D53DA2F16}">
      <dgm:prSet/>
      <dgm:spPr/>
      <dgm:t>
        <a:bodyPr/>
        <a:lstStyle/>
        <a:p>
          <a:endParaRPr lang="en-US"/>
        </a:p>
      </dgm:t>
    </dgm:pt>
    <dgm:pt modelId="{4B2346FD-782D-467E-85B8-BD7EBE00C20F}">
      <dgm:prSet custT="1"/>
      <dgm:spPr/>
      <dgm:t>
        <a:bodyPr/>
        <a:lstStyle/>
        <a:p>
          <a:pPr rtl="0"/>
          <a:r>
            <a:rPr lang="en-US" sz="2400" dirty="0"/>
            <a:t>Choose a Table</a:t>
          </a:r>
        </a:p>
      </dgm:t>
    </dgm:pt>
    <dgm:pt modelId="{30665E63-4E72-454A-95B5-D3D354A5C2E0}" type="parTrans" cxnId="{53038EF1-9C20-4312-864C-7FB4DC308ED6}">
      <dgm:prSet/>
      <dgm:spPr/>
      <dgm:t>
        <a:bodyPr/>
        <a:lstStyle/>
        <a:p>
          <a:endParaRPr lang="en-US"/>
        </a:p>
      </dgm:t>
    </dgm:pt>
    <dgm:pt modelId="{844C7C50-65B8-4861-B519-226E136CC2C8}" type="sibTrans" cxnId="{53038EF1-9C20-4312-864C-7FB4DC308ED6}">
      <dgm:prSet/>
      <dgm:spPr/>
      <dgm:t>
        <a:bodyPr/>
        <a:lstStyle/>
        <a:p>
          <a:endParaRPr lang="en-US"/>
        </a:p>
      </dgm:t>
    </dgm:pt>
    <dgm:pt modelId="{13F54524-7AB8-4346-B8DA-4AF4459568C0}" type="pres">
      <dgm:prSet presAssocID="{6E3442D4-D8F7-4EE9-BC92-00CA296EB9D2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6634D1A-ADDA-47CD-A2CF-5D99C9C66956}" type="pres">
      <dgm:prSet presAssocID="{6E3442D4-D8F7-4EE9-BC92-00CA296EB9D2}" presName="matrix" presStyleCnt="0"/>
      <dgm:spPr/>
    </dgm:pt>
    <dgm:pt modelId="{8A972942-13F3-4FEC-99CA-55E51899726F}" type="pres">
      <dgm:prSet presAssocID="{6E3442D4-D8F7-4EE9-BC92-00CA296EB9D2}" presName="tile1" presStyleLbl="node1" presStyleIdx="0" presStyleCnt="4"/>
      <dgm:spPr/>
    </dgm:pt>
    <dgm:pt modelId="{C3D8B376-2D2B-4A13-BC43-98DB62DB87E4}" type="pres">
      <dgm:prSet presAssocID="{6E3442D4-D8F7-4EE9-BC92-00CA296EB9D2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60B8690-FEF1-4620-80F3-6C16171CE295}" type="pres">
      <dgm:prSet presAssocID="{6E3442D4-D8F7-4EE9-BC92-00CA296EB9D2}" presName="tile2" presStyleLbl="node1" presStyleIdx="1" presStyleCnt="4"/>
      <dgm:spPr/>
    </dgm:pt>
    <dgm:pt modelId="{9AB6B7E9-9D61-467D-B9E6-BB7E65A1A24E}" type="pres">
      <dgm:prSet presAssocID="{6E3442D4-D8F7-4EE9-BC92-00CA296EB9D2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55496E0-5FDE-4ADA-9DB7-5D9E7D8C80E0}" type="pres">
      <dgm:prSet presAssocID="{6E3442D4-D8F7-4EE9-BC92-00CA296EB9D2}" presName="tile3" presStyleLbl="node1" presStyleIdx="2" presStyleCnt="4"/>
      <dgm:spPr/>
    </dgm:pt>
    <dgm:pt modelId="{E93A36D8-4AB0-4E83-BDFA-CEE72662BDD8}" type="pres">
      <dgm:prSet presAssocID="{6E3442D4-D8F7-4EE9-BC92-00CA296EB9D2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B5DE89C-3B26-4A35-8D4F-91725F432702}" type="pres">
      <dgm:prSet presAssocID="{6E3442D4-D8F7-4EE9-BC92-00CA296EB9D2}" presName="tile4" presStyleLbl="node1" presStyleIdx="3" presStyleCnt="4"/>
      <dgm:spPr/>
    </dgm:pt>
    <dgm:pt modelId="{A741171A-BC50-4FDC-B38D-F9F2CD6138F5}" type="pres">
      <dgm:prSet presAssocID="{6E3442D4-D8F7-4EE9-BC92-00CA296EB9D2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12FBAC27-C0A7-4ED5-92A8-F8B625419B64}" type="pres">
      <dgm:prSet presAssocID="{6E3442D4-D8F7-4EE9-BC92-00CA296EB9D2}" presName="centerTile" presStyleLbl="fgShp" presStyleIdx="0" presStyleCnt="1" custScaleX="119621">
        <dgm:presLayoutVars>
          <dgm:chMax val="0"/>
          <dgm:chPref val="0"/>
        </dgm:presLayoutVars>
      </dgm:prSet>
      <dgm:spPr/>
    </dgm:pt>
  </dgm:ptLst>
  <dgm:cxnLst>
    <dgm:cxn modelId="{20082101-368B-4EBB-AEF0-3FF494B635B1}" type="presOf" srcId="{D2C1E3A1-2EC5-45DF-84D1-07710892733B}" destId="{E93A36D8-4AB0-4E83-BDFA-CEE72662BDD8}" srcOrd="1" destOrd="0" presId="urn:microsoft.com/office/officeart/2005/8/layout/matrix1"/>
    <dgm:cxn modelId="{C828C50C-5110-4044-9246-8DE58BD49D64}" type="presOf" srcId="{5040AF72-A9D7-43E7-9BC4-8008C406443A}" destId="{C3D8B376-2D2B-4A13-BC43-98DB62DB87E4}" srcOrd="1" destOrd="0" presId="urn:microsoft.com/office/officeart/2005/8/layout/matrix1"/>
    <dgm:cxn modelId="{2827E330-4575-4D05-AFA1-1C04E82C3CEA}" type="presOf" srcId="{D11948B7-8BF0-4CA9-A77D-AAB7A874F462}" destId="{660B8690-FEF1-4620-80F3-6C16171CE295}" srcOrd="0" destOrd="0" presId="urn:microsoft.com/office/officeart/2005/8/layout/matrix1"/>
    <dgm:cxn modelId="{742EC47B-DB87-42AC-A579-30E27CAEE322}" srcId="{4B2346FD-782D-467E-85B8-BD7EBE00C20F}" destId="{5040AF72-A9D7-43E7-9BC4-8008C406443A}" srcOrd="0" destOrd="0" parTransId="{DB66A82C-E54C-48A4-9368-50EAC1EFB430}" sibTransId="{41E06F13-BB27-439A-A03B-B45D9781670A}"/>
    <dgm:cxn modelId="{BDE5D385-2FE0-4638-833A-1E7D53DA2F16}" srcId="{4B2346FD-782D-467E-85B8-BD7EBE00C20F}" destId="{34F567AF-C086-41E3-B55B-22473A3695AD}" srcOrd="3" destOrd="0" parTransId="{024450FF-699B-42BE-A9E2-4BE0404CF5B9}" sibTransId="{1EC38267-158C-4FCE-BB52-A0D78324C719}"/>
    <dgm:cxn modelId="{8000839C-88C9-48F2-923A-5C1D2D3115C9}" type="presOf" srcId="{D11948B7-8BF0-4CA9-A77D-AAB7A874F462}" destId="{9AB6B7E9-9D61-467D-B9E6-BB7E65A1A24E}" srcOrd="1" destOrd="0" presId="urn:microsoft.com/office/officeart/2005/8/layout/matrix1"/>
    <dgm:cxn modelId="{0BAE62A2-BCBB-4572-AC5F-3343F114C1C6}" srcId="{4B2346FD-782D-467E-85B8-BD7EBE00C20F}" destId="{D2C1E3A1-2EC5-45DF-84D1-07710892733B}" srcOrd="2" destOrd="0" parTransId="{83A33BF6-ECF2-4AFE-9F63-4F6441A06153}" sibTransId="{255E211F-BB88-41A8-A1BF-C9700D716F39}"/>
    <dgm:cxn modelId="{5F5965B1-F9E3-4BF6-9A4A-38D239DF7F45}" type="presOf" srcId="{4B2346FD-782D-467E-85B8-BD7EBE00C20F}" destId="{12FBAC27-C0A7-4ED5-92A8-F8B625419B64}" srcOrd="0" destOrd="0" presId="urn:microsoft.com/office/officeart/2005/8/layout/matrix1"/>
    <dgm:cxn modelId="{FAE169CE-FEED-4629-A7B6-C31E378537BE}" type="presOf" srcId="{6E3442D4-D8F7-4EE9-BC92-00CA296EB9D2}" destId="{13F54524-7AB8-4346-B8DA-4AF4459568C0}" srcOrd="0" destOrd="0" presId="urn:microsoft.com/office/officeart/2005/8/layout/matrix1"/>
    <dgm:cxn modelId="{D5AF4DCF-E9D6-4251-94B1-D1403D39A687}" srcId="{4B2346FD-782D-467E-85B8-BD7EBE00C20F}" destId="{D11948B7-8BF0-4CA9-A77D-AAB7A874F462}" srcOrd="1" destOrd="0" parTransId="{19DEBDA6-2B36-4E65-85F8-0518A3D172BD}" sibTransId="{D8238DC3-E3FB-4C0D-AE30-2E9705C3B996}"/>
    <dgm:cxn modelId="{D08AE7D6-27B3-4AF0-AE59-F8C184EB0D93}" type="presOf" srcId="{34F567AF-C086-41E3-B55B-22473A3695AD}" destId="{EB5DE89C-3B26-4A35-8D4F-91725F432702}" srcOrd="0" destOrd="0" presId="urn:microsoft.com/office/officeart/2005/8/layout/matrix1"/>
    <dgm:cxn modelId="{190811E2-C397-4C3B-9300-FA08297ED0D2}" type="presOf" srcId="{34F567AF-C086-41E3-B55B-22473A3695AD}" destId="{A741171A-BC50-4FDC-B38D-F9F2CD6138F5}" srcOrd="1" destOrd="0" presId="urn:microsoft.com/office/officeart/2005/8/layout/matrix1"/>
    <dgm:cxn modelId="{105F27E3-B554-46AE-AB37-7CD6AF27A9AC}" type="presOf" srcId="{5040AF72-A9D7-43E7-9BC4-8008C406443A}" destId="{8A972942-13F3-4FEC-99CA-55E51899726F}" srcOrd="0" destOrd="0" presId="urn:microsoft.com/office/officeart/2005/8/layout/matrix1"/>
    <dgm:cxn modelId="{53038EF1-9C20-4312-864C-7FB4DC308ED6}" srcId="{6E3442D4-D8F7-4EE9-BC92-00CA296EB9D2}" destId="{4B2346FD-782D-467E-85B8-BD7EBE00C20F}" srcOrd="0" destOrd="0" parTransId="{30665E63-4E72-454A-95B5-D3D354A5C2E0}" sibTransId="{844C7C50-65B8-4861-B519-226E136CC2C8}"/>
    <dgm:cxn modelId="{916902F2-4F2D-4A7C-B7D4-A9A341002F04}" type="presOf" srcId="{D2C1E3A1-2EC5-45DF-84D1-07710892733B}" destId="{255496E0-5FDE-4ADA-9DB7-5D9E7D8C80E0}" srcOrd="0" destOrd="0" presId="urn:microsoft.com/office/officeart/2005/8/layout/matrix1"/>
    <dgm:cxn modelId="{20F2C25A-C89C-44AC-B06B-ADC712EFCC26}" type="presParOf" srcId="{13F54524-7AB8-4346-B8DA-4AF4459568C0}" destId="{E6634D1A-ADDA-47CD-A2CF-5D99C9C66956}" srcOrd="0" destOrd="0" presId="urn:microsoft.com/office/officeart/2005/8/layout/matrix1"/>
    <dgm:cxn modelId="{058729E4-FD9B-49D6-88D5-E9E9634E5AF2}" type="presParOf" srcId="{E6634D1A-ADDA-47CD-A2CF-5D99C9C66956}" destId="{8A972942-13F3-4FEC-99CA-55E51899726F}" srcOrd="0" destOrd="0" presId="urn:microsoft.com/office/officeart/2005/8/layout/matrix1"/>
    <dgm:cxn modelId="{340402D9-1F93-4124-B43F-ACD532EAC231}" type="presParOf" srcId="{E6634D1A-ADDA-47CD-A2CF-5D99C9C66956}" destId="{C3D8B376-2D2B-4A13-BC43-98DB62DB87E4}" srcOrd="1" destOrd="0" presId="urn:microsoft.com/office/officeart/2005/8/layout/matrix1"/>
    <dgm:cxn modelId="{62DA0188-A55C-4E7D-AB1D-0F5E50875F1D}" type="presParOf" srcId="{E6634D1A-ADDA-47CD-A2CF-5D99C9C66956}" destId="{660B8690-FEF1-4620-80F3-6C16171CE295}" srcOrd="2" destOrd="0" presId="urn:microsoft.com/office/officeart/2005/8/layout/matrix1"/>
    <dgm:cxn modelId="{A04FE39F-C39D-4D59-A236-8E573F2C1745}" type="presParOf" srcId="{E6634D1A-ADDA-47CD-A2CF-5D99C9C66956}" destId="{9AB6B7E9-9D61-467D-B9E6-BB7E65A1A24E}" srcOrd="3" destOrd="0" presId="urn:microsoft.com/office/officeart/2005/8/layout/matrix1"/>
    <dgm:cxn modelId="{74AC6B29-35BE-4DAE-AEA1-DEF5DF363811}" type="presParOf" srcId="{E6634D1A-ADDA-47CD-A2CF-5D99C9C66956}" destId="{255496E0-5FDE-4ADA-9DB7-5D9E7D8C80E0}" srcOrd="4" destOrd="0" presId="urn:microsoft.com/office/officeart/2005/8/layout/matrix1"/>
    <dgm:cxn modelId="{831701BD-BC00-4A0E-BF4E-821720B5CDD3}" type="presParOf" srcId="{E6634D1A-ADDA-47CD-A2CF-5D99C9C66956}" destId="{E93A36D8-4AB0-4E83-BDFA-CEE72662BDD8}" srcOrd="5" destOrd="0" presId="urn:microsoft.com/office/officeart/2005/8/layout/matrix1"/>
    <dgm:cxn modelId="{B0ED8196-5B40-45AF-A4D1-B4CB951A3253}" type="presParOf" srcId="{E6634D1A-ADDA-47CD-A2CF-5D99C9C66956}" destId="{EB5DE89C-3B26-4A35-8D4F-91725F432702}" srcOrd="6" destOrd="0" presId="urn:microsoft.com/office/officeart/2005/8/layout/matrix1"/>
    <dgm:cxn modelId="{371D429F-9F89-4547-BE3B-DD366564D977}" type="presParOf" srcId="{E6634D1A-ADDA-47CD-A2CF-5D99C9C66956}" destId="{A741171A-BC50-4FDC-B38D-F9F2CD6138F5}" srcOrd="7" destOrd="0" presId="urn:microsoft.com/office/officeart/2005/8/layout/matrix1"/>
    <dgm:cxn modelId="{9BB6AC67-70D7-4188-A5BA-8A1529B2A21A}" type="presParOf" srcId="{13F54524-7AB8-4346-B8DA-4AF4459568C0}" destId="{12FBAC27-C0A7-4ED5-92A8-F8B625419B64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A8C713-5DE1-48E3-BC05-3803A87CC365}" type="doc">
      <dgm:prSet loTypeId="urn:microsoft.com/office/officeart/2005/8/layout/matrix1" loCatId="matrix" qsTypeId="urn:microsoft.com/office/officeart/2005/8/quickstyle/3d3" qsCatId="3D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C108BA19-7796-4D11-8C7C-D92AE13391C3}">
      <dgm:prSet custT="1"/>
      <dgm:spPr/>
      <dgm:t>
        <a:bodyPr/>
        <a:lstStyle/>
        <a:p>
          <a:pPr rtl="0"/>
          <a:r>
            <a:rPr lang="en-US" sz="2400" dirty="0"/>
            <a:t>Choose a Chart</a:t>
          </a:r>
        </a:p>
      </dgm:t>
    </dgm:pt>
    <dgm:pt modelId="{9D6F2E62-F37D-42E7-8281-F7525637EF10}" type="parTrans" cxnId="{6C172A08-E103-4B5B-97C2-1004B74D8A59}">
      <dgm:prSet/>
      <dgm:spPr/>
      <dgm:t>
        <a:bodyPr/>
        <a:lstStyle/>
        <a:p>
          <a:endParaRPr lang="en-US"/>
        </a:p>
      </dgm:t>
    </dgm:pt>
    <dgm:pt modelId="{563251D9-1AA0-415C-86D4-57E46693FE01}" type="sibTrans" cxnId="{6C172A08-E103-4B5B-97C2-1004B74D8A59}">
      <dgm:prSet/>
      <dgm:spPr/>
      <dgm:t>
        <a:bodyPr/>
        <a:lstStyle/>
        <a:p>
          <a:endParaRPr lang="en-US"/>
        </a:p>
      </dgm:t>
    </dgm:pt>
    <dgm:pt modelId="{BABF835A-1236-416D-A1C8-4491C3274F03}">
      <dgm:prSet/>
      <dgm:spPr/>
      <dgm:t>
        <a:bodyPr/>
        <a:lstStyle/>
        <a:p>
          <a:pPr rtl="0"/>
          <a:r>
            <a:rPr lang="en-US" dirty="0"/>
            <a:t>Compare a slice of information</a:t>
          </a:r>
        </a:p>
      </dgm:t>
    </dgm:pt>
    <dgm:pt modelId="{05E17184-E172-4013-A546-08A3C79859FD}" type="parTrans" cxnId="{D3458CFC-DA27-4A48-871A-08BFC3298471}">
      <dgm:prSet/>
      <dgm:spPr/>
      <dgm:t>
        <a:bodyPr/>
        <a:lstStyle/>
        <a:p>
          <a:endParaRPr lang="en-US"/>
        </a:p>
      </dgm:t>
    </dgm:pt>
    <dgm:pt modelId="{604A75CB-E094-4A56-BA49-2904021223D0}" type="sibTrans" cxnId="{D3458CFC-DA27-4A48-871A-08BFC3298471}">
      <dgm:prSet/>
      <dgm:spPr/>
      <dgm:t>
        <a:bodyPr/>
        <a:lstStyle/>
        <a:p>
          <a:endParaRPr lang="en-US"/>
        </a:p>
      </dgm:t>
    </dgm:pt>
    <dgm:pt modelId="{CDC11A25-4A23-4C72-9AE3-05A18AE05E52}">
      <dgm:prSet/>
      <dgm:spPr/>
      <dgm:t>
        <a:bodyPr/>
        <a:lstStyle/>
        <a:p>
          <a:pPr rtl="0"/>
          <a:r>
            <a:rPr lang="en-US" dirty="0">
              <a:solidFill>
                <a:schemeClr val="bg1"/>
              </a:solidFill>
            </a:rPr>
            <a:t>Show “cause of change” (vertical axis) vs. “effect” (horizontal axis)</a:t>
          </a:r>
        </a:p>
      </dgm:t>
    </dgm:pt>
    <dgm:pt modelId="{C7BC574C-992C-4004-A727-9B9666724A28}" type="parTrans" cxnId="{B12621E3-BCB9-4815-8482-AC946C3B089C}">
      <dgm:prSet/>
      <dgm:spPr/>
      <dgm:t>
        <a:bodyPr/>
        <a:lstStyle/>
        <a:p>
          <a:endParaRPr lang="en-US"/>
        </a:p>
      </dgm:t>
    </dgm:pt>
    <dgm:pt modelId="{52B3E418-DF92-4B97-B2E0-A82BB937B892}" type="sibTrans" cxnId="{B12621E3-BCB9-4815-8482-AC946C3B089C}">
      <dgm:prSet/>
      <dgm:spPr/>
      <dgm:t>
        <a:bodyPr/>
        <a:lstStyle/>
        <a:p>
          <a:endParaRPr lang="en-US"/>
        </a:p>
      </dgm:t>
    </dgm:pt>
    <dgm:pt modelId="{F70DF885-D6E0-4617-8DF1-A66F019A2450}">
      <dgm:prSet/>
      <dgm:spPr/>
      <dgm:t>
        <a:bodyPr/>
        <a:lstStyle/>
        <a:p>
          <a:pPr rtl="0"/>
          <a:r>
            <a:rPr lang="en-US" dirty="0"/>
            <a:t>Show change over time</a:t>
          </a:r>
        </a:p>
      </dgm:t>
    </dgm:pt>
    <dgm:pt modelId="{CB29DE18-C389-48ED-BF44-EEDDB63E57DB}" type="parTrans" cxnId="{0E8CE72F-5F98-47A7-9E46-48D518FFB7C9}">
      <dgm:prSet/>
      <dgm:spPr/>
      <dgm:t>
        <a:bodyPr/>
        <a:lstStyle/>
        <a:p>
          <a:endParaRPr lang="en-US"/>
        </a:p>
      </dgm:t>
    </dgm:pt>
    <dgm:pt modelId="{F5190DF1-9248-4E93-88B3-3CE3229CD20C}" type="sibTrans" cxnId="{0E8CE72F-5F98-47A7-9E46-48D518FFB7C9}">
      <dgm:prSet/>
      <dgm:spPr/>
      <dgm:t>
        <a:bodyPr/>
        <a:lstStyle/>
        <a:p>
          <a:endParaRPr lang="en-US"/>
        </a:p>
      </dgm:t>
    </dgm:pt>
    <dgm:pt modelId="{C691BE6F-BBDA-4141-B1FB-B953768DB56F}">
      <dgm:prSet/>
      <dgm:spPr/>
      <dgm:t>
        <a:bodyPr/>
        <a:lstStyle/>
        <a:p>
          <a:pPr rtl="0"/>
          <a:r>
            <a:rPr lang="en-US" dirty="0"/>
            <a:t>Show patterns of data distribution (normal curve)</a:t>
          </a:r>
        </a:p>
      </dgm:t>
    </dgm:pt>
    <dgm:pt modelId="{C92BD4EF-7BEA-421A-9540-AC0BCC2899F3}" type="parTrans" cxnId="{A4D92EBA-EB8B-42CB-8F97-09A1E7C71156}">
      <dgm:prSet/>
      <dgm:spPr/>
      <dgm:t>
        <a:bodyPr/>
        <a:lstStyle/>
        <a:p>
          <a:endParaRPr lang="en-US"/>
        </a:p>
      </dgm:t>
    </dgm:pt>
    <dgm:pt modelId="{90DC8413-B8A3-4091-96E0-550DC2592424}" type="sibTrans" cxnId="{A4D92EBA-EB8B-42CB-8F97-09A1E7C71156}">
      <dgm:prSet/>
      <dgm:spPr/>
      <dgm:t>
        <a:bodyPr/>
        <a:lstStyle/>
        <a:p>
          <a:endParaRPr lang="en-US"/>
        </a:p>
      </dgm:t>
    </dgm:pt>
    <dgm:pt modelId="{0BF3E8A1-B62A-4CD3-92BD-B51D50654AA7}" type="pres">
      <dgm:prSet presAssocID="{74A8C713-5DE1-48E3-BC05-3803A87CC365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C361E43-32F5-4DFA-A17E-664DAC048126}" type="pres">
      <dgm:prSet presAssocID="{74A8C713-5DE1-48E3-BC05-3803A87CC365}" presName="matrix" presStyleCnt="0"/>
      <dgm:spPr/>
    </dgm:pt>
    <dgm:pt modelId="{89ABD0B9-C750-4F0A-8948-E82209C29204}" type="pres">
      <dgm:prSet presAssocID="{74A8C713-5DE1-48E3-BC05-3803A87CC365}" presName="tile1" presStyleLbl="node1" presStyleIdx="0" presStyleCnt="4"/>
      <dgm:spPr/>
    </dgm:pt>
    <dgm:pt modelId="{B2308046-A480-4468-883F-C4F85D9D75CD}" type="pres">
      <dgm:prSet presAssocID="{74A8C713-5DE1-48E3-BC05-3803A87CC36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AB23DB2-D64E-47CE-99E0-C1B083E8A2EE}" type="pres">
      <dgm:prSet presAssocID="{74A8C713-5DE1-48E3-BC05-3803A87CC365}" presName="tile2" presStyleLbl="node1" presStyleIdx="1" presStyleCnt="4"/>
      <dgm:spPr/>
    </dgm:pt>
    <dgm:pt modelId="{556530FE-8955-4EF7-BE18-FC2A4EF6F311}" type="pres">
      <dgm:prSet presAssocID="{74A8C713-5DE1-48E3-BC05-3803A87CC36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DDD7C8E-9C23-4586-BE17-BCC72875D4AB}" type="pres">
      <dgm:prSet presAssocID="{74A8C713-5DE1-48E3-BC05-3803A87CC365}" presName="tile3" presStyleLbl="node1" presStyleIdx="2" presStyleCnt="4"/>
      <dgm:spPr/>
    </dgm:pt>
    <dgm:pt modelId="{677F5A66-A49B-4170-8152-1BABCA5C83A6}" type="pres">
      <dgm:prSet presAssocID="{74A8C713-5DE1-48E3-BC05-3803A87CC36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408086F-5C94-4439-8160-FDA8671A15E8}" type="pres">
      <dgm:prSet presAssocID="{74A8C713-5DE1-48E3-BC05-3803A87CC365}" presName="tile4" presStyleLbl="node1" presStyleIdx="3" presStyleCnt="4"/>
      <dgm:spPr/>
    </dgm:pt>
    <dgm:pt modelId="{18E2FD6E-A6C3-4A27-95DC-7B8C3BE67EF8}" type="pres">
      <dgm:prSet presAssocID="{74A8C713-5DE1-48E3-BC05-3803A87CC36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3898F747-FCEE-479D-B3BF-3D3CFD058F4B}" type="pres">
      <dgm:prSet presAssocID="{74A8C713-5DE1-48E3-BC05-3803A87CC365}" presName="centerTile" presStyleLbl="fgShp" presStyleIdx="0" presStyleCnt="1" custScaleX="131688">
        <dgm:presLayoutVars>
          <dgm:chMax val="0"/>
          <dgm:chPref val="0"/>
        </dgm:presLayoutVars>
      </dgm:prSet>
      <dgm:spPr/>
    </dgm:pt>
  </dgm:ptLst>
  <dgm:cxnLst>
    <dgm:cxn modelId="{6C172A08-E103-4B5B-97C2-1004B74D8A59}" srcId="{74A8C713-5DE1-48E3-BC05-3803A87CC365}" destId="{C108BA19-7796-4D11-8C7C-D92AE13391C3}" srcOrd="0" destOrd="0" parTransId="{9D6F2E62-F37D-42E7-8281-F7525637EF10}" sibTransId="{563251D9-1AA0-415C-86D4-57E46693FE01}"/>
    <dgm:cxn modelId="{2B16D513-0CC9-403C-9C0B-34D9D88AF9E6}" type="presOf" srcId="{CDC11A25-4A23-4C72-9AE3-05A18AE05E52}" destId="{556530FE-8955-4EF7-BE18-FC2A4EF6F311}" srcOrd="1" destOrd="0" presId="urn:microsoft.com/office/officeart/2005/8/layout/matrix1"/>
    <dgm:cxn modelId="{4B801519-0DE6-4CF8-AE7F-950A9A37F39C}" type="presOf" srcId="{BABF835A-1236-416D-A1C8-4491C3274F03}" destId="{B2308046-A480-4468-883F-C4F85D9D75CD}" srcOrd="1" destOrd="0" presId="urn:microsoft.com/office/officeart/2005/8/layout/matrix1"/>
    <dgm:cxn modelId="{C7ACF71F-F972-477E-8362-2370B08BC900}" type="presOf" srcId="{BABF835A-1236-416D-A1C8-4491C3274F03}" destId="{89ABD0B9-C750-4F0A-8948-E82209C29204}" srcOrd="0" destOrd="0" presId="urn:microsoft.com/office/officeart/2005/8/layout/matrix1"/>
    <dgm:cxn modelId="{4E32FD2C-4D8F-4959-9F3C-8870E3138B74}" type="presOf" srcId="{CDC11A25-4A23-4C72-9AE3-05A18AE05E52}" destId="{BAB23DB2-D64E-47CE-99E0-C1B083E8A2EE}" srcOrd="0" destOrd="0" presId="urn:microsoft.com/office/officeart/2005/8/layout/matrix1"/>
    <dgm:cxn modelId="{0E8CE72F-5F98-47A7-9E46-48D518FFB7C9}" srcId="{C108BA19-7796-4D11-8C7C-D92AE13391C3}" destId="{F70DF885-D6E0-4617-8DF1-A66F019A2450}" srcOrd="2" destOrd="0" parTransId="{CB29DE18-C389-48ED-BF44-EEDDB63E57DB}" sibTransId="{F5190DF1-9248-4E93-88B3-3CE3229CD20C}"/>
    <dgm:cxn modelId="{BA8E1D6E-2252-4294-A7AC-7D45D06B0B30}" type="presOf" srcId="{C108BA19-7796-4D11-8C7C-D92AE13391C3}" destId="{3898F747-FCEE-479D-B3BF-3D3CFD058F4B}" srcOrd="0" destOrd="0" presId="urn:microsoft.com/office/officeart/2005/8/layout/matrix1"/>
    <dgm:cxn modelId="{C750AA6E-DEC5-4D3C-B7A4-AB3D0FE9DE18}" type="presOf" srcId="{F70DF885-D6E0-4617-8DF1-A66F019A2450}" destId="{677F5A66-A49B-4170-8152-1BABCA5C83A6}" srcOrd="1" destOrd="0" presId="urn:microsoft.com/office/officeart/2005/8/layout/matrix1"/>
    <dgm:cxn modelId="{16F2798B-54E3-40DC-B535-EDDF1B2823CD}" type="presOf" srcId="{C691BE6F-BBDA-4141-B1FB-B953768DB56F}" destId="{A408086F-5C94-4439-8160-FDA8671A15E8}" srcOrd="0" destOrd="0" presId="urn:microsoft.com/office/officeart/2005/8/layout/matrix1"/>
    <dgm:cxn modelId="{CD5B909B-DEE1-41E6-A7DA-71351E2225A6}" type="presOf" srcId="{74A8C713-5DE1-48E3-BC05-3803A87CC365}" destId="{0BF3E8A1-B62A-4CD3-92BD-B51D50654AA7}" srcOrd="0" destOrd="0" presId="urn:microsoft.com/office/officeart/2005/8/layout/matrix1"/>
    <dgm:cxn modelId="{799DAAA8-7919-44C0-A265-C17A32D8526E}" type="presOf" srcId="{C691BE6F-BBDA-4141-B1FB-B953768DB56F}" destId="{18E2FD6E-A6C3-4A27-95DC-7B8C3BE67EF8}" srcOrd="1" destOrd="0" presId="urn:microsoft.com/office/officeart/2005/8/layout/matrix1"/>
    <dgm:cxn modelId="{74787BB4-5366-4BBB-AAFA-1B0C45808257}" type="presOf" srcId="{F70DF885-D6E0-4617-8DF1-A66F019A2450}" destId="{3DDD7C8E-9C23-4586-BE17-BCC72875D4AB}" srcOrd="0" destOrd="0" presId="urn:microsoft.com/office/officeart/2005/8/layout/matrix1"/>
    <dgm:cxn modelId="{A4D92EBA-EB8B-42CB-8F97-09A1E7C71156}" srcId="{C108BA19-7796-4D11-8C7C-D92AE13391C3}" destId="{C691BE6F-BBDA-4141-B1FB-B953768DB56F}" srcOrd="3" destOrd="0" parTransId="{C92BD4EF-7BEA-421A-9540-AC0BCC2899F3}" sibTransId="{90DC8413-B8A3-4091-96E0-550DC2592424}"/>
    <dgm:cxn modelId="{B12621E3-BCB9-4815-8482-AC946C3B089C}" srcId="{C108BA19-7796-4D11-8C7C-D92AE13391C3}" destId="{CDC11A25-4A23-4C72-9AE3-05A18AE05E52}" srcOrd="1" destOrd="0" parTransId="{C7BC574C-992C-4004-A727-9B9666724A28}" sibTransId="{52B3E418-DF92-4B97-B2E0-A82BB937B892}"/>
    <dgm:cxn modelId="{D3458CFC-DA27-4A48-871A-08BFC3298471}" srcId="{C108BA19-7796-4D11-8C7C-D92AE13391C3}" destId="{BABF835A-1236-416D-A1C8-4491C3274F03}" srcOrd="0" destOrd="0" parTransId="{05E17184-E172-4013-A546-08A3C79859FD}" sibTransId="{604A75CB-E094-4A56-BA49-2904021223D0}"/>
    <dgm:cxn modelId="{54B0FA73-0EF0-41CC-92DE-880C676AA780}" type="presParOf" srcId="{0BF3E8A1-B62A-4CD3-92BD-B51D50654AA7}" destId="{EC361E43-32F5-4DFA-A17E-664DAC048126}" srcOrd="0" destOrd="0" presId="urn:microsoft.com/office/officeart/2005/8/layout/matrix1"/>
    <dgm:cxn modelId="{6E303142-244B-4013-8303-5CC0CA5E1307}" type="presParOf" srcId="{EC361E43-32F5-4DFA-A17E-664DAC048126}" destId="{89ABD0B9-C750-4F0A-8948-E82209C29204}" srcOrd="0" destOrd="0" presId="urn:microsoft.com/office/officeart/2005/8/layout/matrix1"/>
    <dgm:cxn modelId="{780062CE-C4FC-4187-AC41-45C27D4D0ED9}" type="presParOf" srcId="{EC361E43-32F5-4DFA-A17E-664DAC048126}" destId="{B2308046-A480-4468-883F-C4F85D9D75CD}" srcOrd="1" destOrd="0" presId="urn:microsoft.com/office/officeart/2005/8/layout/matrix1"/>
    <dgm:cxn modelId="{3F93D473-0E40-4D57-97A5-45C4810F610D}" type="presParOf" srcId="{EC361E43-32F5-4DFA-A17E-664DAC048126}" destId="{BAB23DB2-D64E-47CE-99E0-C1B083E8A2EE}" srcOrd="2" destOrd="0" presId="urn:microsoft.com/office/officeart/2005/8/layout/matrix1"/>
    <dgm:cxn modelId="{09EDC9F0-B125-4F2B-A927-9A14F0844C13}" type="presParOf" srcId="{EC361E43-32F5-4DFA-A17E-664DAC048126}" destId="{556530FE-8955-4EF7-BE18-FC2A4EF6F311}" srcOrd="3" destOrd="0" presId="urn:microsoft.com/office/officeart/2005/8/layout/matrix1"/>
    <dgm:cxn modelId="{E12F45AF-120D-4527-B940-AFDACD52581A}" type="presParOf" srcId="{EC361E43-32F5-4DFA-A17E-664DAC048126}" destId="{3DDD7C8E-9C23-4586-BE17-BCC72875D4AB}" srcOrd="4" destOrd="0" presId="urn:microsoft.com/office/officeart/2005/8/layout/matrix1"/>
    <dgm:cxn modelId="{BB7508A2-6FC7-4FE6-9024-90248321F586}" type="presParOf" srcId="{EC361E43-32F5-4DFA-A17E-664DAC048126}" destId="{677F5A66-A49B-4170-8152-1BABCA5C83A6}" srcOrd="5" destOrd="0" presId="urn:microsoft.com/office/officeart/2005/8/layout/matrix1"/>
    <dgm:cxn modelId="{93E21F7F-CDB3-4DA5-BC10-8726C7E0A462}" type="presParOf" srcId="{EC361E43-32F5-4DFA-A17E-664DAC048126}" destId="{A408086F-5C94-4439-8160-FDA8671A15E8}" srcOrd="6" destOrd="0" presId="urn:microsoft.com/office/officeart/2005/8/layout/matrix1"/>
    <dgm:cxn modelId="{8E4EF5A3-BABE-4B83-A03E-4189679643DC}" type="presParOf" srcId="{EC361E43-32F5-4DFA-A17E-664DAC048126}" destId="{18E2FD6E-A6C3-4A27-95DC-7B8C3BE67EF8}" srcOrd="7" destOrd="0" presId="urn:microsoft.com/office/officeart/2005/8/layout/matrix1"/>
    <dgm:cxn modelId="{CA89BCB2-BDAB-415D-B491-92099C983697}" type="presParOf" srcId="{0BF3E8A1-B62A-4CD3-92BD-B51D50654AA7}" destId="{3898F747-FCEE-479D-B3BF-3D3CFD058F4B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A29D14-370D-4A02-B1E0-AAF61CFF68A3}">
      <dsp:nvSpPr>
        <dsp:cNvPr id="0" name=""/>
        <dsp:cNvSpPr/>
      </dsp:nvSpPr>
      <dsp:spPr>
        <a:xfrm>
          <a:off x="4257273" y="2400597"/>
          <a:ext cx="1199346" cy="416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151"/>
              </a:lnTo>
              <a:lnTo>
                <a:pt x="1199346" y="208151"/>
              </a:lnTo>
              <a:lnTo>
                <a:pt x="1199346" y="41630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39C210-3C2A-4EF2-98C5-84A1E1CF9E70}">
      <dsp:nvSpPr>
        <dsp:cNvPr id="0" name=""/>
        <dsp:cNvSpPr/>
      </dsp:nvSpPr>
      <dsp:spPr>
        <a:xfrm>
          <a:off x="3057926" y="2400597"/>
          <a:ext cx="1199346" cy="416302"/>
        </a:xfrm>
        <a:custGeom>
          <a:avLst/>
          <a:gdLst/>
          <a:ahLst/>
          <a:cxnLst/>
          <a:rect l="0" t="0" r="0" b="0"/>
          <a:pathLst>
            <a:path>
              <a:moveTo>
                <a:pt x="1199346" y="0"/>
              </a:moveTo>
              <a:lnTo>
                <a:pt x="1199346" y="208151"/>
              </a:lnTo>
              <a:lnTo>
                <a:pt x="0" y="208151"/>
              </a:lnTo>
              <a:lnTo>
                <a:pt x="0" y="416302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B883CA-02DA-4FCA-BA05-3F9EF784FCCD}">
      <dsp:nvSpPr>
        <dsp:cNvPr id="0" name=""/>
        <dsp:cNvSpPr/>
      </dsp:nvSpPr>
      <dsp:spPr>
        <a:xfrm>
          <a:off x="3057926" y="993100"/>
          <a:ext cx="1199346" cy="416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151"/>
              </a:lnTo>
              <a:lnTo>
                <a:pt x="1199346" y="208151"/>
              </a:lnTo>
              <a:lnTo>
                <a:pt x="1199346" y="41630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35EE2D-AAD1-472F-AC7E-F863885A4112}">
      <dsp:nvSpPr>
        <dsp:cNvPr id="0" name=""/>
        <dsp:cNvSpPr/>
      </dsp:nvSpPr>
      <dsp:spPr>
        <a:xfrm>
          <a:off x="1858580" y="993100"/>
          <a:ext cx="1199346" cy="416302"/>
        </a:xfrm>
        <a:custGeom>
          <a:avLst/>
          <a:gdLst/>
          <a:ahLst/>
          <a:cxnLst/>
          <a:rect l="0" t="0" r="0" b="0"/>
          <a:pathLst>
            <a:path>
              <a:moveTo>
                <a:pt x="1199346" y="0"/>
              </a:moveTo>
              <a:lnTo>
                <a:pt x="1199346" y="208151"/>
              </a:lnTo>
              <a:lnTo>
                <a:pt x="0" y="208151"/>
              </a:lnTo>
              <a:lnTo>
                <a:pt x="0" y="41630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3127DB-CB11-479B-A509-AEB2291D69A7}">
      <dsp:nvSpPr>
        <dsp:cNvPr id="0" name=""/>
        <dsp:cNvSpPr/>
      </dsp:nvSpPr>
      <dsp:spPr>
        <a:xfrm>
          <a:off x="2066731" y="1904"/>
          <a:ext cx="1982390" cy="9911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100" b="1" i="0" u="none" strike="noStrike" kern="1200" cap="none" normalizeH="0" baseline="0">
              <a:ln>
                <a:noFill/>
              </a:ln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Arial" charset="0"/>
              <a:cs typeface="Arial" charset="0"/>
            </a:rPr>
            <a:t>Data</a:t>
          </a:r>
          <a:endParaRPr kumimoji="0" lang="en-US" altLang="en-US" sz="2100" b="0" i="0" u="none" strike="noStrike" kern="1200" cap="none" normalizeH="0" baseline="0">
            <a:ln>
              <a:noFill/>
            </a:ln>
            <a:solidFill>
              <a:schemeClr val="accent4">
                <a:lumMod val="40000"/>
                <a:lumOff val="60000"/>
              </a:schemeClr>
            </a:solidFill>
            <a:effectLst/>
            <a:latin typeface="Arial" charset="0"/>
            <a:cs typeface="Arial" charset="0"/>
          </a:endParaRPr>
        </a:p>
      </dsp:txBody>
      <dsp:txXfrm>
        <a:off x="2066731" y="1904"/>
        <a:ext cx="1982390" cy="991195"/>
      </dsp:txXfrm>
    </dsp:sp>
    <dsp:sp modelId="{E0FCF1F9-C415-4599-9459-4B12E22BFADF}">
      <dsp:nvSpPr>
        <dsp:cNvPr id="0" name=""/>
        <dsp:cNvSpPr/>
      </dsp:nvSpPr>
      <dsp:spPr>
        <a:xfrm>
          <a:off x="867385" y="1409402"/>
          <a:ext cx="1982390" cy="9911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sz="2100" b="1" i="0" u="none" strike="noStrike" kern="1200" cap="none" normalizeH="0" baseline="0" dirty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100" b="1" i="0" u="none" strike="noStrike" kern="1200" cap="none" normalizeH="0" baseline="0" dirty="0">
              <a:ln>
                <a:noFill/>
              </a:ln>
              <a:solidFill>
                <a:srgbClr val="92D050"/>
              </a:solidFill>
              <a:effectLst/>
              <a:latin typeface="Arial" charset="0"/>
              <a:cs typeface="Arial" charset="0"/>
            </a:rPr>
            <a:t>Categorical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sz="2100" b="1" i="0" u="none" strike="noStrike" kern="1200" cap="none" normalizeH="0" baseline="0" dirty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</dsp:txBody>
      <dsp:txXfrm>
        <a:off x="867385" y="1409402"/>
        <a:ext cx="1982390" cy="991195"/>
      </dsp:txXfrm>
    </dsp:sp>
    <dsp:sp modelId="{12666221-7E41-43D7-A6F2-487125A5D2FD}">
      <dsp:nvSpPr>
        <dsp:cNvPr id="0" name=""/>
        <dsp:cNvSpPr/>
      </dsp:nvSpPr>
      <dsp:spPr>
        <a:xfrm>
          <a:off x="3266077" y="1409402"/>
          <a:ext cx="1982390" cy="9911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sz="2100" b="1" i="0" u="none" strike="noStrike" kern="1200" cap="none" normalizeH="0" baseline="0" dirty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100" b="1" i="0" u="none" strike="noStrike" kern="1200" cap="none" normalizeH="0" baseline="0" dirty="0">
              <a:ln>
                <a:noFill/>
              </a:ln>
              <a:solidFill>
                <a:srgbClr val="92D050"/>
              </a:solidFill>
              <a:effectLst/>
              <a:latin typeface="Arial" charset="0"/>
              <a:cs typeface="Arial" charset="0"/>
            </a:rPr>
            <a:t>Numerical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sz="2100" b="1" i="0" u="none" strike="noStrike" kern="1200" cap="none" normalizeH="0" baseline="0" dirty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</dsp:txBody>
      <dsp:txXfrm>
        <a:off x="3266077" y="1409402"/>
        <a:ext cx="1982390" cy="991195"/>
      </dsp:txXfrm>
    </dsp:sp>
    <dsp:sp modelId="{0E7E62BB-EBD6-4559-A0D8-033DDD008FD8}">
      <dsp:nvSpPr>
        <dsp:cNvPr id="0" name=""/>
        <dsp:cNvSpPr/>
      </dsp:nvSpPr>
      <dsp:spPr>
        <a:xfrm>
          <a:off x="2066731" y="2816899"/>
          <a:ext cx="1982390" cy="9911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100" b="1" i="0" u="none" strike="noStrike" kern="1200" cap="none" normalizeH="0" baseline="0">
              <a:ln>
                <a:noFill/>
              </a:ln>
              <a:solidFill>
                <a:srgbClr val="92D050"/>
              </a:solidFill>
              <a:effectLst/>
              <a:latin typeface="Arial" charset="0"/>
              <a:cs typeface="Arial" charset="0"/>
            </a:rPr>
            <a:t>Discrete</a:t>
          </a:r>
          <a:endParaRPr kumimoji="0" lang="en-US" altLang="en-US" sz="2100" b="0" i="0" u="none" strike="noStrike" kern="1200" cap="none" normalizeH="0" baseline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</dsp:txBody>
      <dsp:txXfrm>
        <a:off x="2066731" y="2816899"/>
        <a:ext cx="1982390" cy="991195"/>
      </dsp:txXfrm>
    </dsp:sp>
    <dsp:sp modelId="{D9C908CE-C22F-4BC8-9781-58FBE6C231C1}">
      <dsp:nvSpPr>
        <dsp:cNvPr id="0" name=""/>
        <dsp:cNvSpPr/>
      </dsp:nvSpPr>
      <dsp:spPr>
        <a:xfrm>
          <a:off x="4465424" y="2816899"/>
          <a:ext cx="1982390" cy="9911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2100" b="1" i="0" u="none" strike="noStrike" kern="1200" cap="none" normalizeH="0" baseline="0" dirty="0">
              <a:ln>
                <a:noFill/>
              </a:ln>
              <a:solidFill>
                <a:srgbClr val="92D050"/>
              </a:solidFill>
              <a:effectLst/>
              <a:latin typeface="Arial" charset="0"/>
              <a:cs typeface="Arial" charset="0"/>
            </a:rPr>
            <a:t>Continuous</a:t>
          </a:r>
          <a:endParaRPr kumimoji="0" lang="en-US" altLang="en-US" sz="2100" b="0" i="0" u="none" strike="noStrike" kern="1200" cap="none" normalizeH="0" baseline="0" dirty="0">
            <a:ln>
              <a:noFill/>
            </a:ln>
            <a:solidFill>
              <a:srgbClr val="92D050"/>
            </a:solidFill>
            <a:effectLst/>
            <a:latin typeface="Arial" charset="0"/>
            <a:cs typeface="Arial" charset="0"/>
          </a:endParaRPr>
        </a:p>
      </dsp:txBody>
      <dsp:txXfrm>
        <a:off x="4465424" y="2816899"/>
        <a:ext cx="1982390" cy="9911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B193C9-0E9E-4463-9154-2356150E88D9}">
      <dsp:nvSpPr>
        <dsp:cNvPr id="0" name=""/>
        <dsp:cNvSpPr/>
      </dsp:nvSpPr>
      <dsp:spPr>
        <a:xfrm>
          <a:off x="259913" y="820679"/>
          <a:ext cx="2848970" cy="31599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What am I trying to communicate?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What is the message?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How do I make that message clear at a glance?</a:t>
          </a:r>
        </a:p>
      </dsp:txBody>
      <dsp:txXfrm>
        <a:off x="332632" y="893398"/>
        <a:ext cx="2703532" cy="2337377"/>
      </dsp:txXfrm>
    </dsp:sp>
    <dsp:sp modelId="{59CAF53F-3ECD-43DD-972F-396CAD0B84CB}">
      <dsp:nvSpPr>
        <dsp:cNvPr id="0" name=""/>
        <dsp:cNvSpPr/>
      </dsp:nvSpPr>
      <dsp:spPr>
        <a:xfrm>
          <a:off x="1735504" y="1839805"/>
          <a:ext cx="3299034" cy="3299034"/>
        </a:xfrm>
        <a:prstGeom prst="leftCircularArrow">
          <a:avLst>
            <a:gd name="adj1" fmla="val 3542"/>
            <a:gd name="adj2" fmla="val 439947"/>
            <a:gd name="adj3" fmla="val 1806985"/>
            <a:gd name="adj4" fmla="val 8616017"/>
            <a:gd name="adj5" fmla="val 4133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BB31D39-27DB-46AB-A589-D0CCCACF1D45}">
      <dsp:nvSpPr>
        <dsp:cNvPr id="0" name=""/>
        <dsp:cNvSpPr/>
      </dsp:nvSpPr>
      <dsp:spPr>
        <a:xfrm>
          <a:off x="893018" y="3385986"/>
          <a:ext cx="2532418" cy="10070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Defining Message</a:t>
          </a:r>
        </a:p>
      </dsp:txBody>
      <dsp:txXfrm>
        <a:off x="922514" y="3415482"/>
        <a:ext cx="2473426" cy="948067"/>
      </dsp:txXfrm>
    </dsp:sp>
    <dsp:sp modelId="{4FACE709-AFAF-4B34-894F-9CF57B38D93B}">
      <dsp:nvSpPr>
        <dsp:cNvPr id="0" name=""/>
        <dsp:cNvSpPr/>
      </dsp:nvSpPr>
      <dsp:spPr>
        <a:xfrm>
          <a:off x="3981903" y="814893"/>
          <a:ext cx="2848970" cy="315994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Should I use text, table, graph or a diagram?</a:t>
          </a: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Or a combination?</a:t>
          </a:r>
        </a:p>
      </dsp:txBody>
      <dsp:txXfrm>
        <a:off x="4054622" y="1564743"/>
        <a:ext cx="2703532" cy="2337377"/>
      </dsp:txXfrm>
    </dsp:sp>
    <dsp:sp modelId="{D83778CE-6B94-485D-81D3-2237D654C18C}">
      <dsp:nvSpPr>
        <dsp:cNvPr id="0" name=""/>
        <dsp:cNvSpPr/>
      </dsp:nvSpPr>
      <dsp:spPr>
        <a:xfrm>
          <a:off x="5440970" y="-424662"/>
          <a:ext cx="3658680" cy="3658680"/>
        </a:xfrm>
        <a:prstGeom prst="circularArrow">
          <a:avLst>
            <a:gd name="adj1" fmla="val 3194"/>
            <a:gd name="adj2" fmla="val 393431"/>
            <a:gd name="adj3" fmla="val 19775572"/>
            <a:gd name="adj4" fmla="val 12920024"/>
            <a:gd name="adj5" fmla="val 3726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3AA9380-A702-4DCC-8F87-2065CD157F3D}">
      <dsp:nvSpPr>
        <dsp:cNvPr id="0" name=""/>
        <dsp:cNvSpPr/>
      </dsp:nvSpPr>
      <dsp:spPr>
        <a:xfrm>
          <a:off x="4615007" y="419916"/>
          <a:ext cx="2532418" cy="10070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Choosing Form</a:t>
          </a:r>
        </a:p>
      </dsp:txBody>
      <dsp:txXfrm>
        <a:off x="4644503" y="449412"/>
        <a:ext cx="2473426" cy="948067"/>
      </dsp:txXfrm>
    </dsp:sp>
    <dsp:sp modelId="{9AE28D42-B290-40F8-9523-0C66878E209E}">
      <dsp:nvSpPr>
        <dsp:cNvPr id="0" name=""/>
        <dsp:cNvSpPr/>
      </dsp:nvSpPr>
      <dsp:spPr>
        <a:xfrm>
          <a:off x="7703892" y="786046"/>
          <a:ext cx="2848970" cy="32297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What design principles lead to quick cognitive processing and effective communication of the message?</a:t>
          </a:r>
        </a:p>
      </dsp:txBody>
      <dsp:txXfrm>
        <a:off x="7778217" y="860371"/>
        <a:ext cx="2700320" cy="2388981"/>
      </dsp:txXfrm>
    </dsp:sp>
    <dsp:sp modelId="{E9B05127-2A1A-46D4-8E70-266278CCE4A7}">
      <dsp:nvSpPr>
        <dsp:cNvPr id="0" name=""/>
        <dsp:cNvSpPr/>
      </dsp:nvSpPr>
      <dsp:spPr>
        <a:xfrm>
          <a:off x="8336996" y="3490889"/>
          <a:ext cx="2532418" cy="10070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Creating Design</a:t>
          </a:r>
        </a:p>
      </dsp:txBody>
      <dsp:txXfrm>
        <a:off x="8366492" y="3520385"/>
        <a:ext cx="2473426" cy="9480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72942-13F3-4FEC-99CA-55E51899726F}">
      <dsp:nvSpPr>
        <dsp:cNvPr id="0" name=""/>
        <dsp:cNvSpPr/>
      </dsp:nvSpPr>
      <dsp:spPr>
        <a:xfrm rot="16200000">
          <a:off x="-101633" y="101633"/>
          <a:ext cx="2224683" cy="2021416"/>
        </a:xfrm>
        <a:prstGeom prst="round1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kern="1200" dirty="0"/>
            <a:t>Display complete data set</a:t>
          </a:r>
          <a:endParaRPr lang="en-US" sz="2400" kern="1200" dirty="0"/>
        </a:p>
      </dsp:txBody>
      <dsp:txXfrm rot="5400000">
        <a:off x="0" y="0"/>
        <a:ext cx="2021416" cy="1668512"/>
      </dsp:txXfrm>
    </dsp:sp>
    <dsp:sp modelId="{660B8690-FEF1-4620-80F3-6C16171CE295}">
      <dsp:nvSpPr>
        <dsp:cNvPr id="0" name=""/>
        <dsp:cNvSpPr/>
      </dsp:nvSpPr>
      <dsp:spPr>
        <a:xfrm>
          <a:off x="2021416" y="0"/>
          <a:ext cx="2021416" cy="2224683"/>
        </a:xfrm>
        <a:prstGeom prst="round1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Focus on specific item (highlighted) in context of complete data set</a:t>
          </a:r>
        </a:p>
      </dsp:txBody>
      <dsp:txXfrm>
        <a:off x="2021416" y="0"/>
        <a:ext cx="2021416" cy="1668512"/>
      </dsp:txXfrm>
    </dsp:sp>
    <dsp:sp modelId="{255496E0-5FDE-4ADA-9DB7-5D9E7D8C80E0}">
      <dsp:nvSpPr>
        <dsp:cNvPr id="0" name=""/>
        <dsp:cNvSpPr/>
      </dsp:nvSpPr>
      <dsp:spPr>
        <a:xfrm rot="10800000">
          <a:off x="0" y="2224683"/>
          <a:ext cx="2021416" cy="2224683"/>
        </a:xfrm>
        <a:prstGeom prst="round1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Present wide range of data that is difficult to scale using a graph</a:t>
          </a:r>
        </a:p>
      </dsp:txBody>
      <dsp:txXfrm rot="10800000">
        <a:off x="0" y="2780853"/>
        <a:ext cx="2021416" cy="1668512"/>
      </dsp:txXfrm>
    </dsp:sp>
    <dsp:sp modelId="{EB5DE89C-3B26-4A35-8D4F-91725F432702}">
      <dsp:nvSpPr>
        <dsp:cNvPr id="0" name=""/>
        <dsp:cNvSpPr/>
      </dsp:nvSpPr>
      <dsp:spPr>
        <a:xfrm rot="5400000">
          <a:off x="1919783" y="2326316"/>
          <a:ext cx="2224683" cy="2021416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Explain how numbers are derived – how results were calculated</a:t>
          </a:r>
        </a:p>
      </dsp:txBody>
      <dsp:txXfrm rot="-5400000">
        <a:off x="2021416" y="2780853"/>
        <a:ext cx="2021416" cy="1668512"/>
      </dsp:txXfrm>
    </dsp:sp>
    <dsp:sp modelId="{12FBAC27-C0A7-4ED5-92A8-F8B625419B64}">
      <dsp:nvSpPr>
        <dsp:cNvPr id="0" name=""/>
        <dsp:cNvSpPr/>
      </dsp:nvSpPr>
      <dsp:spPr>
        <a:xfrm>
          <a:off x="1296004" y="1668512"/>
          <a:ext cx="1450823" cy="1112341"/>
        </a:xfrm>
        <a:prstGeom prst="round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Choose a Table</a:t>
          </a:r>
        </a:p>
      </dsp:txBody>
      <dsp:txXfrm>
        <a:off x="1350304" y="1722812"/>
        <a:ext cx="1342223" cy="10037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BD0B9-C750-4F0A-8948-E82209C29204}">
      <dsp:nvSpPr>
        <dsp:cNvPr id="0" name=""/>
        <dsp:cNvSpPr/>
      </dsp:nvSpPr>
      <dsp:spPr>
        <a:xfrm rot="16200000">
          <a:off x="-101633" y="101633"/>
          <a:ext cx="2224683" cy="2021416"/>
        </a:xfrm>
        <a:prstGeom prst="round1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Compare a slice of information</a:t>
          </a:r>
        </a:p>
      </dsp:txBody>
      <dsp:txXfrm rot="5400000">
        <a:off x="0" y="0"/>
        <a:ext cx="2021416" cy="1668512"/>
      </dsp:txXfrm>
    </dsp:sp>
    <dsp:sp modelId="{BAB23DB2-D64E-47CE-99E0-C1B083E8A2EE}">
      <dsp:nvSpPr>
        <dsp:cNvPr id="0" name=""/>
        <dsp:cNvSpPr/>
      </dsp:nvSpPr>
      <dsp:spPr>
        <a:xfrm>
          <a:off x="2021416" y="0"/>
          <a:ext cx="2021416" cy="2224683"/>
        </a:xfrm>
        <a:prstGeom prst="round1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Show “cause of change” (vertical axis) vs. “effect” (horizontal axis)</a:t>
          </a:r>
        </a:p>
      </dsp:txBody>
      <dsp:txXfrm>
        <a:off x="2021416" y="0"/>
        <a:ext cx="2021416" cy="1668512"/>
      </dsp:txXfrm>
    </dsp:sp>
    <dsp:sp modelId="{3DDD7C8E-9C23-4586-BE17-BCC72875D4AB}">
      <dsp:nvSpPr>
        <dsp:cNvPr id="0" name=""/>
        <dsp:cNvSpPr/>
      </dsp:nvSpPr>
      <dsp:spPr>
        <a:xfrm rot="10800000">
          <a:off x="0" y="2224683"/>
          <a:ext cx="2021416" cy="2224683"/>
        </a:xfrm>
        <a:prstGeom prst="round1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Show change over time</a:t>
          </a:r>
        </a:p>
      </dsp:txBody>
      <dsp:txXfrm rot="10800000">
        <a:off x="0" y="2780853"/>
        <a:ext cx="2021416" cy="1668512"/>
      </dsp:txXfrm>
    </dsp:sp>
    <dsp:sp modelId="{A408086F-5C94-4439-8160-FDA8671A15E8}">
      <dsp:nvSpPr>
        <dsp:cNvPr id="0" name=""/>
        <dsp:cNvSpPr/>
      </dsp:nvSpPr>
      <dsp:spPr>
        <a:xfrm rot="5400000">
          <a:off x="1919783" y="2326316"/>
          <a:ext cx="2224683" cy="2021416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Show patterns of data distribution (normal curve)</a:t>
          </a:r>
        </a:p>
      </dsp:txBody>
      <dsp:txXfrm rot="-5400000">
        <a:off x="2021416" y="2780853"/>
        <a:ext cx="2021416" cy="1668512"/>
      </dsp:txXfrm>
    </dsp:sp>
    <dsp:sp modelId="{3898F747-FCEE-479D-B3BF-3D3CFD058F4B}">
      <dsp:nvSpPr>
        <dsp:cNvPr id="0" name=""/>
        <dsp:cNvSpPr/>
      </dsp:nvSpPr>
      <dsp:spPr>
        <a:xfrm>
          <a:off x="1222827" y="1668512"/>
          <a:ext cx="1597177" cy="1112341"/>
        </a:xfrm>
        <a:prstGeom prst="round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Choose a Chart</a:t>
          </a:r>
        </a:p>
      </dsp:txBody>
      <dsp:txXfrm>
        <a:off x="1277127" y="1722812"/>
        <a:ext cx="1488577" cy="1003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B1606-98D1-452E-8540-00517F361819}" type="datetimeFigureOut">
              <a:rPr lang="en-IN" smtClean="0"/>
              <a:t>18-12-2021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A0A83-3374-4E16-8B11-13FCDC916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8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5776F-AA8B-496F-A4E0-BA06DE94DD7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3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5776F-AA8B-496F-A4E0-BA06DE94DD7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41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FD3C63-DF62-44E6-9716-43D9687E98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02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FC6C57-A026-4A9D-8BD3-6948E08F4BE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54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5776F-AA8B-496F-A4E0-BA06DE94DD7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84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6EAB5F-DF33-4929-B036-4BD49CA33F4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60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882543-8271-4CAA-B18B-7E1E7A480CD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6CE5CF-8160-4022-9926-3B55423AD34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77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BDAFF4-84CA-407B-8E4C-8CEBA97F494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12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9AAED6-1AFE-47E7-9A8E-AD70958ABC7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3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15F74F-AC4C-4E57-8D87-CFDEB747016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19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15F74F-AC4C-4E57-8D87-CFDEB747016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92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15F74F-AC4C-4E57-8D87-CFDEB747016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976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15F74F-AC4C-4E57-8D87-CFDEB747016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25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15F74F-AC4C-4E57-8D87-CFDEB7470161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279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15F74F-AC4C-4E57-8D87-CFDEB747016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72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15F74F-AC4C-4E57-8D87-CFDEB747016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7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CA38CB-9810-41F6-98A1-B0B4B730DFF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912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15F74F-AC4C-4E57-8D87-CFDEB747016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306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F44906-7A74-4C8F-864F-FD517EF4A0E4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0525" y="688975"/>
            <a:ext cx="6083300" cy="342265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371" y="4343713"/>
            <a:ext cx="5025259" cy="4112298"/>
          </a:xfrm>
          <a:noFill/>
          <a:ln/>
        </p:spPr>
        <p:txBody>
          <a:bodyPr/>
          <a:lstStyle/>
          <a:p>
            <a:pPr marL="221548" indent="-221548"/>
            <a:r>
              <a:rPr lang="en-US" dirty="0"/>
              <a:t>Item comparison</a:t>
            </a:r>
          </a:p>
        </p:txBody>
      </p:sp>
    </p:spTree>
    <p:extLst>
      <p:ext uri="{BB962C8B-B14F-4D97-AF65-F5344CB8AC3E}">
        <p14:creationId xmlns:p14="http://schemas.microsoft.com/office/powerpoint/2010/main" val="3296360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4E78EB-AC67-4711-86B2-3EAA9E98719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0525" y="688975"/>
            <a:ext cx="6083300" cy="3422650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371" y="4343713"/>
            <a:ext cx="5025259" cy="4112298"/>
          </a:xfrm>
          <a:noFill/>
          <a:ln/>
        </p:spPr>
        <p:txBody>
          <a:bodyPr/>
          <a:lstStyle/>
          <a:p>
            <a:pPr marL="221548" indent="-221548"/>
            <a:r>
              <a:rPr lang="en-US" dirty="0"/>
              <a:t>How items co-relate</a:t>
            </a:r>
          </a:p>
        </p:txBody>
      </p:sp>
    </p:spTree>
    <p:extLst>
      <p:ext uri="{BB962C8B-B14F-4D97-AF65-F5344CB8AC3E}">
        <p14:creationId xmlns:p14="http://schemas.microsoft.com/office/powerpoint/2010/main" val="2983330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DC4C2D-2E36-4D64-9476-945D40D69C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0525" y="688975"/>
            <a:ext cx="6083300" cy="342265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371" y="4343713"/>
            <a:ext cx="5025259" cy="4112298"/>
          </a:xfrm>
          <a:noFill/>
          <a:ln/>
        </p:spPr>
        <p:txBody>
          <a:bodyPr/>
          <a:lstStyle/>
          <a:p>
            <a:pPr marL="221548" indent="-221548"/>
            <a:r>
              <a:rPr lang="en-US" dirty="0"/>
              <a:t>Components of one item</a:t>
            </a:r>
          </a:p>
        </p:txBody>
      </p:sp>
    </p:spTree>
    <p:extLst>
      <p:ext uri="{BB962C8B-B14F-4D97-AF65-F5344CB8AC3E}">
        <p14:creationId xmlns:p14="http://schemas.microsoft.com/office/powerpoint/2010/main" val="13077417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C4173B-2B56-40C3-969E-84AB12BF64F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0525" y="688975"/>
            <a:ext cx="6083300" cy="342265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371" y="4343713"/>
            <a:ext cx="5025259" cy="4112298"/>
          </a:xfrm>
          <a:noFill/>
          <a:ln/>
        </p:spPr>
        <p:txBody>
          <a:bodyPr/>
          <a:lstStyle/>
          <a:p>
            <a:pPr marL="221548" indent="-221548"/>
            <a:r>
              <a:rPr lang="en-US" dirty="0"/>
              <a:t>Change over time</a:t>
            </a:r>
          </a:p>
        </p:txBody>
      </p:sp>
    </p:spTree>
    <p:extLst>
      <p:ext uri="{BB962C8B-B14F-4D97-AF65-F5344CB8AC3E}">
        <p14:creationId xmlns:p14="http://schemas.microsoft.com/office/powerpoint/2010/main" val="19863814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15F74F-AC4C-4E57-8D87-CFDEB747016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934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5776F-AA8B-496F-A4E0-BA06DE94DD7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669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5776F-AA8B-496F-A4E0-BA06DE94DD7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934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5776F-AA8B-496F-A4E0-BA06DE94DD7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148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DA0A83-3374-4E16-8B11-13FCDC916A25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281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1406-C875-4B24-B45D-AEF908FDEA8B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90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2ECA-6CA7-42EE-AAB9-FFE8788F9893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9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CB84-F326-4036-AA8C-109365272BC7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52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6C8F-49C7-43DA-8B61-5A67C9C1F44A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0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D5AD-AD32-4A49-9CA1-8C0CD7F28289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70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D9E91-2426-4C61-BA6F-B1993829FF3A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49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9F429-4C81-4D37-89A1-7492C1E1DE63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4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45124-AD82-44CB-8D91-CC9567F1FA2A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92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C98B-466E-41F4-8549-2B00AC9F92F9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27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C1E69-3FE6-414A-B8FC-A049A4490C5D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56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D7FDB-4D5F-4FEB-8D35-123DACE1C12E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56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2C410-F9F7-4284-8526-C204E10D3BA2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8975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F3A3-2343-41AA-8C94-E0C5FD7CAA8A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218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12A5-13C5-4C6D-97E0-725E81243ADE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03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5A5FF-A98B-4E31-A189-C2F918DD98DE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79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CFBAE-1D0F-4046-B2E4-EDE1A7C8C623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75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633F-4CFB-4882-8368-80DDD27E41AA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7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C1C26A6-7E35-4E68-9347-D95A92CEE2A5}" type="datetime1">
              <a:rPr lang="en-US" smtClean="0"/>
              <a:t>12/18/2021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084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Visualization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025" y="152400"/>
            <a:ext cx="9553575" cy="1251062"/>
          </a:xfrm>
        </p:spPr>
        <p:txBody>
          <a:bodyPr>
            <a:normAutofit fontScale="90000"/>
          </a:bodyPr>
          <a:lstStyle/>
          <a:p>
            <a:r>
              <a:rPr lang="en-US" cap="none" dirty="0"/>
              <a:t>Good Decisions Are Based On An Accurate Understanding Of Good Data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1" y="3048000"/>
            <a:ext cx="303847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571625" y="2044125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Good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1900" y="1938487"/>
            <a:ext cx="33137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Good Decisions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50797" y="2044125"/>
            <a:ext cx="30480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Understanding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81200" y="5562601"/>
            <a:ext cx="8914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Do you need to be Einstein to make sense of your data?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64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711" y="212195"/>
            <a:ext cx="9421813" cy="1507067"/>
          </a:xfrm>
        </p:spPr>
        <p:txBody>
          <a:bodyPr>
            <a:normAutofit/>
          </a:bodyPr>
          <a:lstStyle/>
          <a:p>
            <a:r>
              <a:rPr lang="en-US" dirty="0"/>
              <a:t>Vision is our most powerful sense!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1868" y="1629834"/>
            <a:ext cx="421005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97863" y="2314575"/>
            <a:ext cx="22193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429001" y="5486401"/>
            <a:ext cx="995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07526" y="5486401"/>
            <a:ext cx="995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30%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500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Rectangle 2"/>
          <p:cNvSpPr>
            <a:spLocks noGrp="1" noChangeArrowheads="1"/>
          </p:cNvSpPr>
          <p:nvPr>
            <p:ph type="title"/>
          </p:nvPr>
        </p:nvSpPr>
        <p:spPr>
          <a:xfrm>
            <a:off x="893762" y="105832"/>
            <a:ext cx="8534400" cy="1507067"/>
          </a:xfrm>
        </p:spPr>
        <p:txBody>
          <a:bodyPr/>
          <a:lstStyle/>
          <a:p>
            <a:pPr eaLnBrk="1" hangingPunct="1"/>
            <a:r>
              <a:rPr lang="en-US" dirty="0"/>
              <a:t>Types of Data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963662485"/>
              </p:ext>
            </p:extLst>
          </p:nvPr>
        </p:nvGraphicFramePr>
        <p:xfrm>
          <a:off x="2057400" y="1447800"/>
          <a:ext cx="73152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1390650" y="3609830"/>
            <a:ext cx="2514600" cy="146501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5342" tIns="42672" rIns="85342" bIns="42672">
            <a:spAutoFit/>
          </a:bodyPr>
          <a:lstStyle/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Customer ratings</a:t>
            </a: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City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</a:pP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(Defined categories or groups)</a:t>
            </a:r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5257800" y="5295900"/>
            <a:ext cx="2286000" cy="13142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5342" tIns="42672" rIns="85342" bIns="42672">
            <a:spAutoFit/>
          </a:bodyPr>
          <a:lstStyle/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Number of Cars owned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Defects per hour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</a:pPr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(Counted items)</a:t>
            </a: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8572500" y="5074846"/>
            <a:ext cx="2743200" cy="10987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5342" tIns="42672" rIns="85342" bIns="42672">
            <a:spAutoFit/>
          </a:bodyPr>
          <a:lstStyle/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</a:pPr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Time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Pressure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</a:pPr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(Measured characteristics)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32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27062" y="334432"/>
            <a:ext cx="8534400" cy="1507067"/>
          </a:xfrm>
        </p:spPr>
        <p:txBody>
          <a:bodyPr vert="horz" lIns="91440" tIns="43247" rIns="91440" bIns="43247" rtlCol="0" anchor="ctr">
            <a:normAutofit/>
          </a:bodyPr>
          <a:lstStyle/>
          <a:p>
            <a:pPr eaLnBrk="1" hangingPunct="1"/>
            <a:r>
              <a:rPr lang="en-US" dirty="0"/>
              <a:t>Benefit of visual representation of data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504825" y="1524000"/>
            <a:ext cx="9810750" cy="4953000"/>
          </a:xfrm>
        </p:spPr>
        <p:txBody>
          <a:bodyPr vert="horz" lIns="91440" tIns="45720" rIns="86493" bIns="43247" rtlCol="0" anchor="ctr">
            <a:normAutofit/>
          </a:bodyPr>
          <a:lstStyle/>
          <a:p>
            <a:pPr eaLnBrk="1" hangingPunct="1">
              <a:lnSpc>
                <a:spcPct val="80000"/>
              </a:lnSpc>
              <a:spcAft>
                <a:spcPct val="50000"/>
              </a:spcAft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Communicate complex information concisely and powerfully</a:t>
            </a:r>
          </a:p>
          <a:p>
            <a:pPr eaLnBrk="1" hangingPunct="1">
              <a:lnSpc>
                <a:spcPct val="80000"/>
              </a:lnSpc>
              <a:spcAft>
                <a:spcPct val="50000"/>
              </a:spcAft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Create a “picture” for reasoning about and analyzing quantitative and conceptual information</a:t>
            </a:r>
          </a:p>
          <a:p>
            <a:pPr lvl="1" eaLnBrk="1" hangingPunct="1">
              <a:lnSpc>
                <a:spcPct val="80000"/>
              </a:lnSpc>
              <a:spcAft>
                <a:spcPct val="50000"/>
              </a:spcAft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Makes cognitive processing easier</a:t>
            </a:r>
          </a:p>
          <a:p>
            <a:pPr lvl="1" eaLnBrk="1" hangingPunct="1">
              <a:lnSpc>
                <a:spcPct val="80000"/>
              </a:lnSpc>
              <a:spcAft>
                <a:spcPct val="50000"/>
              </a:spcAft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Provides “content/information rich” view at a glance</a:t>
            </a:r>
          </a:p>
          <a:p>
            <a:pPr lvl="1" eaLnBrk="1" hangingPunct="1">
              <a:lnSpc>
                <a:spcPct val="80000"/>
              </a:lnSpc>
              <a:spcAft>
                <a:spcPct val="50000"/>
              </a:spcAft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Directs attention toward the content rather than methodology</a:t>
            </a:r>
          </a:p>
          <a:p>
            <a:pPr eaLnBrk="1" hangingPunct="1">
              <a:lnSpc>
                <a:spcPct val="80000"/>
              </a:lnSpc>
              <a:spcAft>
                <a:spcPct val="50000"/>
              </a:spcAft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Describe, explore, summarize a set of numbers</a:t>
            </a:r>
          </a:p>
          <a:p>
            <a:pPr eaLnBrk="1" hangingPunct="1">
              <a:lnSpc>
                <a:spcPct val="80000"/>
              </a:lnSpc>
              <a:spcAft>
                <a:spcPct val="50000"/>
              </a:spcAft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Convey a messages about the significance of the data</a:t>
            </a:r>
          </a:p>
        </p:txBody>
      </p:sp>
      <p:sp>
        <p:nvSpPr>
          <p:cNvPr id="1638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3247" rIns="91440" bIns="45720" rtlCol="0" anchor="t"/>
          <a:lstStyle/>
          <a:p>
            <a:pPr defTabSz="914485"/>
            <a:fld id="{46649102-820D-4FA2-A932-FA1DFD58A121}" type="slidenum">
              <a:rPr lang="en-US"/>
              <a:pPr defTabSz="914485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868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of Visual perception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1803616"/>
            <a:ext cx="7924800" cy="2996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8362" y="5355742"/>
            <a:ext cx="7767638" cy="1426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133600" y="14433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Form</a:t>
            </a:r>
            <a:endParaRPr lang="en-US" sz="28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495300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Color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67400" y="4953001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Spatial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557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546164" y="579956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892745F3-FCBD-40C1-8DA5-FDA8EEAECA32}" type="slidenum">
              <a:rPr lang="en-US" sz="2800">
                <a:solidFill>
                  <a:schemeClr val="tx1">
                    <a:alpha val="60000"/>
                  </a:schemeClr>
                </a:solidFill>
              </a:rPr>
              <a:pPr defTabSz="914485"/>
              <a:t>7</a:t>
            </a:fld>
            <a:endParaRPr lang="en-US" sz="2800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34326" y="184490"/>
            <a:ext cx="10090824" cy="1400530"/>
          </a:xfrm>
        </p:spPr>
        <p:txBody>
          <a:bodyPr vert="horz" lIns="91440" tIns="43247" rIns="91440" bIns="43247" rtlCol="0" anchor="t">
            <a:normAutofit/>
          </a:bodyPr>
          <a:lstStyle/>
          <a:p>
            <a:pPr eaLnBrk="1" hangingPunct="1"/>
            <a:r>
              <a:rPr lang="en-US" dirty="0"/>
              <a:t>Four “umbrella” principles of effective visualization</a:t>
            </a:r>
          </a:p>
        </p:txBody>
      </p:sp>
      <p:sp>
        <p:nvSpPr>
          <p:cNvPr id="18436" name="AutoShape 13"/>
          <p:cNvSpPr>
            <a:spLocks noChangeArrowheads="1"/>
          </p:cNvSpPr>
          <p:nvPr/>
        </p:nvSpPr>
        <p:spPr bwMode="blackWhite">
          <a:xfrm>
            <a:off x="4200052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Ensure integrity</a:t>
            </a:r>
          </a:p>
        </p:txBody>
      </p:sp>
      <p:sp>
        <p:nvSpPr>
          <p:cNvPr id="18437" name="AutoShape 14"/>
          <p:cNvSpPr>
            <a:spLocks noChangeArrowheads="1"/>
          </p:cNvSpPr>
          <p:nvPr/>
        </p:nvSpPr>
        <p:spPr bwMode="blackWhite">
          <a:xfrm>
            <a:off x="2211918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Know purpose</a:t>
            </a:r>
          </a:p>
        </p:txBody>
      </p:sp>
      <p:sp>
        <p:nvSpPr>
          <p:cNvPr id="18438" name="AutoShape 15"/>
          <p:cNvSpPr>
            <a:spLocks noChangeArrowheads="1"/>
          </p:cNvSpPr>
          <p:nvPr/>
        </p:nvSpPr>
        <p:spPr bwMode="blackWhite">
          <a:xfrm>
            <a:off x="6167061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0" tIns="43243" rIns="0" bIns="43243" anchor="ctr"/>
          <a:lstStyle/>
          <a:p>
            <a:pPr algn="ctr"/>
            <a:r>
              <a:rPr lang="en-US" sz="1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Maximize data ink; minimize non-data ink</a:t>
            </a:r>
          </a:p>
        </p:txBody>
      </p:sp>
      <p:sp>
        <p:nvSpPr>
          <p:cNvPr id="18439" name="AutoShape 16"/>
          <p:cNvSpPr>
            <a:spLocks noChangeArrowheads="1"/>
          </p:cNvSpPr>
          <p:nvPr/>
        </p:nvSpPr>
        <p:spPr bwMode="blackWhite">
          <a:xfrm>
            <a:off x="8146144" y="1585020"/>
            <a:ext cx="1892905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indent="6006"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Show your data; annotate</a:t>
            </a:r>
            <a:r>
              <a:rPr lang="en-US" sz="15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8440" name="AutoShape 17"/>
          <p:cNvSpPr>
            <a:spLocks/>
          </p:cNvSpPr>
          <p:nvPr/>
        </p:nvSpPr>
        <p:spPr bwMode="auto">
          <a:xfrm rot="5400000">
            <a:off x="5466181" y="-2288582"/>
            <a:ext cx="1169789" cy="8639024"/>
          </a:xfrm>
          <a:prstGeom prst="leftBracket">
            <a:avLst>
              <a:gd name="adj" fmla="val 60581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sp>
        <p:nvSpPr>
          <p:cNvPr id="18441" name="Freeform 18"/>
          <p:cNvSpPr>
            <a:spLocks/>
          </p:cNvSpPr>
          <p:nvPr/>
        </p:nvSpPr>
        <p:spPr bwMode="auto">
          <a:xfrm>
            <a:off x="1767850" y="2418141"/>
            <a:ext cx="8602738" cy="299144"/>
          </a:xfrm>
          <a:custGeom>
            <a:avLst/>
            <a:gdLst>
              <a:gd name="T0" fmla="*/ 0 w 5678"/>
              <a:gd name="T1" fmla="*/ 98 h 201"/>
              <a:gd name="T2" fmla="*/ 357 w 5678"/>
              <a:gd name="T3" fmla="*/ 15 h 201"/>
              <a:gd name="T4" fmla="*/ 677 w 5678"/>
              <a:gd name="T5" fmla="*/ 79 h 201"/>
              <a:gd name="T6" fmla="*/ 759 w 5678"/>
              <a:gd name="T7" fmla="*/ 162 h 201"/>
              <a:gd name="T8" fmla="*/ 1207 w 5678"/>
              <a:gd name="T9" fmla="*/ 70 h 201"/>
              <a:gd name="T10" fmla="*/ 1756 w 5678"/>
              <a:gd name="T11" fmla="*/ 134 h 201"/>
              <a:gd name="T12" fmla="*/ 2021 w 5678"/>
              <a:gd name="T13" fmla="*/ 52 h 201"/>
              <a:gd name="T14" fmla="*/ 2496 w 5678"/>
              <a:gd name="T15" fmla="*/ 153 h 201"/>
              <a:gd name="T16" fmla="*/ 3017 w 5678"/>
              <a:gd name="T17" fmla="*/ 61 h 201"/>
              <a:gd name="T18" fmla="*/ 3420 w 5678"/>
              <a:gd name="T19" fmla="*/ 180 h 201"/>
              <a:gd name="T20" fmla="*/ 4032 w 5678"/>
              <a:gd name="T21" fmla="*/ 34 h 201"/>
              <a:gd name="T22" fmla="*/ 4325 w 5678"/>
              <a:gd name="T23" fmla="*/ 153 h 201"/>
              <a:gd name="T24" fmla="*/ 4864 w 5678"/>
              <a:gd name="T25" fmla="*/ 6 h 201"/>
              <a:gd name="T26" fmla="*/ 5468 w 5678"/>
              <a:gd name="T27" fmla="*/ 189 h 201"/>
              <a:gd name="T28" fmla="*/ 5678 w 5678"/>
              <a:gd name="T29" fmla="*/ 79 h 20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678"/>
              <a:gd name="T46" fmla="*/ 0 h 201"/>
              <a:gd name="T47" fmla="*/ 5678 w 5678"/>
              <a:gd name="T48" fmla="*/ 201 h 20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678" h="201">
                <a:moveTo>
                  <a:pt x="0" y="98"/>
                </a:moveTo>
                <a:cubicBezTo>
                  <a:pt x="122" y="58"/>
                  <a:pt x="244" y="18"/>
                  <a:pt x="357" y="15"/>
                </a:cubicBezTo>
                <a:cubicBezTo>
                  <a:pt x="470" y="12"/>
                  <a:pt x="610" y="55"/>
                  <a:pt x="677" y="79"/>
                </a:cubicBezTo>
                <a:cubicBezTo>
                  <a:pt x="744" y="103"/>
                  <a:pt x="671" y="164"/>
                  <a:pt x="759" y="162"/>
                </a:cubicBezTo>
                <a:cubicBezTo>
                  <a:pt x="847" y="160"/>
                  <a:pt x="1041" y="75"/>
                  <a:pt x="1207" y="70"/>
                </a:cubicBezTo>
                <a:cubicBezTo>
                  <a:pt x="1373" y="65"/>
                  <a:pt x="1620" y="137"/>
                  <a:pt x="1756" y="134"/>
                </a:cubicBezTo>
                <a:cubicBezTo>
                  <a:pt x="1892" y="131"/>
                  <a:pt x="1898" y="49"/>
                  <a:pt x="2021" y="52"/>
                </a:cubicBezTo>
                <a:cubicBezTo>
                  <a:pt x="2144" y="55"/>
                  <a:pt x="2330" y="152"/>
                  <a:pt x="2496" y="153"/>
                </a:cubicBezTo>
                <a:cubicBezTo>
                  <a:pt x="2662" y="154"/>
                  <a:pt x="2863" y="56"/>
                  <a:pt x="3017" y="61"/>
                </a:cubicBezTo>
                <a:cubicBezTo>
                  <a:pt x="3171" y="66"/>
                  <a:pt x="3251" y="184"/>
                  <a:pt x="3420" y="180"/>
                </a:cubicBezTo>
                <a:cubicBezTo>
                  <a:pt x="3589" y="176"/>
                  <a:pt x="3881" y="38"/>
                  <a:pt x="4032" y="34"/>
                </a:cubicBezTo>
                <a:cubicBezTo>
                  <a:pt x="4183" y="30"/>
                  <a:pt x="4186" y="158"/>
                  <a:pt x="4325" y="153"/>
                </a:cubicBezTo>
                <a:cubicBezTo>
                  <a:pt x="4464" y="148"/>
                  <a:pt x="4674" y="0"/>
                  <a:pt x="4864" y="6"/>
                </a:cubicBezTo>
                <a:cubicBezTo>
                  <a:pt x="5054" y="12"/>
                  <a:pt x="5332" y="177"/>
                  <a:pt x="5468" y="189"/>
                </a:cubicBezTo>
                <a:cubicBezTo>
                  <a:pt x="5604" y="201"/>
                  <a:pt x="5642" y="97"/>
                  <a:pt x="5678" y="79"/>
                </a:cubicBezTo>
              </a:path>
            </a:pathLst>
          </a:cu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lIns="86493" tIns="43247" rIns="86493" bIns="43247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6011334" y="2518174"/>
            <a:ext cx="654655" cy="759023"/>
            <a:chOff x="2968" y="1692"/>
            <a:chExt cx="433" cy="510"/>
          </a:xfrm>
        </p:grpSpPr>
        <p:sp>
          <p:nvSpPr>
            <p:cNvPr id="18443" name="AutoShape 20"/>
            <p:cNvSpPr>
              <a:spLocks noChangeArrowheads="1"/>
            </p:cNvSpPr>
            <p:nvPr/>
          </p:nvSpPr>
          <p:spPr bwMode="gray">
            <a:xfrm rot="10800000">
              <a:off x="2971" y="1836"/>
              <a:ext cx="430" cy="366"/>
            </a:xfrm>
            <a:custGeom>
              <a:avLst/>
              <a:gdLst>
                <a:gd name="T0" fmla="*/ 215 w 21600"/>
                <a:gd name="T1" fmla="*/ 0 h 21600"/>
                <a:gd name="T2" fmla="*/ 54 w 21600"/>
                <a:gd name="T3" fmla="*/ 183 h 21600"/>
                <a:gd name="T4" fmla="*/ 215 w 21600"/>
                <a:gd name="T5" fmla="*/ 92 h 21600"/>
                <a:gd name="T6" fmla="*/ 376 w 21600"/>
                <a:gd name="T7" fmla="*/ 18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accent2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40000"/>
                </a:spcBef>
                <a:buSzPct val="125000"/>
              </a:pPr>
              <a:endParaRPr lang="en-US"/>
            </a:p>
          </p:txBody>
        </p:sp>
        <p:sp>
          <p:nvSpPr>
            <p:cNvPr id="18444" name="Rectangle 21"/>
            <p:cNvSpPr>
              <a:spLocks noChangeArrowheads="1"/>
            </p:cNvSpPr>
            <p:nvPr/>
          </p:nvSpPr>
          <p:spPr bwMode="gray">
            <a:xfrm>
              <a:off x="2968" y="1692"/>
              <a:ext cx="110" cy="324"/>
            </a:xfrm>
            <a:prstGeom prst="rect">
              <a:avLst/>
            </a:prstGeom>
            <a:solidFill>
              <a:schemeClr val="accent2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40000"/>
                </a:spcBef>
                <a:buSzPct val="125000"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0149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574739" y="620018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E040AA66-D70F-49F1-9D73-9E200C8B3C96}" type="slidenum">
              <a:rPr lang="en-US" sz="2800"/>
              <a:pPr defTabSz="914485"/>
              <a:t>8</a:t>
            </a:fld>
            <a:endParaRPr lang="en-US" sz="2800" dirty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34326" y="72153"/>
            <a:ext cx="9404723" cy="1400530"/>
          </a:xfrm>
        </p:spPr>
        <p:txBody>
          <a:bodyPr vert="horz" lIns="91440" tIns="43247" rIns="91440" bIns="43247" rtlCol="0" anchor="t">
            <a:normAutofit/>
          </a:bodyPr>
          <a:lstStyle/>
          <a:p>
            <a:pPr eaLnBrk="1" hangingPunct="1"/>
            <a:r>
              <a:rPr lang="en-US" dirty="0"/>
              <a:t>Knowing your purpose drives all other decisions</a:t>
            </a:r>
          </a:p>
        </p:txBody>
      </p:sp>
      <p:sp>
        <p:nvSpPr>
          <p:cNvPr id="19460" name="AutoShape 8"/>
          <p:cNvSpPr>
            <a:spLocks noChangeArrowheads="1"/>
          </p:cNvSpPr>
          <p:nvPr/>
        </p:nvSpPr>
        <p:spPr bwMode="gray">
          <a:xfrm>
            <a:off x="4189489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Ensure integrity</a:t>
            </a:r>
          </a:p>
        </p:txBody>
      </p:sp>
      <p:sp>
        <p:nvSpPr>
          <p:cNvPr id="19461" name="AutoShape 9"/>
          <p:cNvSpPr>
            <a:spLocks noChangeArrowheads="1"/>
          </p:cNvSpPr>
          <p:nvPr/>
        </p:nvSpPr>
        <p:spPr bwMode="blackWhite">
          <a:xfrm>
            <a:off x="2211918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algn="ctr"/>
            <a:r>
              <a:rPr lang="en-US" sz="1500" dirty="0"/>
              <a:t>Know purpose</a:t>
            </a:r>
          </a:p>
        </p:txBody>
      </p:sp>
      <p:sp>
        <p:nvSpPr>
          <p:cNvPr id="19462" name="AutoShape 10"/>
          <p:cNvSpPr>
            <a:spLocks noChangeArrowheads="1"/>
          </p:cNvSpPr>
          <p:nvPr/>
        </p:nvSpPr>
        <p:spPr bwMode="gray">
          <a:xfrm>
            <a:off x="6167061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0" tIns="43243" rIns="0" bIns="43243" anchor="ctr"/>
          <a:lstStyle/>
          <a:p>
            <a:pPr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Maximize data ink; minimize non-data ink</a:t>
            </a:r>
          </a:p>
        </p:txBody>
      </p:sp>
      <p:sp>
        <p:nvSpPr>
          <p:cNvPr id="19463" name="AutoShape 11"/>
          <p:cNvSpPr>
            <a:spLocks noChangeArrowheads="1"/>
          </p:cNvSpPr>
          <p:nvPr/>
        </p:nvSpPr>
        <p:spPr bwMode="gray">
          <a:xfrm>
            <a:off x="8146144" y="1585020"/>
            <a:ext cx="1892905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indent="6006"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Show your data; annotate</a:t>
            </a:r>
            <a:r>
              <a:rPr lang="en-US" sz="15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9464" name="AutoShape 12"/>
          <p:cNvSpPr>
            <a:spLocks/>
          </p:cNvSpPr>
          <p:nvPr/>
        </p:nvSpPr>
        <p:spPr bwMode="auto">
          <a:xfrm rot="5400000">
            <a:off x="5521744" y="-2344563"/>
            <a:ext cx="1169789" cy="8639024"/>
          </a:xfrm>
          <a:prstGeom prst="leftBracket">
            <a:avLst>
              <a:gd name="adj" fmla="val 60581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sp>
        <p:nvSpPr>
          <p:cNvPr id="19465" name="Freeform 13"/>
          <p:cNvSpPr>
            <a:spLocks/>
          </p:cNvSpPr>
          <p:nvPr/>
        </p:nvSpPr>
        <p:spPr bwMode="auto">
          <a:xfrm>
            <a:off x="1827894" y="2432150"/>
            <a:ext cx="8602738" cy="299144"/>
          </a:xfrm>
          <a:custGeom>
            <a:avLst/>
            <a:gdLst>
              <a:gd name="T0" fmla="*/ 0 w 5678"/>
              <a:gd name="T1" fmla="*/ 98 h 201"/>
              <a:gd name="T2" fmla="*/ 357 w 5678"/>
              <a:gd name="T3" fmla="*/ 15 h 201"/>
              <a:gd name="T4" fmla="*/ 677 w 5678"/>
              <a:gd name="T5" fmla="*/ 79 h 201"/>
              <a:gd name="T6" fmla="*/ 759 w 5678"/>
              <a:gd name="T7" fmla="*/ 162 h 201"/>
              <a:gd name="T8" fmla="*/ 1207 w 5678"/>
              <a:gd name="T9" fmla="*/ 70 h 201"/>
              <a:gd name="T10" fmla="*/ 1756 w 5678"/>
              <a:gd name="T11" fmla="*/ 134 h 201"/>
              <a:gd name="T12" fmla="*/ 2021 w 5678"/>
              <a:gd name="T13" fmla="*/ 52 h 201"/>
              <a:gd name="T14" fmla="*/ 2496 w 5678"/>
              <a:gd name="T15" fmla="*/ 153 h 201"/>
              <a:gd name="T16" fmla="*/ 3017 w 5678"/>
              <a:gd name="T17" fmla="*/ 61 h 201"/>
              <a:gd name="T18" fmla="*/ 3420 w 5678"/>
              <a:gd name="T19" fmla="*/ 180 h 201"/>
              <a:gd name="T20" fmla="*/ 4032 w 5678"/>
              <a:gd name="T21" fmla="*/ 34 h 201"/>
              <a:gd name="T22" fmla="*/ 4325 w 5678"/>
              <a:gd name="T23" fmla="*/ 153 h 201"/>
              <a:gd name="T24" fmla="*/ 4864 w 5678"/>
              <a:gd name="T25" fmla="*/ 6 h 201"/>
              <a:gd name="T26" fmla="*/ 5468 w 5678"/>
              <a:gd name="T27" fmla="*/ 189 h 201"/>
              <a:gd name="T28" fmla="*/ 5678 w 5678"/>
              <a:gd name="T29" fmla="*/ 79 h 20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678"/>
              <a:gd name="T46" fmla="*/ 0 h 201"/>
              <a:gd name="T47" fmla="*/ 5678 w 5678"/>
              <a:gd name="T48" fmla="*/ 201 h 20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678" h="201">
                <a:moveTo>
                  <a:pt x="0" y="98"/>
                </a:moveTo>
                <a:cubicBezTo>
                  <a:pt x="122" y="58"/>
                  <a:pt x="244" y="18"/>
                  <a:pt x="357" y="15"/>
                </a:cubicBezTo>
                <a:cubicBezTo>
                  <a:pt x="470" y="12"/>
                  <a:pt x="610" y="55"/>
                  <a:pt x="677" y="79"/>
                </a:cubicBezTo>
                <a:cubicBezTo>
                  <a:pt x="744" y="103"/>
                  <a:pt x="671" y="164"/>
                  <a:pt x="759" y="162"/>
                </a:cubicBezTo>
                <a:cubicBezTo>
                  <a:pt x="847" y="160"/>
                  <a:pt x="1041" y="75"/>
                  <a:pt x="1207" y="70"/>
                </a:cubicBezTo>
                <a:cubicBezTo>
                  <a:pt x="1373" y="65"/>
                  <a:pt x="1620" y="137"/>
                  <a:pt x="1756" y="134"/>
                </a:cubicBezTo>
                <a:cubicBezTo>
                  <a:pt x="1892" y="131"/>
                  <a:pt x="1898" y="49"/>
                  <a:pt x="2021" y="52"/>
                </a:cubicBezTo>
                <a:cubicBezTo>
                  <a:pt x="2144" y="55"/>
                  <a:pt x="2330" y="152"/>
                  <a:pt x="2496" y="153"/>
                </a:cubicBezTo>
                <a:cubicBezTo>
                  <a:pt x="2662" y="154"/>
                  <a:pt x="2863" y="56"/>
                  <a:pt x="3017" y="61"/>
                </a:cubicBezTo>
                <a:cubicBezTo>
                  <a:pt x="3171" y="66"/>
                  <a:pt x="3251" y="184"/>
                  <a:pt x="3420" y="180"/>
                </a:cubicBezTo>
                <a:cubicBezTo>
                  <a:pt x="3589" y="176"/>
                  <a:pt x="3881" y="38"/>
                  <a:pt x="4032" y="34"/>
                </a:cubicBezTo>
                <a:cubicBezTo>
                  <a:pt x="4183" y="30"/>
                  <a:pt x="4186" y="158"/>
                  <a:pt x="4325" y="153"/>
                </a:cubicBezTo>
                <a:cubicBezTo>
                  <a:pt x="4464" y="148"/>
                  <a:pt x="4674" y="0"/>
                  <a:pt x="4864" y="6"/>
                </a:cubicBezTo>
                <a:cubicBezTo>
                  <a:pt x="5054" y="12"/>
                  <a:pt x="5332" y="177"/>
                  <a:pt x="5468" y="189"/>
                </a:cubicBezTo>
                <a:cubicBezTo>
                  <a:pt x="5604" y="201"/>
                  <a:pt x="5642" y="97"/>
                  <a:pt x="5678" y="79"/>
                </a:cubicBezTo>
              </a:path>
            </a:pathLst>
          </a:cu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lIns="86493" tIns="43247" rIns="86493" bIns="43247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011334" y="2594374"/>
            <a:ext cx="654655" cy="759023"/>
            <a:chOff x="2968" y="1770"/>
            <a:chExt cx="433" cy="510"/>
          </a:xfrm>
        </p:grpSpPr>
        <p:sp>
          <p:nvSpPr>
            <p:cNvPr id="19470" name="AutoShape 17"/>
            <p:cNvSpPr>
              <a:spLocks noChangeArrowheads="1"/>
            </p:cNvSpPr>
            <p:nvPr/>
          </p:nvSpPr>
          <p:spPr bwMode="gray">
            <a:xfrm rot="10800000">
              <a:off x="2971" y="1914"/>
              <a:ext cx="430" cy="366"/>
            </a:xfrm>
            <a:custGeom>
              <a:avLst/>
              <a:gdLst>
                <a:gd name="T0" fmla="*/ 215 w 21600"/>
                <a:gd name="T1" fmla="*/ 0 h 21600"/>
                <a:gd name="T2" fmla="*/ 54 w 21600"/>
                <a:gd name="T3" fmla="*/ 183 h 21600"/>
                <a:gd name="T4" fmla="*/ 215 w 21600"/>
                <a:gd name="T5" fmla="*/ 92 h 21600"/>
                <a:gd name="T6" fmla="*/ 376 w 21600"/>
                <a:gd name="T7" fmla="*/ 18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accent2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40000"/>
                </a:spcBef>
                <a:buSzPct val="125000"/>
              </a:pPr>
              <a:endParaRPr lang="en-US"/>
            </a:p>
          </p:txBody>
        </p:sp>
        <p:sp>
          <p:nvSpPr>
            <p:cNvPr id="19471" name="Rectangle 18"/>
            <p:cNvSpPr>
              <a:spLocks noChangeArrowheads="1"/>
            </p:cNvSpPr>
            <p:nvPr/>
          </p:nvSpPr>
          <p:spPr bwMode="gray">
            <a:xfrm>
              <a:off x="2968" y="1770"/>
              <a:ext cx="110" cy="324"/>
            </a:xfrm>
            <a:prstGeom prst="rect">
              <a:avLst/>
            </a:prstGeom>
            <a:solidFill>
              <a:schemeClr val="accent2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40000"/>
                </a:spcBef>
                <a:buSzPct val="125000"/>
              </a:pPr>
              <a:endParaRPr lang="en-US"/>
            </a:p>
          </p:txBody>
        </p:sp>
      </p:grpSp>
      <p:cxnSp>
        <p:nvCxnSpPr>
          <p:cNvPr id="19467" name="AutoShape 21"/>
          <p:cNvCxnSpPr>
            <a:cxnSpLocks noChangeShapeType="1"/>
            <a:stCxn id="19461" idx="2"/>
            <a:endCxn id="19468" idx="1"/>
          </p:cNvCxnSpPr>
          <p:nvPr/>
        </p:nvCxnSpPr>
        <p:spPr bwMode="auto">
          <a:xfrm rot="16200000" flipH="1">
            <a:off x="2262189" y="3201553"/>
            <a:ext cx="2333625" cy="538238"/>
          </a:xfrm>
          <a:prstGeom prst="bentConnector2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</p:cxnSp>
      <p:sp>
        <p:nvSpPr>
          <p:cNvPr id="19468" name="AutoShape 22"/>
          <p:cNvSpPr>
            <a:spLocks noChangeArrowheads="1"/>
          </p:cNvSpPr>
          <p:nvPr/>
        </p:nvSpPr>
        <p:spPr bwMode="blackWhite">
          <a:xfrm>
            <a:off x="3698119" y="3445372"/>
            <a:ext cx="6513286" cy="2382738"/>
          </a:xfrm>
          <a:prstGeom prst="roundRect">
            <a:avLst>
              <a:gd name="adj" fmla="val 16667"/>
            </a:avLst>
          </a:prstGeom>
          <a:noFill/>
          <a:ln w="19050">
            <a:noFill/>
            <a:round/>
            <a:headEnd/>
            <a:tailEnd/>
          </a:ln>
        </p:spPr>
        <p:txBody>
          <a:bodyPr lIns="86486" tIns="43243" rIns="86486" bIns="43243"/>
          <a:lstStyle/>
          <a:p>
            <a:r>
              <a:rPr lang="en-US" sz="1500" dirty="0"/>
              <a:t>You need to have a purpose statement for every table or graph you create and design the display to serve the purpose…</a:t>
            </a:r>
          </a:p>
          <a:p>
            <a:endParaRPr lang="en-US" sz="1500" dirty="0"/>
          </a:p>
          <a:p>
            <a:r>
              <a:rPr lang="en-US" sz="1500" dirty="0"/>
              <a:t>“My purpose in creating this is ___________________</a:t>
            </a:r>
          </a:p>
          <a:p>
            <a:endParaRPr lang="en-US" sz="1500" dirty="0"/>
          </a:p>
          <a:p>
            <a:r>
              <a:rPr lang="en-US" sz="1500" dirty="0"/>
              <a:t>For example:</a:t>
            </a:r>
          </a:p>
          <a:p>
            <a:r>
              <a:rPr lang="en-US" sz="1500" i="1" dirty="0"/>
              <a:t>My purpose in creating this graph to help the audience see that only a small percentage the patient base are candidates for this specific therapeutic regimen.</a:t>
            </a:r>
          </a:p>
        </p:txBody>
      </p:sp>
      <p:sp>
        <p:nvSpPr>
          <p:cNvPr id="19469" name="AutoShape 23"/>
          <p:cNvSpPr>
            <a:spLocks noChangeArrowheads="1"/>
          </p:cNvSpPr>
          <p:nvPr/>
        </p:nvSpPr>
        <p:spPr bwMode="blackWhite">
          <a:xfrm>
            <a:off x="3131157" y="5780486"/>
            <a:ext cx="5959929" cy="38397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lIns="95108" tIns="43231" rIns="95108" bIns="43231">
            <a:spAutoFit/>
          </a:bodyPr>
          <a:lstStyle/>
          <a:p>
            <a:pPr algn="ctr">
              <a:spcBef>
                <a:spcPct val="40000"/>
              </a:spcBef>
              <a:buSzPct val="125000"/>
            </a:pPr>
            <a:r>
              <a:rPr lang="en-US" sz="1700" dirty="0">
                <a:solidFill>
                  <a:srgbClr val="000000"/>
                </a:solidFill>
              </a:rPr>
              <a:t>Note: a purpose is not necessarily a message. </a:t>
            </a:r>
          </a:p>
        </p:txBody>
      </p:sp>
    </p:spTree>
    <p:extLst>
      <p:ext uri="{BB962C8B-B14F-4D97-AF65-F5344CB8AC3E}">
        <p14:creationId xmlns:p14="http://schemas.microsoft.com/office/powerpoint/2010/main" val="337827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546164" y="525783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D68F58B3-642E-480A-93E0-4D23A01EC4BE}" type="slidenum">
              <a:rPr lang="en-US" sz="2800"/>
              <a:pPr defTabSz="914485"/>
              <a:t>9</a:t>
            </a:fld>
            <a:endParaRPr lang="en-US" sz="2800" dirty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34326" y="25543"/>
            <a:ext cx="9404723" cy="1400530"/>
          </a:xfrm>
        </p:spPr>
        <p:txBody>
          <a:bodyPr vert="horz" lIns="91440" tIns="43247" rIns="91440" bIns="43247" rtlCol="0" anchor="t">
            <a:normAutofit/>
          </a:bodyPr>
          <a:lstStyle/>
          <a:p>
            <a:pPr eaLnBrk="1" hangingPunct="1"/>
            <a:r>
              <a:rPr lang="en-US" dirty="0"/>
              <a:t>Ensuring integrity is not just being correct; it  also means no distortion</a:t>
            </a:r>
          </a:p>
        </p:txBody>
      </p:sp>
      <p:sp>
        <p:nvSpPr>
          <p:cNvPr id="20484" name="AutoShape 22"/>
          <p:cNvSpPr>
            <a:spLocks noChangeArrowheads="1"/>
          </p:cNvSpPr>
          <p:nvPr/>
        </p:nvSpPr>
        <p:spPr bwMode="blackWhite">
          <a:xfrm>
            <a:off x="4189489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algn="ctr"/>
            <a:r>
              <a:rPr lang="en-US" sz="1500" dirty="0"/>
              <a:t>Ensure integrity</a:t>
            </a:r>
          </a:p>
        </p:txBody>
      </p:sp>
      <p:sp>
        <p:nvSpPr>
          <p:cNvPr id="20485" name="AutoShape 23"/>
          <p:cNvSpPr>
            <a:spLocks noChangeArrowheads="1"/>
          </p:cNvSpPr>
          <p:nvPr/>
        </p:nvSpPr>
        <p:spPr bwMode="gray">
          <a:xfrm>
            <a:off x="2211918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Know purpose</a:t>
            </a:r>
          </a:p>
        </p:txBody>
      </p:sp>
      <p:sp>
        <p:nvSpPr>
          <p:cNvPr id="20486" name="AutoShape 24"/>
          <p:cNvSpPr>
            <a:spLocks noChangeArrowheads="1"/>
          </p:cNvSpPr>
          <p:nvPr/>
        </p:nvSpPr>
        <p:spPr bwMode="gray">
          <a:xfrm>
            <a:off x="6167061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0" tIns="43243" rIns="0" bIns="43243" anchor="ctr"/>
          <a:lstStyle/>
          <a:p>
            <a:pPr algn="ctr"/>
            <a:r>
              <a:rPr lang="en-US" sz="1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Maximize data ink; minimize non-data ink</a:t>
            </a:r>
          </a:p>
        </p:txBody>
      </p:sp>
      <p:sp>
        <p:nvSpPr>
          <p:cNvPr id="20487" name="AutoShape 25"/>
          <p:cNvSpPr>
            <a:spLocks noChangeArrowheads="1"/>
          </p:cNvSpPr>
          <p:nvPr/>
        </p:nvSpPr>
        <p:spPr bwMode="gray">
          <a:xfrm>
            <a:off x="8146144" y="1585020"/>
            <a:ext cx="1892905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indent="6006"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Show your data; annotate</a:t>
            </a:r>
            <a:r>
              <a:rPr lang="en-US" sz="15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20488" name="AutoShape 26"/>
          <p:cNvSpPr>
            <a:spLocks/>
          </p:cNvSpPr>
          <p:nvPr/>
        </p:nvSpPr>
        <p:spPr bwMode="auto">
          <a:xfrm rot="5400000">
            <a:off x="5521690" y="-2352599"/>
            <a:ext cx="1169789" cy="8639024"/>
          </a:xfrm>
          <a:prstGeom prst="leftBracket">
            <a:avLst>
              <a:gd name="adj" fmla="val 60581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sp>
        <p:nvSpPr>
          <p:cNvPr id="20489" name="Freeform 27"/>
          <p:cNvSpPr>
            <a:spLocks/>
          </p:cNvSpPr>
          <p:nvPr/>
        </p:nvSpPr>
        <p:spPr bwMode="auto">
          <a:xfrm>
            <a:off x="1827894" y="2403575"/>
            <a:ext cx="8602738" cy="299144"/>
          </a:xfrm>
          <a:custGeom>
            <a:avLst/>
            <a:gdLst>
              <a:gd name="T0" fmla="*/ 0 w 5678"/>
              <a:gd name="T1" fmla="*/ 98 h 201"/>
              <a:gd name="T2" fmla="*/ 357 w 5678"/>
              <a:gd name="T3" fmla="*/ 15 h 201"/>
              <a:gd name="T4" fmla="*/ 677 w 5678"/>
              <a:gd name="T5" fmla="*/ 79 h 201"/>
              <a:gd name="T6" fmla="*/ 759 w 5678"/>
              <a:gd name="T7" fmla="*/ 162 h 201"/>
              <a:gd name="T8" fmla="*/ 1207 w 5678"/>
              <a:gd name="T9" fmla="*/ 70 h 201"/>
              <a:gd name="T10" fmla="*/ 1756 w 5678"/>
              <a:gd name="T11" fmla="*/ 134 h 201"/>
              <a:gd name="T12" fmla="*/ 2021 w 5678"/>
              <a:gd name="T13" fmla="*/ 52 h 201"/>
              <a:gd name="T14" fmla="*/ 2496 w 5678"/>
              <a:gd name="T15" fmla="*/ 153 h 201"/>
              <a:gd name="T16" fmla="*/ 3017 w 5678"/>
              <a:gd name="T17" fmla="*/ 61 h 201"/>
              <a:gd name="T18" fmla="*/ 3420 w 5678"/>
              <a:gd name="T19" fmla="*/ 180 h 201"/>
              <a:gd name="T20" fmla="*/ 4032 w 5678"/>
              <a:gd name="T21" fmla="*/ 34 h 201"/>
              <a:gd name="T22" fmla="*/ 4325 w 5678"/>
              <a:gd name="T23" fmla="*/ 153 h 201"/>
              <a:gd name="T24" fmla="*/ 4864 w 5678"/>
              <a:gd name="T25" fmla="*/ 6 h 201"/>
              <a:gd name="T26" fmla="*/ 5468 w 5678"/>
              <a:gd name="T27" fmla="*/ 189 h 201"/>
              <a:gd name="T28" fmla="*/ 5678 w 5678"/>
              <a:gd name="T29" fmla="*/ 79 h 20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678"/>
              <a:gd name="T46" fmla="*/ 0 h 201"/>
              <a:gd name="T47" fmla="*/ 5678 w 5678"/>
              <a:gd name="T48" fmla="*/ 201 h 20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678" h="201">
                <a:moveTo>
                  <a:pt x="0" y="98"/>
                </a:moveTo>
                <a:cubicBezTo>
                  <a:pt x="122" y="58"/>
                  <a:pt x="244" y="18"/>
                  <a:pt x="357" y="15"/>
                </a:cubicBezTo>
                <a:cubicBezTo>
                  <a:pt x="470" y="12"/>
                  <a:pt x="610" y="55"/>
                  <a:pt x="677" y="79"/>
                </a:cubicBezTo>
                <a:cubicBezTo>
                  <a:pt x="744" y="103"/>
                  <a:pt x="671" y="164"/>
                  <a:pt x="759" y="162"/>
                </a:cubicBezTo>
                <a:cubicBezTo>
                  <a:pt x="847" y="160"/>
                  <a:pt x="1041" y="75"/>
                  <a:pt x="1207" y="70"/>
                </a:cubicBezTo>
                <a:cubicBezTo>
                  <a:pt x="1373" y="65"/>
                  <a:pt x="1620" y="137"/>
                  <a:pt x="1756" y="134"/>
                </a:cubicBezTo>
                <a:cubicBezTo>
                  <a:pt x="1892" y="131"/>
                  <a:pt x="1898" y="49"/>
                  <a:pt x="2021" y="52"/>
                </a:cubicBezTo>
                <a:cubicBezTo>
                  <a:pt x="2144" y="55"/>
                  <a:pt x="2330" y="152"/>
                  <a:pt x="2496" y="153"/>
                </a:cubicBezTo>
                <a:cubicBezTo>
                  <a:pt x="2662" y="154"/>
                  <a:pt x="2863" y="56"/>
                  <a:pt x="3017" y="61"/>
                </a:cubicBezTo>
                <a:cubicBezTo>
                  <a:pt x="3171" y="66"/>
                  <a:pt x="3251" y="184"/>
                  <a:pt x="3420" y="180"/>
                </a:cubicBezTo>
                <a:cubicBezTo>
                  <a:pt x="3589" y="176"/>
                  <a:pt x="3881" y="38"/>
                  <a:pt x="4032" y="34"/>
                </a:cubicBezTo>
                <a:cubicBezTo>
                  <a:pt x="4183" y="30"/>
                  <a:pt x="4186" y="158"/>
                  <a:pt x="4325" y="153"/>
                </a:cubicBezTo>
                <a:cubicBezTo>
                  <a:pt x="4464" y="148"/>
                  <a:pt x="4674" y="0"/>
                  <a:pt x="4864" y="6"/>
                </a:cubicBezTo>
                <a:cubicBezTo>
                  <a:pt x="5054" y="12"/>
                  <a:pt x="5332" y="177"/>
                  <a:pt x="5468" y="189"/>
                </a:cubicBezTo>
                <a:cubicBezTo>
                  <a:pt x="5604" y="201"/>
                  <a:pt x="5642" y="97"/>
                  <a:pt x="5678" y="79"/>
                </a:cubicBezTo>
              </a:path>
            </a:pathLst>
          </a:cu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lIns="86493" tIns="43247" rIns="86493" bIns="43247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6011334" y="2518174"/>
            <a:ext cx="654655" cy="759023"/>
            <a:chOff x="2968" y="1770"/>
            <a:chExt cx="433" cy="510"/>
          </a:xfrm>
        </p:grpSpPr>
        <p:sp>
          <p:nvSpPr>
            <p:cNvPr id="20496" name="AutoShape 29"/>
            <p:cNvSpPr>
              <a:spLocks noChangeArrowheads="1"/>
            </p:cNvSpPr>
            <p:nvPr/>
          </p:nvSpPr>
          <p:spPr bwMode="gray">
            <a:xfrm rot="10800000">
              <a:off x="2971" y="1914"/>
              <a:ext cx="430" cy="366"/>
            </a:xfrm>
            <a:custGeom>
              <a:avLst/>
              <a:gdLst>
                <a:gd name="T0" fmla="*/ 215 w 21600"/>
                <a:gd name="T1" fmla="*/ 0 h 21600"/>
                <a:gd name="T2" fmla="*/ 54 w 21600"/>
                <a:gd name="T3" fmla="*/ 183 h 21600"/>
                <a:gd name="T4" fmla="*/ 215 w 21600"/>
                <a:gd name="T5" fmla="*/ 92 h 21600"/>
                <a:gd name="T6" fmla="*/ 376 w 21600"/>
                <a:gd name="T7" fmla="*/ 18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accent2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40000"/>
                </a:spcBef>
                <a:buSzPct val="125000"/>
              </a:pPr>
              <a:endParaRPr lang="en-US"/>
            </a:p>
          </p:txBody>
        </p:sp>
        <p:sp>
          <p:nvSpPr>
            <p:cNvPr id="20497" name="Rectangle 30"/>
            <p:cNvSpPr>
              <a:spLocks noChangeArrowheads="1"/>
            </p:cNvSpPr>
            <p:nvPr/>
          </p:nvSpPr>
          <p:spPr bwMode="gray">
            <a:xfrm>
              <a:off x="2968" y="1770"/>
              <a:ext cx="110" cy="324"/>
            </a:xfrm>
            <a:prstGeom prst="rect">
              <a:avLst/>
            </a:prstGeom>
            <a:solidFill>
              <a:schemeClr val="accent2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40000"/>
                </a:spcBef>
                <a:buSzPct val="125000"/>
              </a:pPr>
              <a:endParaRPr lang="en-US"/>
            </a:p>
          </p:txBody>
        </p:sp>
      </p:grpSp>
      <p:sp>
        <p:nvSpPr>
          <p:cNvPr id="20491" name="Rectangle 31"/>
          <p:cNvSpPr>
            <a:spLocks noChangeArrowheads="1"/>
          </p:cNvSpPr>
          <p:nvPr/>
        </p:nvSpPr>
        <p:spPr bwMode="auto">
          <a:xfrm>
            <a:off x="1524001" y="2643188"/>
            <a:ext cx="3448655" cy="7739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493" tIns="43247" rIns="86493" bIns="43247" anchor="ctr">
            <a:spAutoFit/>
          </a:bodyPr>
          <a:lstStyle/>
          <a:p>
            <a:pPr algn="r"/>
            <a:r>
              <a:rPr lang="en-US" sz="1500" dirty="0"/>
              <a:t>…not only that the information correct, but that it is presented in a way that doesn’t distort the truth. </a:t>
            </a:r>
          </a:p>
        </p:txBody>
      </p:sp>
      <p:pic>
        <p:nvPicPr>
          <p:cNvPr id="20492" name="Picture 3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black">
          <a:xfrm>
            <a:off x="1524000" y="4192489"/>
            <a:ext cx="4482798" cy="24869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493" name="Picture 3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black">
          <a:xfrm>
            <a:off x="6201835" y="4193977"/>
            <a:ext cx="4466167" cy="24854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20494" name="AutoShape 35"/>
          <p:cNvCxnSpPr>
            <a:cxnSpLocks noChangeShapeType="1"/>
            <a:stCxn id="20484" idx="2"/>
            <a:endCxn id="20491" idx="3"/>
          </p:cNvCxnSpPr>
          <p:nvPr/>
        </p:nvCxnSpPr>
        <p:spPr bwMode="auto">
          <a:xfrm rot="5400000">
            <a:off x="4691915" y="2584603"/>
            <a:ext cx="726281" cy="164797"/>
          </a:xfrm>
          <a:prstGeom prst="bentConnector2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</p:cxnSp>
      <p:sp>
        <p:nvSpPr>
          <p:cNvPr id="20495" name="Rectangle 36"/>
          <p:cNvSpPr>
            <a:spLocks noChangeArrowheads="1"/>
          </p:cNvSpPr>
          <p:nvPr/>
        </p:nvSpPr>
        <p:spPr bwMode="auto">
          <a:xfrm>
            <a:off x="1821846" y="3505201"/>
            <a:ext cx="8605762" cy="5447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493" tIns="43247" rIns="86493" bIns="43247" anchor="ctr">
            <a:spAutoFit/>
          </a:bodyPr>
          <a:lstStyle/>
          <a:p>
            <a:r>
              <a:rPr lang="en-US" sz="1500" dirty="0"/>
              <a:t>Compare these two earnings-per-share graphs…the number are the same, but different scales convey different messages. The graph on the left is deceitful…</a:t>
            </a:r>
          </a:p>
        </p:txBody>
      </p:sp>
    </p:spTree>
    <p:extLst>
      <p:ext uri="{BB962C8B-B14F-4D97-AF65-F5344CB8AC3E}">
        <p14:creationId xmlns:p14="http://schemas.microsoft.com/office/powerpoint/2010/main" val="219805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431864" y="448437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3BC5C39F-0787-4E6B-819A-EF4752FF7779}" type="slidenum">
              <a:rPr lang="en-US" sz="2800"/>
              <a:pPr defTabSz="914485"/>
              <a:t>10</a:t>
            </a:fld>
            <a:endParaRPr lang="en-US" sz="2800" dirty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71525" y="155448"/>
            <a:ext cx="9591675" cy="1252728"/>
          </a:xfrm>
        </p:spPr>
        <p:txBody>
          <a:bodyPr vert="horz" lIns="91440" tIns="43247" rIns="91440" bIns="43247" rtlCol="0" anchor="t">
            <a:normAutofit fontScale="90000"/>
          </a:bodyPr>
          <a:lstStyle/>
          <a:p>
            <a:pPr eaLnBrk="1" hangingPunct="1"/>
            <a:r>
              <a:rPr lang="en-US" dirty="0"/>
              <a:t>Use the least amount of ink to convey the most amount of information</a:t>
            </a:r>
          </a:p>
        </p:txBody>
      </p:sp>
      <p:sp>
        <p:nvSpPr>
          <p:cNvPr id="21508" name="AutoShape 13"/>
          <p:cNvSpPr>
            <a:spLocks noChangeArrowheads="1"/>
          </p:cNvSpPr>
          <p:nvPr/>
        </p:nvSpPr>
        <p:spPr bwMode="gray">
          <a:xfrm>
            <a:off x="4189489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Ensure integrity</a:t>
            </a:r>
          </a:p>
        </p:txBody>
      </p:sp>
      <p:sp>
        <p:nvSpPr>
          <p:cNvPr id="21509" name="AutoShape 14"/>
          <p:cNvSpPr>
            <a:spLocks noChangeArrowheads="1"/>
          </p:cNvSpPr>
          <p:nvPr/>
        </p:nvSpPr>
        <p:spPr bwMode="gray">
          <a:xfrm>
            <a:off x="2211918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Know purpose</a:t>
            </a:r>
          </a:p>
        </p:txBody>
      </p:sp>
      <p:sp>
        <p:nvSpPr>
          <p:cNvPr id="21510" name="AutoShape 15"/>
          <p:cNvSpPr>
            <a:spLocks noChangeArrowheads="1"/>
          </p:cNvSpPr>
          <p:nvPr/>
        </p:nvSpPr>
        <p:spPr bwMode="blackWhite">
          <a:xfrm>
            <a:off x="6167061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0" tIns="43243" rIns="0" bIns="43243" anchor="ctr"/>
          <a:lstStyle/>
          <a:p>
            <a:pPr algn="ctr"/>
            <a:r>
              <a:rPr lang="en-US" sz="1500" dirty="0"/>
              <a:t>Maximize data ink; minimize non-data ink</a:t>
            </a:r>
          </a:p>
        </p:txBody>
      </p:sp>
      <p:sp>
        <p:nvSpPr>
          <p:cNvPr id="21511" name="AutoShape 16"/>
          <p:cNvSpPr>
            <a:spLocks noChangeArrowheads="1"/>
          </p:cNvSpPr>
          <p:nvPr/>
        </p:nvSpPr>
        <p:spPr bwMode="gray">
          <a:xfrm>
            <a:off x="8146144" y="1585020"/>
            <a:ext cx="1892905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indent="6006"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Show your data; annotate </a:t>
            </a:r>
          </a:p>
        </p:txBody>
      </p:sp>
      <p:sp>
        <p:nvSpPr>
          <p:cNvPr id="21512" name="AutoShape 17"/>
          <p:cNvSpPr>
            <a:spLocks/>
          </p:cNvSpPr>
          <p:nvPr/>
        </p:nvSpPr>
        <p:spPr bwMode="auto">
          <a:xfrm rot="5400000">
            <a:off x="5521690" y="-2390699"/>
            <a:ext cx="1169789" cy="8639024"/>
          </a:xfrm>
          <a:prstGeom prst="leftBracket">
            <a:avLst>
              <a:gd name="adj" fmla="val 60581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sp>
        <p:nvSpPr>
          <p:cNvPr id="21513" name="Freeform 18"/>
          <p:cNvSpPr>
            <a:spLocks/>
          </p:cNvSpPr>
          <p:nvPr/>
        </p:nvSpPr>
        <p:spPr bwMode="auto">
          <a:xfrm>
            <a:off x="1827894" y="2355950"/>
            <a:ext cx="8602738" cy="299144"/>
          </a:xfrm>
          <a:custGeom>
            <a:avLst/>
            <a:gdLst>
              <a:gd name="T0" fmla="*/ 0 w 5678"/>
              <a:gd name="T1" fmla="*/ 98 h 201"/>
              <a:gd name="T2" fmla="*/ 357 w 5678"/>
              <a:gd name="T3" fmla="*/ 15 h 201"/>
              <a:gd name="T4" fmla="*/ 677 w 5678"/>
              <a:gd name="T5" fmla="*/ 79 h 201"/>
              <a:gd name="T6" fmla="*/ 759 w 5678"/>
              <a:gd name="T7" fmla="*/ 162 h 201"/>
              <a:gd name="T8" fmla="*/ 1207 w 5678"/>
              <a:gd name="T9" fmla="*/ 70 h 201"/>
              <a:gd name="T10" fmla="*/ 1756 w 5678"/>
              <a:gd name="T11" fmla="*/ 134 h 201"/>
              <a:gd name="T12" fmla="*/ 2021 w 5678"/>
              <a:gd name="T13" fmla="*/ 52 h 201"/>
              <a:gd name="T14" fmla="*/ 2496 w 5678"/>
              <a:gd name="T15" fmla="*/ 153 h 201"/>
              <a:gd name="T16" fmla="*/ 3017 w 5678"/>
              <a:gd name="T17" fmla="*/ 61 h 201"/>
              <a:gd name="T18" fmla="*/ 3420 w 5678"/>
              <a:gd name="T19" fmla="*/ 180 h 201"/>
              <a:gd name="T20" fmla="*/ 4032 w 5678"/>
              <a:gd name="T21" fmla="*/ 34 h 201"/>
              <a:gd name="T22" fmla="*/ 4325 w 5678"/>
              <a:gd name="T23" fmla="*/ 153 h 201"/>
              <a:gd name="T24" fmla="*/ 4864 w 5678"/>
              <a:gd name="T25" fmla="*/ 6 h 201"/>
              <a:gd name="T26" fmla="*/ 5468 w 5678"/>
              <a:gd name="T27" fmla="*/ 189 h 201"/>
              <a:gd name="T28" fmla="*/ 5678 w 5678"/>
              <a:gd name="T29" fmla="*/ 79 h 20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678"/>
              <a:gd name="T46" fmla="*/ 0 h 201"/>
              <a:gd name="T47" fmla="*/ 5678 w 5678"/>
              <a:gd name="T48" fmla="*/ 201 h 20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678" h="201">
                <a:moveTo>
                  <a:pt x="0" y="98"/>
                </a:moveTo>
                <a:cubicBezTo>
                  <a:pt x="122" y="58"/>
                  <a:pt x="244" y="18"/>
                  <a:pt x="357" y="15"/>
                </a:cubicBezTo>
                <a:cubicBezTo>
                  <a:pt x="470" y="12"/>
                  <a:pt x="610" y="55"/>
                  <a:pt x="677" y="79"/>
                </a:cubicBezTo>
                <a:cubicBezTo>
                  <a:pt x="744" y="103"/>
                  <a:pt x="671" y="164"/>
                  <a:pt x="759" y="162"/>
                </a:cubicBezTo>
                <a:cubicBezTo>
                  <a:pt x="847" y="160"/>
                  <a:pt x="1041" y="75"/>
                  <a:pt x="1207" y="70"/>
                </a:cubicBezTo>
                <a:cubicBezTo>
                  <a:pt x="1373" y="65"/>
                  <a:pt x="1620" y="137"/>
                  <a:pt x="1756" y="134"/>
                </a:cubicBezTo>
                <a:cubicBezTo>
                  <a:pt x="1892" y="131"/>
                  <a:pt x="1898" y="49"/>
                  <a:pt x="2021" y="52"/>
                </a:cubicBezTo>
                <a:cubicBezTo>
                  <a:pt x="2144" y="55"/>
                  <a:pt x="2330" y="152"/>
                  <a:pt x="2496" y="153"/>
                </a:cubicBezTo>
                <a:cubicBezTo>
                  <a:pt x="2662" y="154"/>
                  <a:pt x="2863" y="56"/>
                  <a:pt x="3017" y="61"/>
                </a:cubicBezTo>
                <a:cubicBezTo>
                  <a:pt x="3171" y="66"/>
                  <a:pt x="3251" y="184"/>
                  <a:pt x="3420" y="180"/>
                </a:cubicBezTo>
                <a:cubicBezTo>
                  <a:pt x="3589" y="176"/>
                  <a:pt x="3881" y="38"/>
                  <a:pt x="4032" y="34"/>
                </a:cubicBezTo>
                <a:cubicBezTo>
                  <a:pt x="4183" y="30"/>
                  <a:pt x="4186" y="158"/>
                  <a:pt x="4325" y="153"/>
                </a:cubicBezTo>
                <a:cubicBezTo>
                  <a:pt x="4464" y="148"/>
                  <a:pt x="4674" y="0"/>
                  <a:pt x="4864" y="6"/>
                </a:cubicBezTo>
                <a:cubicBezTo>
                  <a:pt x="5054" y="12"/>
                  <a:pt x="5332" y="177"/>
                  <a:pt x="5468" y="189"/>
                </a:cubicBezTo>
                <a:cubicBezTo>
                  <a:pt x="5604" y="201"/>
                  <a:pt x="5642" y="97"/>
                  <a:pt x="5678" y="79"/>
                </a:cubicBezTo>
              </a:path>
            </a:pathLst>
          </a:cu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lIns="86493" tIns="43247" rIns="86493" bIns="43247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011334" y="2518174"/>
            <a:ext cx="654655" cy="759023"/>
            <a:chOff x="2968" y="1770"/>
            <a:chExt cx="433" cy="510"/>
          </a:xfrm>
        </p:grpSpPr>
        <p:sp>
          <p:nvSpPr>
            <p:cNvPr id="21518" name="AutoShape 20"/>
            <p:cNvSpPr>
              <a:spLocks noChangeArrowheads="1"/>
            </p:cNvSpPr>
            <p:nvPr/>
          </p:nvSpPr>
          <p:spPr bwMode="gray">
            <a:xfrm rot="10800000">
              <a:off x="2971" y="1914"/>
              <a:ext cx="430" cy="366"/>
            </a:xfrm>
            <a:custGeom>
              <a:avLst/>
              <a:gdLst>
                <a:gd name="T0" fmla="*/ 215 w 21600"/>
                <a:gd name="T1" fmla="*/ 0 h 21600"/>
                <a:gd name="T2" fmla="*/ 54 w 21600"/>
                <a:gd name="T3" fmla="*/ 183 h 21600"/>
                <a:gd name="T4" fmla="*/ 215 w 21600"/>
                <a:gd name="T5" fmla="*/ 92 h 21600"/>
                <a:gd name="T6" fmla="*/ 376 w 21600"/>
                <a:gd name="T7" fmla="*/ 18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accent2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40000"/>
                </a:spcBef>
                <a:buSzPct val="125000"/>
              </a:pPr>
              <a:endParaRPr lang="en-US"/>
            </a:p>
          </p:txBody>
        </p:sp>
        <p:sp>
          <p:nvSpPr>
            <p:cNvPr id="21519" name="Rectangle 21"/>
            <p:cNvSpPr>
              <a:spLocks noChangeArrowheads="1"/>
            </p:cNvSpPr>
            <p:nvPr/>
          </p:nvSpPr>
          <p:spPr bwMode="gray">
            <a:xfrm>
              <a:off x="2968" y="1770"/>
              <a:ext cx="110" cy="324"/>
            </a:xfrm>
            <a:prstGeom prst="rect">
              <a:avLst/>
            </a:prstGeom>
            <a:solidFill>
              <a:schemeClr val="accent2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40000"/>
                </a:spcBef>
                <a:buSzPct val="125000"/>
              </a:pPr>
              <a:endParaRPr lang="en-US"/>
            </a:p>
          </p:txBody>
        </p:sp>
      </p:grpSp>
      <p:sp>
        <p:nvSpPr>
          <p:cNvPr id="21515" name="Rectangle 26"/>
          <p:cNvSpPr>
            <a:spLocks noChangeArrowheads="1"/>
          </p:cNvSpPr>
          <p:nvPr/>
        </p:nvSpPr>
        <p:spPr bwMode="auto">
          <a:xfrm>
            <a:off x="1524000" y="3784700"/>
            <a:ext cx="9144000" cy="277415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6493" tIns="43247" rIns="86493" bIns="43247" anchor="ctr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pic>
        <p:nvPicPr>
          <p:cNvPr id="21516" name="Picture 12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69656" y="3863578"/>
            <a:ext cx="3917345" cy="22979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1517" name="Picture 13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299" y="3827860"/>
            <a:ext cx="4434416" cy="17457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7742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498539" y="533820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F1845F9F-3755-4545-9950-4AED36F07AEE}" type="slidenum">
              <a:rPr lang="en-US" sz="2800"/>
              <a:pPr defTabSz="914485"/>
              <a:t>11</a:t>
            </a:fld>
            <a:endParaRPr lang="en-US" sz="2800" dirty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34326" y="138354"/>
            <a:ext cx="9864213" cy="1400530"/>
          </a:xfrm>
        </p:spPr>
        <p:txBody>
          <a:bodyPr vert="horz" lIns="91440" tIns="43247" rIns="91440" bIns="43247" rtlCol="0" anchor="t">
            <a:normAutofit/>
          </a:bodyPr>
          <a:lstStyle/>
          <a:p>
            <a:pPr eaLnBrk="1" hangingPunct="1"/>
            <a:r>
              <a:rPr lang="en-US" dirty="0"/>
              <a:t>Don’t hide data…show it – Use annotations</a:t>
            </a:r>
          </a:p>
        </p:txBody>
      </p:sp>
      <p:sp>
        <p:nvSpPr>
          <p:cNvPr id="22532" name="AutoShape 24"/>
          <p:cNvSpPr>
            <a:spLocks noChangeArrowheads="1"/>
          </p:cNvSpPr>
          <p:nvPr/>
        </p:nvSpPr>
        <p:spPr bwMode="gray">
          <a:xfrm>
            <a:off x="4189489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Ensure integrity</a:t>
            </a:r>
          </a:p>
        </p:txBody>
      </p:sp>
      <p:sp>
        <p:nvSpPr>
          <p:cNvPr id="22533" name="AutoShape 25"/>
          <p:cNvSpPr>
            <a:spLocks noChangeArrowheads="1"/>
          </p:cNvSpPr>
          <p:nvPr/>
        </p:nvSpPr>
        <p:spPr bwMode="gray">
          <a:xfrm>
            <a:off x="2211918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algn="ctr"/>
            <a:r>
              <a:rPr lang="en-US" sz="15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Know purpose</a:t>
            </a:r>
          </a:p>
        </p:txBody>
      </p:sp>
      <p:sp>
        <p:nvSpPr>
          <p:cNvPr id="22534" name="AutoShape 26"/>
          <p:cNvSpPr>
            <a:spLocks noChangeArrowheads="1"/>
          </p:cNvSpPr>
          <p:nvPr/>
        </p:nvSpPr>
        <p:spPr bwMode="gray">
          <a:xfrm>
            <a:off x="6167061" y="1585020"/>
            <a:ext cx="1894416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0" tIns="43243" rIns="0" bIns="43243" anchor="ctr"/>
          <a:lstStyle/>
          <a:p>
            <a:pPr algn="ctr"/>
            <a:r>
              <a:rPr lang="en-US" sz="14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Maximize data ink; minimize non-data ink</a:t>
            </a:r>
          </a:p>
        </p:txBody>
      </p:sp>
      <p:sp>
        <p:nvSpPr>
          <p:cNvPr id="22535" name="AutoShape 27"/>
          <p:cNvSpPr>
            <a:spLocks noChangeArrowheads="1"/>
          </p:cNvSpPr>
          <p:nvPr/>
        </p:nvSpPr>
        <p:spPr bwMode="blackWhite">
          <a:xfrm>
            <a:off x="8146144" y="1585020"/>
            <a:ext cx="1892905" cy="70991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lIns="86486" tIns="43243" rIns="86486" bIns="43243" anchor="ctr"/>
          <a:lstStyle/>
          <a:p>
            <a:pPr indent="6006" algn="ctr"/>
            <a:r>
              <a:rPr lang="en-US" sz="1500" dirty="0"/>
              <a:t>Show your data; annotate </a:t>
            </a:r>
          </a:p>
        </p:txBody>
      </p:sp>
      <p:sp>
        <p:nvSpPr>
          <p:cNvPr id="22536" name="AutoShape 28"/>
          <p:cNvSpPr>
            <a:spLocks/>
          </p:cNvSpPr>
          <p:nvPr/>
        </p:nvSpPr>
        <p:spPr bwMode="auto">
          <a:xfrm rot="5400000">
            <a:off x="5521690" y="-2285924"/>
            <a:ext cx="1169789" cy="8639024"/>
          </a:xfrm>
          <a:prstGeom prst="leftBracket">
            <a:avLst>
              <a:gd name="adj" fmla="val 60581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sp>
        <p:nvSpPr>
          <p:cNvPr id="22537" name="Freeform 29"/>
          <p:cNvSpPr>
            <a:spLocks/>
          </p:cNvSpPr>
          <p:nvPr/>
        </p:nvSpPr>
        <p:spPr bwMode="auto">
          <a:xfrm>
            <a:off x="1827894" y="2470250"/>
            <a:ext cx="8602738" cy="299144"/>
          </a:xfrm>
          <a:custGeom>
            <a:avLst/>
            <a:gdLst>
              <a:gd name="T0" fmla="*/ 0 w 5678"/>
              <a:gd name="T1" fmla="*/ 98 h 201"/>
              <a:gd name="T2" fmla="*/ 357 w 5678"/>
              <a:gd name="T3" fmla="*/ 15 h 201"/>
              <a:gd name="T4" fmla="*/ 677 w 5678"/>
              <a:gd name="T5" fmla="*/ 79 h 201"/>
              <a:gd name="T6" fmla="*/ 759 w 5678"/>
              <a:gd name="T7" fmla="*/ 162 h 201"/>
              <a:gd name="T8" fmla="*/ 1207 w 5678"/>
              <a:gd name="T9" fmla="*/ 70 h 201"/>
              <a:gd name="T10" fmla="*/ 1756 w 5678"/>
              <a:gd name="T11" fmla="*/ 134 h 201"/>
              <a:gd name="T12" fmla="*/ 2021 w 5678"/>
              <a:gd name="T13" fmla="*/ 52 h 201"/>
              <a:gd name="T14" fmla="*/ 2496 w 5678"/>
              <a:gd name="T15" fmla="*/ 153 h 201"/>
              <a:gd name="T16" fmla="*/ 3017 w 5678"/>
              <a:gd name="T17" fmla="*/ 61 h 201"/>
              <a:gd name="T18" fmla="*/ 3420 w 5678"/>
              <a:gd name="T19" fmla="*/ 180 h 201"/>
              <a:gd name="T20" fmla="*/ 4032 w 5678"/>
              <a:gd name="T21" fmla="*/ 34 h 201"/>
              <a:gd name="T22" fmla="*/ 4325 w 5678"/>
              <a:gd name="T23" fmla="*/ 153 h 201"/>
              <a:gd name="T24" fmla="*/ 4864 w 5678"/>
              <a:gd name="T25" fmla="*/ 6 h 201"/>
              <a:gd name="T26" fmla="*/ 5468 w 5678"/>
              <a:gd name="T27" fmla="*/ 189 h 201"/>
              <a:gd name="T28" fmla="*/ 5678 w 5678"/>
              <a:gd name="T29" fmla="*/ 79 h 20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678"/>
              <a:gd name="T46" fmla="*/ 0 h 201"/>
              <a:gd name="T47" fmla="*/ 5678 w 5678"/>
              <a:gd name="T48" fmla="*/ 201 h 20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678" h="201">
                <a:moveTo>
                  <a:pt x="0" y="98"/>
                </a:moveTo>
                <a:cubicBezTo>
                  <a:pt x="122" y="58"/>
                  <a:pt x="244" y="18"/>
                  <a:pt x="357" y="15"/>
                </a:cubicBezTo>
                <a:cubicBezTo>
                  <a:pt x="470" y="12"/>
                  <a:pt x="610" y="55"/>
                  <a:pt x="677" y="79"/>
                </a:cubicBezTo>
                <a:cubicBezTo>
                  <a:pt x="744" y="103"/>
                  <a:pt x="671" y="164"/>
                  <a:pt x="759" y="162"/>
                </a:cubicBezTo>
                <a:cubicBezTo>
                  <a:pt x="847" y="160"/>
                  <a:pt x="1041" y="75"/>
                  <a:pt x="1207" y="70"/>
                </a:cubicBezTo>
                <a:cubicBezTo>
                  <a:pt x="1373" y="65"/>
                  <a:pt x="1620" y="137"/>
                  <a:pt x="1756" y="134"/>
                </a:cubicBezTo>
                <a:cubicBezTo>
                  <a:pt x="1892" y="131"/>
                  <a:pt x="1898" y="49"/>
                  <a:pt x="2021" y="52"/>
                </a:cubicBezTo>
                <a:cubicBezTo>
                  <a:pt x="2144" y="55"/>
                  <a:pt x="2330" y="152"/>
                  <a:pt x="2496" y="153"/>
                </a:cubicBezTo>
                <a:cubicBezTo>
                  <a:pt x="2662" y="154"/>
                  <a:pt x="2863" y="56"/>
                  <a:pt x="3017" y="61"/>
                </a:cubicBezTo>
                <a:cubicBezTo>
                  <a:pt x="3171" y="66"/>
                  <a:pt x="3251" y="184"/>
                  <a:pt x="3420" y="180"/>
                </a:cubicBezTo>
                <a:cubicBezTo>
                  <a:pt x="3589" y="176"/>
                  <a:pt x="3881" y="38"/>
                  <a:pt x="4032" y="34"/>
                </a:cubicBezTo>
                <a:cubicBezTo>
                  <a:pt x="4183" y="30"/>
                  <a:pt x="4186" y="158"/>
                  <a:pt x="4325" y="153"/>
                </a:cubicBezTo>
                <a:cubicBezTo>
                  <a:pt x="4464" y="148"/>
                  <a:pt x="4674" y="0"/>
                  <a:pt x="4864" y="6"/>
                </a:cubicBezTo>
                <a:cubicBezTo>
                  <a:pt x="5054" y="12"/>
                  <a:pt x="5332" y="177"/>
                  <a:pt x="5468" y="189"/>
                </a:cubicBezTo>
                <a:cubicBezTo>
                  <a:pt x="5604" y="201"/>
                  <a:pt x="5642" y="97"/>
                  <a:pt x="5678" y="79"/>
                </a:cubicBezTo>
              </a:path>
            </a:pathLst>
          </a:cu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lIns="86493" tIns="43247" rIns="86493" bIns="43247"/>
          <a:lstStyle/>
          <a:p>
            <a:pPr eaLnBrk="0" hangingPunct="0">
              <a:spcBef>
                <a:spcPct val="40000"/>
              </a:spcBef>
              <a:buSzPct val="125000"/>
            </a:pPr>
            <a:endParaRPr lang="en-US"/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6116109" y="2584849"/>
            <a:ext cx="654655" cy="759023"/>
            <a:chOff x="2968" y="1770"/>
            <a:chExt cx="433" cy="510"/>
          </a:xfrm>
        </p:grpSpPr>
        <p:sp>
          <p:nvSpPr>
            <p:cNvPr id="22541" name="AutoShape 31"/>
            <p:cNvSpPr>
              <a:spLocks noChangeArrowheads="1"/>
            </p:cNvSpPr>
            <p:nvPr/>
          </p:nvSpPr>
          <p:spPr bwMode="gray">
            <a:xfrm rot="10800000">
              <a:off x="2971" y="1914"/>
              <a:ext cx="430" cy="366"/>
            </a:xfrm>
            <a:custGeom>
              <a:avLst/>
              <a:gdLst>
                <a:gd name="T0" fmla="*/ 215 w 21600"/>
                <a:gd name="T1" fmla="*/ 0 h 21600"/>
                <a:gd name="T2" fmla="*/ 54 w 21600"/>
                <a:gd name="T3" fmla="*/ 183 h 21600"/>
                <a:gd name="T4" fmla="*/ 215 w 21600"/>
                <a:gd name="T5" fmla="*/ 92 h 21600"/>
                <a:gd name="T6" fmla="*/ 376 w 21600"/>
                <a:gd name="T7" fmla="*/ 18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chemeClr val="accent2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40000"/>
                </a:spcBef>
                <a:buSzPct val="125000"/>
              </a:pPr>
              <a:endParaRPr lang="en-US"/>
            </a:p>
          </p:txBody>
        </p:sp>
        <p:sp>
          <p:nvSpPr>
            <p:cNvPr id="22542" name="Rectangle 32"/>
            <p:cNvSpPr>
              <a:spLocks noChangeArrowheads="1"/>
            </p:cNvSpPr>
            <p:nvPr/>
          </p:nvSpPr>
          <p:spPr bwMode="gray">
            <a:xfrm>
              <a:off x="2968" y="1770"/>
              <a:ext cx="110" cy="324"/>
            </a:xfrm>
            <a:prstGeom prst="rect">
              <a:avLst/>
            </a:prstGeom>
            <a:solidFill>
              <a:schemeClr val="accent2"/>
            </a:solidFill>
            <a:ln w="9525" algn="ctr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40000"/>
                </a:spcBef>
                <a:buSzPct val="125000"/>
              </a:pPr>
              <a:endParaRPr lang="en-US"/>
            </a:p>
          </p:txBody>
        </p:sp>
      </p:grpSp>
      <p:pic>
        <p:nvPicPr>
          <p:cNvPr id="22539" name="Picture 3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ltGray">
          <a:xfrm>
            <a:off x="1483178" y="3369470"/>
            <a:ext cx="4689930" cy="31789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2540" name="Picture 3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ltGray">
          <a:xfrm>
            <a:off x="6041572" y="3347147"/>
            <a:ext cx="4626429" cy="322361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1688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3247" rIns="91440" bIns="43247" rtlCol="0" anchor="t">
            <a:normAutofit/>
          </a:bodyPr>
          <a:lstStyle/>
          <a:p>
            <a:pPr eaLnBrk="1" hangingPunct="1"/>
            <a:r>
              <a:rPr lang="en-US" dirty="0"/>
              <a:t>Executing your information display is a three-step process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777189"/>
              </p:ext>
            </p:extLst>
          </p:nvPr>
        </p:nvGraphicFramePr>
        <p:xfrm>
          <a:off x="416560" y="1757680"/>
          <a:ext cx="11129329" cy="4795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479489" y="590551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CCBB0DED-934D-4D28-B603-54EBD62C550C}" type="slidenum">
              <a:rPr lang="en-US" sz="2800"/>
              <a:pPr defTabSz="914485"/>
              <a:t>12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213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Defining message</a:t>
            </a:r>
          </a:p>
        </p:txBody>
      </p:sp>
      <p:sp>
        <p:nvSpPr>
          <p:cNvPr id="25603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422339" y="457201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4A121ADE-0EC3-4E58-B999-9EDBE0D525FE}" type="slidenum">
              <a:rPr lang="en-US" sz="2800"/>
              <a:pPr defTabSz="914485"/>
              <a:t>13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6452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3247" rIns="91440" bIns="43247" rtlCol="0" anchor="t">
            <a:noAutofit/>
          </a:bodyPr>
          <a:lstStyle/>
          <a:p>
            <a:pPr eaLnBrk="1" hangingPunct="1"/>
            <a:r>
              <a:rPr lang="en-US"/>
              <a:t>Defining Message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0527114" y="590551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304149E4-D346-4081-BC39-2CFEA9667568}" type="slidenum">
              <a:rPr lang="en-US" sz="2800"/>
              <a:pPr defTabSz="914485"/>
              <a:t>14</a:t>
            </a:fld>
            <a:endParaRPr lang="en-US" sz="2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0978"/>
              </p:ext>
            </p:extLst>
          </p:nvPr>
        </p:nvGraphicFramePr>
        <p:xfrm>
          <a:off x="7568596" y="967090"/>
          <a:ext cx="2482238" cy="525781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76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174">
                <a:tc>
                  <a:txBody>
                    <a:bodyPr/>
                    <a:lstStyle/>
                    <a:p>
                      <a:r>
                        <a:rPr lang="en-US" sz="1500" dirty="0"/>
                        <a:t>Age Group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# AIDS</a:t>
                      </a:r>
                      <a:r>
                        <a:rPr lang="en-US" sz="1500" baseline="0" dirty="0"/>
                        <a:t> cases</a:t>
                      </a:r>
                      <a:endParaRPr lang="en-US" sz="1500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Under 5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6,975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5-12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2,099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13-19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4,428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20-24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28,665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25-29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10,5060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30-34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179,164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35-39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182,857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40-44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136,145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45-49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80,242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50-54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42,780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55-59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23,280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60-64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12,898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Over 65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11,555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endParaRPr lang="en-US" sz="1500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304">
                <a:tc>
                  <a:txBody>
                    <a:bodyPr/>
                    <a:lstStyle/>
                    <a:p>
                      <a:r>
                        <a:rPr lang="en-US" sz="1500" dirty="0"/>
                        <a:t>TOTAL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dirty="0"/>
                        <a:t>816,148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81075" y="1467446"/>
            <a:ext cx="5852735" cy="1780110"/>
          </a:xfrm>
          <a:prstGeom prst="rect">
            <a:avLst/>
          </a:prstGeom>
        </p:spPr>
        <p:txBody>
          <a:bodyPr wrap="square" lIns="86493" tIns="43247" rIns="86493" bIns="43247">
            <a:spAutoFit/>
          </a:bodyPr>
          <a:lstStyle/>
          <a:p>
            <a:pPr eaLnBrk="0" hangingPunct="0">
              <a:spcBef>
                <a:spcPct val="40000"/>
              </a:spcBef>
              <a:buSzPct val="125000"/>
              <a:defRPr/>
            </a:pPr>
            <a:r>
              <a:rPr lang="en-US" sz="2200" spc="47" dirty="0"/>
              <a:t>You’ve been asked to produce a data display that provides insight into the population of people with AIDS. To the right is some data about the ages of people with AIDS in the U.S.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776" y="3600451"/>
            <a:ext cx="5806384" cy="2389507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freezing" dir="t"/>
          </a:scene3d>
          <a:sp3d prstMaterial="dkEdge">
            <a:bevelT/>
          </a:sp3d>
        </p:spPr>
        <p:txBody>
          <a:bodyPr wrap="square" lIns="86493" tIns="43247" rIns="86493" bIns="43247">
            <a:spAutoFit/>
          </a:bodyPr>
          <a:lstStyle/>
          <a:p>
            <a:pPr eaLnBrk="0" hangingPunct="0">
              <a:spcBef>
                <a:spcPct val="40000"/>
              </a:spcBef>
              <a:buSzPct val="125000"/>
              <a:defRPr/>
            </a:pPr>
            <a:r>
              <a:rPr lang="en-US" sz="2200" dirty="0"/>
              <a:t>Given this data, what is the message that  you would like to convey?</a:t>
            </a:r>
          </a:p>
          <a:p>
            <a:pPr eaLnBrk="0" hangingPunct="0">
              <a:spcBef>
                <a:spcPct val="40000"/>
              </a:spcBef>
              <a:buSzPct val="125000"/>
              <a:defRPr/>
            </a:pPr>
            <a:r>
              <a:rPr lang="en-US" sz="2200" dirty="0"/>
              <a:t>Majority of AIDS cases are in the 25-44 age groups</a:t>
            </a:r>
          </a:p>
          <a:p>
            <a:pPr eaLnBrk="0" hangingPunct="0">
              <a:spcBef>
                <a:spcPct val="40000"/>
              </a:spcBef>
              <a:buSzPct val="125000"/>
              <a:defRPr/>
            </a:pPr>
            <a:r>
              <a:rPr lang="en-US" sz="2200" dirty="0"/>
              <a:t>AIDS is most prevalent in the 35-39 age groups</a:t>
            </a:r>
          </a:p>
        </p:txBody>
      </p:sp>
    </p:spTree>
    <p:extLst>
      <p:ext uri="{BB962C8B-B14F-4D97-AF65-F5344CB8AC3E}">
        <p14:creationId xmlns:p14="http://schemas.microsoft.com/office/powerpoint/2010/main" val="2110122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Choosing form</a:t>
            </a:r>
          </a:p>
        </p:txBody>
      </p:sp>
      <p:sp>
        <p:nvSpPr>
          <p:cNvPr id="2765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2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36639" y="581026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8753FD30-6AC8-4EE6-880A-B601FDD0058F}" type="slidenum">
              <a:rPr lang="en-US" sz="2800"/>
              <a:pPr defTabSz="914485"/>
              <a:t>15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62522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3247" rIns="91440" bIns="43247" rtlCol="0" anchor="t">
            <a:noAutofit/>
          </a:bodyPr>
          <a:lstStyle/>
          <a:p>
            <a:pPr eaLnBrk="1" hangingPunct="1"/>
            <a:r>
              <a:rPr lang="en-US"/>
              <a:t>Choosing Form</a:t>
            </a:r>
          </a:p>
        </p:txBody>
      </p:sp>
      <p:sp>
        <p:nvSpPr>
          <p:cNvPr id="2867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1864" y="533401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1BB47DA5-B2D2-48CF-A82B-763C83FEEBC2}" type="slidenum">
              <a:rPr lang="en-US" sz="2800"/>
              <a:pPr defTabSz="914485"/>
              <a:t>16</a:t>
            </a:fld>
            <a:endParaRPr lang="en-US" sz="2800" dirty="0"/>
          </a:p>
        </p:txBody>
      </p:sp>
      <p:graphicFrame>
        <p:nvGraphicFramePr>
          <p:cNvPr id="8" name="Chart 4"/>
          <p:cNvGraphicFramePr>
            <a:graphicFrameLocks/>
          </p:cNvGraphicFramePr>
          <p:nvPr/>
        </p:nvGraphicFramePr>
        <p:xfrm>
          <a:off x="3652838" y="2679701"/>
          <a:ext cx="3048000" cy="28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5"/>
          <p:cNvGraphicFramePr>
            <a:graphicFrameLocks/>
          </p:cNvGraphicFramePr>
          <p:nvPr/>
        </p:nvGraphicFramePr>
        <p:xfrm>
          <a:off x="6915151" y="2667000"/>
          <a:ext cx="3375025" cy="288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731" name="TextBox 6"/>
          <p:cNvSpPr txBox="1">
            <a:spLocks noChangeArrowheads="1"/>
          </p:cNvSpPr>
          <p:nvPr/>
        </p:nvSpPr>
        <p:spPr bwMode="auto">
          <a:xfrm>
            <a:off x="1071260" y="1244615"/>
            <a:ext cx="9149065" cy="110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493" tIns="43247" rIns="86493" bIns="43247">
            <a:spAutoFit/>
          </a:bodyPr>
          <a:lstStyle/>
          <a:p>
            <a:pPr eaLnBrk="0" hangingPunct="0">
              <a:spcBef>
                <a:spcPct val="40000"/>
              </a:spcBef>
              <a:buSzPct val="125000"/>
            </a:pPr>
            <a:r>
              <a:rPr lang="en-US" sz="2200" dirty="0"/>
              <a:t>Below are three ways to display the data to communicate the message from the distribution of AIDS sufferers. What is the most appropriate form?  </a:t>
            </a:r>
          </a:p>
        </p:txBody>
      </p:sp>
      <p:pic>
        <p:nvPicPr>
          <p:cNvPr id="12290" name="Chart 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38" y="2679701"/>
            <a:ext cx="3048000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Chart 5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51" y="2667000"/>
            <a:ext cx="3375025" cy="288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7A3DC0F-3164-4B1A-9E93-7DA643A94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03796"/>
              </p:ext>
            </p:extLst>
          </p:nvPr>
        </p:nvGraphicFramePr>
        <p:xfrm>
          <a:off x="646111" y="2347616"/>
          <a:ext cx="2460258" cy="437455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68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720">
                <a:tc>
                  <a:txBody>
                    <a:bodyPr/>
                    <a:lstStyle/>
                    <a:p>
                      <a:r>
                        <a:rPr lang="en-US" sz="1200" dirty="0"/>
                        <a:t>Age Group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 AIDS</a:t>
                      </a:r>
                      <a:r>
                        <a:rPr lang="en-US" sz="1200" baseline="0" dirty="0"/>
                        <a:t> cases</a:t>
                      </a:r>
                      <a:endParaRPr lang="en-US" sz="1200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Under 5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6,975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5-12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2,099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13-19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4,428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20-24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28,665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25-29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10,5060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30-34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179,164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35-39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182,857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40-44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136,145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45-49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80,242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50-54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42,780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55-59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23,280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60-64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12,898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Over 65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11,555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endParaRPr lang="en-US" sz="1100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522">
                <a:tc>
                  <a:txBody>
                    <a:bodyPr/>
                    <a:lstStyle/>
                    <a:p>
                      <a:r>
                        <a:rPr lang="en-US" sz="1100" dirty="0"/>
                        <a:t>TOTAL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816,148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375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3247" rIns="91440" bIns="43247" rtlCol="0" anchor="t">
            <a:noAutofit/>
          </a:bodyPr>
          <a:lstStyle/>
          <a:p>
            <a:pPr eaLnBrk="1" hangingPunct="1"/>
            <a:r>
              <a:rPr lang="en-US"/>
              <a:t>Choosing Form – Best Practices</a:t>
            </a:r>
          </a:p>
        </p:txBody>
      </p:sp>
      <p:sp>
        <p:nvSpPr>
          <p:cNvPr id="29699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17589" y="600076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FF0D1C48-E55F-4D3E-ACDE-6CC4757F02DE}" type="slidenum">
              <a:rPr lang="en-US" sz="2800"/>
              <a:pPr defTabSz="914485"/>
              <a:t>17</a:t>
            </a:fld>
            <a:endParaRPr lang="en-US" sz="2800" dirty="0"/>
          </a:p>
        </p:txBody>
      </p:sp>
      <p:sp>
        <p:nvSpPr>
          <p:cNvPr id="29700" name="TextBox 3"/>
          <p:cNvSpPr txBox="1">
            <a:spLocks noChangeArrowheads="1"/>
          </p:cNvSpPr>
          <p:nvPr/>
        </p:nvSpPr>
        <p:spPr bwMode="auto">
          <a:xfrm>
            <a:off x="990600" y="1429089"/>
            <a:ext cx="9258300" cy="123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493" tIns="43247" rIns="86493" bIns="43247">
            <a:spAutoFit/>
          </a:bodyPr>
          <a:lstStyle/>
          <a:p>
            <a:pPr eaLnBrk="0" hangingPunct="0">
              <a:spcBef>
                <a:spcPct val="40000"/>
              </a:spcBef>
              <a:buSzPct val="125000"/>
            </a:pPr>
            <a:r>
              <a:rPr lang="en-US" sz="2200" dirty="0"/>
              <a:t>One key decision to make is whether to display the data as a table or a chart</a:t>
            </a:r>
          </a:p>
          <a:p>
            <a:pPr eaLnBrk="0" hangingPunct="0">
              <a:spcBef>
                <a:spcPct val="40000"/>
              </a:spcBef>
              <a:buSzPct val="125000"/>
            </a:pPr>
            <a:r>
              <a:rPr lang="en-US" sz="2200" dirty="0"/>
              <a:t>Message: There is no apparent seasonality in sales in 2003 or 2004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787395"/>
              </p:ext>
            </p:extLst>
          </p:nvPr>
        </p:nvGraphicFramePr>
        <p:xfrm>
          <a:off x="1970014" y="3198317"/>
          <a:ext cx="1876491" cy="34017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25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67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2003</a:t>
                      </a:r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2004</a:t>
                      </a:r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Jan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12.5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17.0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Feb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14.3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16.1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Mar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15.9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15.4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Apr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15.0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15.0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May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15.3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14.6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Jun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15.7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13.8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Jul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16.1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12.5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Aug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16.2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11.4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Sep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16.4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10.9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Oct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16.5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10.2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Nov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16.5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9.7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676">
                <a:tc>
                  <a:txBody>
                    <a:bodyPr/>
                    <a:lstStyle/>
                    <a:p>
                      <a:r>
                        <a:rPr lang="en-US" sz="1100" dirty="0"/>
                        <a:t>Dec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16.4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9.3</a:t>
                      </a:r>
                      <a:endParaRPr lang="en-US" sz="1100" b="1" dirty="0"/>
                    </a:p>
                  </a:txBody>
                  <a:tcPr marL="87086" marR="87086" marT="42863" marB="42863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" name="Chart 7"/>
          <p:cNvGraphicFramePr>
            <a:graphicFrameLocks/>
          </p:cNvGraphicFramePr>
          <p:nvPr/>
        </p:nvGraphicFramePr>
        <p:xfrm>
          <a:off x="5021264" y="3714751"/>
          <a:ext cx="4795837" cy="2392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760" name="TextBox 8"/>
          <p:cNvSpPr txBox="1">
            <a:spLocks noChangeArrowheads="1"/>
          </p:cNvSpPr>
          <p:nvPr/>
        </p:nvSpPr>
        <p:spPr bwMode="auto">
          <a:xfrm>
            <a:off x="1717525" y="2802435"/>
            <a:ext cx="3096381" cy="288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6493" tIns="43247" rIns="86493" bIns="43247">
            <a:spAutoFit/>
          </a:bodyPr>
          <a:lstStyle/>
          <a:p>
            <a:pPr eaLnBrk="0" hangingPunct="0">
              <a:spcBef>
                <a:spcPct val="40000"/>
              </a:spcBef>
              <a:buSzPct val="125000"/>
            </a:pPr>
            <a:r>
              <a:rPr lang="en-US" sz="1300" dirty="0"/>
              <a:t>Table: Sales by month in 2003, 2004</a:t>
            </a:r>
          </a:p>
        </p:txBody>
      </p:sp>
      <p:sp>
        <p:nvSpPr>
          <p:cNvPr id="29761" name="TextBox 9"/>
          <p:cNvSpPr txBox="1">
            <a:spLocks noChangeArrowheads="1"/>
          </p:cNvSpPr>
          <p:nvPr/>
        </p:nvSpPr>
        <p:spPr bwMode="auto">
          <a:xfrm>
            <a:off x="5899452" y="2809876"/>
            <a:ext cx="3241524" cy="288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6493" tIns="43247" rIns="86493" bIns="43247">
            <a:spAutoFit/>
          </a:bodyPr>
          <a:lstStyle/>
          <a:p>
            <a:pPr eaLnBrk="0" hangingPunct="0">
              <a:spcBef>
                <a:spcPct val="40000"/>
              </a:spcBef>
              <a:buSzPct val="125000"/>
            </a:pPr>
            <a:r>
              <a:rPr lang="en-US" sz="1300" dirty="0"/>
              <a:t>Chart: Sales by month in 2003, 2004</a:t>
            </a:r>
          </a:p>
        </p:txBody>
      </p:sp>
      <p:cxnSp>
        <p:nvCxnSpPr>
          <p:cNvPr id="29762" name="Straight Connector 11"/>
          <p:cNvCxnSpPr>
            <a:cxnSpLocks noChangeShapeType="1"/>
          </p:cNvCxnSpPr>
          <p:nvPr/>
        </p:nvCxnSpPr>
        <p:spPr bwMode="auto">
          <a:xfrm rot="5400000">
            <a:off x="3081156" y="4633010"/>
            <a:ext cx="3796606" cy="1511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13314" name="Chart 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264" y="3714751"/>
            <a:ext cx="4795837" cy="239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868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3247" rIns="91440" bIns="43247" rtlCol="0" anchor="t">
            <a:noAutofit/>
          </a:bodyPr>
          <a:lstStyle/>
          <a:p>
            <a:pPr eaLnBrk="1" hangingPunct="1"/>
            <a:r>
              <a:rPr lang="en-US"/>
              <a:t>Choosing Form – Table or Chart?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80084798"/>
              </p:ext>
            </p:extLst>
          </p:nvPr>
        </p:nvGraphicFramePr>
        <p:xfrm>
          <a:off x="1980597" y="1676400"/>
          <a:ext cx="4042833" cy="4449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99088190"/>
              </p:ext>
            </p:extLst>
          </p:nvPr>
        </p:nvGraphicFramePr>
        <p:xfrm>
          <a:off x="6168573" y="1676400"/>
          <a:ext cx="4042833" cy="4449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072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79489" y="466726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90C86A06-506A-43FB-BD22-12F1881CFE89}" type="slidenum">
              <a:rPr lang="en-US" sz="2800"/>
              <a:pPr defTabSz="914485"/>
              <a:t>18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1397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0489014" y="571176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628123F9-14EC-4525-867C-C71F8A056A66}" type="slidenum">
              <a:rPr lang="en-US" sz="2800"/>
              <a:pPr defTabSz="914485"/>
              <a:t>19</a:t>
            </a:fld>
            <a:endParaRPr lang="en-US" sz="2800" dirty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580233" y="175710"/>
            <a:ext cx="9404723" cy="1400530"/>
          </a:xfrm>
        </p:spPr>
        <p:txBody>
          <a:bodyPr vert="horz" lIns="91440" tIns="43247" rIns="91440" bIns="43247" rtlCol="0" anchor="t">
            <a:normAutofit/>
          </a:bodyPr>
          <a:lstStyle/>
          <a:p>
            <a:pPr eaLnBrk="1" hangingPunct="1"/>
            <a:r>
              <a:rPr lang="en-US" dirty="0"/>
              <a:t>Choose appropriate graph type for message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9068" y="1521768"/>
            <a:ext cx="3429906" cy="5509914"/>
          </a:xfrm>
        </p:spPr>
        <p:txBody>
          <a:bodyPr vert="horz" lIns="91440" tIns="45720" rIns="86493" bIns="43247" rtlCol="0"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ct val="130000"/>
              </a:spcBef>
              <a:buClr>
                <a:schemeClr val="tx2"/>
              </a:buClr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If your message stresses…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Components of one item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Components of multiple items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Item comparison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Change over time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Frequency, distribution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Correlation</a:t>
            </a:r>
          </a:p>
        </p:txBody>
      </p:sp>
      <p:sp>
        <p:nvSpPr>
          <p:cNvPr id="3174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282595" y="1521024"/>
            <a:ext cx="3757084" cy="5241727"/>
          </a:xfrm>
        </p:spPr>
        <p:txBody>
          <a:bodyPr vert="horz" lIns="91440" tIns="45720" rIns="86493" bIns="43247" rtlCol="0"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ct val="130000"/>
              </a:spcBef>
              <a:buClr>
                <a:schemeClr val="tx2"/>
              </a:buClr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Then choose….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Pie chart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100% column / stacked column chart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Bar chart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Column / line chart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Histogram</a:t>
            </a:r>
          </a:p>
          <a:p>
            <a:pPr eaLnBrk="1" hangingPunct="1">
              <a:lnSpc>
                <a:spcPct val="120000"/>
              </a:lnSpc>
              <a:spcBef>
                <a:spcPct val="130000"/>
              </a:spcBef>
            </a:pPr>
            <a:r>
              <a:rPr lang="en-US" dirty="0"/>
              <a:t>Paired bar, scatter dot</a:t>
            </a:r>
          </a:p>
        </p:txBody>
      </p:sp>
      <p:sp>
        <p:nvSpPr>
          <p:cNvPr id="31750" name="Line 5"/>
          <p:cNvSpPr>
            <a:spLocks noChangeShapeType="1"/>
          </p:cNvSpPr>
          <p:nvPr/>
        </p:nvSpPr>
        <p:spPr bwMode="auto">
          <a:xfrm>
            <a:off x="1962453" y="2628900"/>
            <a:ext cx="824290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31751" name="Line 6"/>
          <p:cNvSpPr>
            <a:spLocks noChangeShapeType="1"/>
          </p:cNvSpPr>
          <p:nvPr/>
        </p:nvSpPr>
        <p:spPr bwMode="auto">
          <a:xfrm>
            <a:off x="1989668" y="3609677"/>
            <a:ext cx="824290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31752" name="Line 7"/>
          <p:cNvSpPr>
            <a:spLocks noChangeShapeType="1"/>
          </p:cNvSpPr>
          <p:nvPr/>
        </p:nvSpPr>
        <p:spPr bwMode="auto">
          <a:xfrm>
            <a:off x="1974549" y="4419600"/>
            <a:ext cx="824441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31753" name="Line 8"/>
          <p:cNvSpPr>
            <a:spLocks noChangeShapeType="1"/>
          </p:cNvSpPr>
          <p:nvPr/>
        </p:nvSpPr>
        <p:spPr bwMode="auto">
          <a:xfrm>
            <a:off x="1962453" y="5192315"/>
            <a:ext cx="824290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1935239" y="6019800"/>
            <a:ext cx="824441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86493" tIns="43247" rIns="86493" bIns="43247" anchor="ctr"/>
          <a:lstStyle/>
          <a:p>
            <a:endParaRPr lang="en-US"/>
          </a:p>
        </p:txBody>
      </p:sp>
      <p:pic>
        <p:nvPicPr>
          <p:cNvPr id="31755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96400" y="2734569"/>
            <a:ext cx="976690" cy="7218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1756" name="Picture 1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96400" y="1600201"/>
            <a:ext cx="914400" cy="9256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1758" name="Picture 1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96400" y="5257801"/>
            <a:ext cx="1003300" cy="7337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1759" name="Picture 1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black">
          <a:xfrm>
            <a:off x="9277349" y="4563964"/>
            <a:ext cx="990600" cy="5387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1760" name="Picture 1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272209" y="3666533"/>
            <a:ext cx="1000881" cy="6682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1762" name="Picture 2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black">
          <a:xfrm>
            <a:off x="9226550" y="6104630"/>
            <a:ext cx="1143000" cy="609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15185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Some examples on choice of Form</a:t>
            </a:r>
          </a:p>
        </p:txBody>
      </p:sp>
      <p:sp>
        <p:nvSpPr>
          <p:cNvPr id="3277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148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864931"/>
            <a:r>
              <a:rPr lang="en-US" dirty="0"/>
              <a:t>Sales of Product A exceed sales of B and C</a:t>
            </a:r>
          </a:p>
        </p:txBody>
      </p:sp>
      <p:sp>
        <p:nvSpPr>
          <p:cNvPr id="10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defTabSz="914485"/>
            <a:fld id="{3F9BCB2A-95EB-4E7D-BFAA-3AC02475C267}" type="slidenum">
              <a:rPr lang="en-US"/>
              <a:pPr defTabSz="914485"/>
              <a:t>21</a:t>
            </a:fld>
            <a:endParaRPr lang="en-US" dirty="0"/>
          </a:p>
        </p:txBody>
      </p:sp>
      <p:graphicFrame>
        <p:nvGraphicFramePr>
          <p:cNvPr id="5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2057400" y="1676400"/>
          <a:ext cx="8018462" cy="4329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76579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13"/>
          <p:cNvSpPr>
            <a:spLocks noGrp="1" noChangeArrowheads="1"/>
          </p:cNvSpPr>
          <p:nvPr>
            <p:ph type="title"/>
          </p:nvPr>
        </p:nvSpPr>
        <p:spPr>
          <a:xfrm>
            <a:off x="560386" y="157443"/>
            <a:ext cx="9404723" cy="1400530"/>
          </a:xfrm>
        </p:spPr>
        <p:txBody>
          <a:bodyPr vert="horz" lIns="91440" tIns="43247" rIns="91440" bIns="43247" rtlCol="0" anchor="t">
            <a:noAutofit/>
          </a:bodyPr>
          <a:lstStyle/>
          <a:p>
            <a:pPr eaLnBrk="1" hangingPunct="1"/>
            <a:r>
              <a:rPr lang="en-US" sz="4100" dirty="0"/>
              <a:t>There is no apparent relationship between tenure and sales</a:t>
            </a:r>
          </a:p>
        </p:txBody>
      </p:sp>
      <p:sp>
        <p:nvSpPr>
          <p:cNvPr id="20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3247" rIns="91440" bIns="45720" rtlCol="0" anchor="b"/>
          <a:lstStyle/>
          <a:p>
            <a:pPr defTabSz="914485"/>
            <a:fld id="{1163A791-4D9D-4577-B153-893F46DDAE4A}" type="slidenum">
              <a:rPr lang="en-US"/>
              <a:pPr defTabSz="914485"/>
              <a:t>22</a:t>
            </a:fld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18250" y="1921616"/>
            <a:ext cx="7579323" cy="4098184"/>
            <a:chOff x="269" y="1041"/>
            <a:chExt cx="4112" cy="2582"/>
          </a:xfrm>
        </p:grpSpPr>
        <p:graphicFrame>
          <p:nvGraphicFramePr>
            <p:cNvPr id="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0106431"/>
                </p:ext>
              </p:extLst>
            </p:nvPr>
          </p:nvGraphicFramePr>
          <p:xfrm>
            <a:off x="800" y="1103"/>
            <a:ext cx="3581" cy="25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054" name="Line 5"/>
            <p:cNvSpPr>
              <a:spLocks noChangeShapeType="1"/>
            </p:cNvSpPr>
            <p:nvPr/>
          </p:nvSpPr>
          <p:spPr bwMode="auto">
            <a:xfrm>
              <a:off x="1488" y="2304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055" name="Rectangle 6"/>
            <p:cNvSpPr>
              <a:spLocks noChangeArrowheads="1"/>
            </p:cNvSpPr>
            <p:nvPr/>
          </p:nvSpPr>
          <p:spPr bwMode="auto">
            <a:xfrm>
              <a:off x="269" y="1041"/>
              <a:ext cx="998" cy="4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5646" tIns="46984" rIns="95646" bIns="46984">
              <a:spAutoFit/>
            </a:bodyPr>
            <a:lstStyle/>
            <a:p>
              <a:pPr defTabSz="914485" eaLnBrk="0" hangingPunct="0"/>
              <a:r>
                <a:rPr lang="en-US" dirty="0"/>
                <a:t>Scatter Plot</a:t>
              </a:r>
            </a:p>
            <a:p>
              <a:pPr defTabSz="914485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003799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636586" y="166968"/>
            <a:ext cx="9404723" cy="1400530"/>
          </a:xfrm>
        </p:spPr>
        <p:txBody>
          <a:bodyPr>
            <a:normAutofit/>
          </a:bodyPr>
          <a:lstStyle/>
          <a:p>
            <a:pPr defTabSz="864931"/>
            <a:r>
              <a:rPr lang="en-US" dirty="0"/>
              <a:t>Competitor D has the smallest share of industry sales</a:t>
            </a:r>
          </a:p>
        </p:txBody>
      </p:sp>
      <p:sp>
        <p:nvSpPr>
          <p:cNvPr id="307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defTabSz="914485"/>
            <a:fld id="{1B2792C6-7AAB-483E-BC5D-DA60A2941D89}" type="slidenum">
              <a:rPr lang="en-US"/>
              <a:pPr defTabSz="914485"/>
              <a:t>23</a:t>
            </a:fld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93951" y="1877616"/>
            <a:ext cx="7283451" cy="4065984"/>
            <a:chOff x="212" y="879"/>
            <a:chExt cx="4588" cy="2562"/>
          </a:xfrm>
        </p:grpSpPr>
        <p:graphicFrame>
          <p:nvGraphicFramePr>
            <p:cNvPr id="8" name="Object 2"/>
            <p:cNvGraphicFramePr>
              <a:graphicFrameLocks noChangeAspect="1"/>
            </p:cNvGraphicFramePr>
            <p:nvPr/>
          </p:nvGraphicFramePr>
          <p:xfrm>
            <a:off x="960" y="879"/>
            <a:ext cx="3840" cy="256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078" name="Text Box 5"/>
            <p:cNvSpPr txBox="1">
              <a:spLocks noChangeArrowheads="1"/>
            </p:cNvSpPr>
            <p:nvPr/>
          </p:nvSpPr>
          <p:spPr bwMode="auto">
            <a:xfrm>
              <a:off x="212" y="910"/>
              <a:ext cx="772" cy="236"/>
            </a:xfrm>
            <a:prstGeom prst="rect">
              <a:avLst/>
            </a:prstGeom>
            <a:noFill/>
            <a:ln w="3175">
              <a:noFill/>
              <a:miter lim="800000"/>
              <a:headEnd/>
              <a:tailEnd/>
            </a:ln>
          </p:spPr>
          <p:txBody>
            <a:bodyPr wrap="none" lIns="96661" tIns="48331" rIns="96661" bIns="48331">
              <a:spAutoFit/>
            </a:bodyPr>
            <a:lstStyle/>
            <a:p>
              <a:pPr algn="ctr" defTabSz="914485"/>
              <a:r>
                <a:rPr lang="de-DE" dirty="0"/>
                <a:t>Pie Chart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2289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11" y="119343"/>
            <a:ext cx="9404723" cy="1400530"/>
          </a:xfrm>
        </p:spPr>
        <p:txBody>
          <a:bodyPr vert="horz" lIns="91440" tIns="43247" rIns="91440" bIns="43247" rtlCol="0" anchor="t">
            <a:normAutofit/>
          </a:bodyPr>
          <a:lstStyle/>
          <a:p>
            <a:pPr defTabSz="864931"/>
            <a:r>
              <a:rPr lang="en-US" dirty="0"/>
              <a:t>Earnings per share have decreased every year since 2000</a:t>
            </a:r>
          </a:p>
        </p:txBody>
      </p:sp>
      <p:sp>
        <p:nvSpPr>
          <p:cNvPr id="40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3247" rIns="91440" bIns="45720" rtlCol="0" anchor="b"/>
          <a:lstStyle/>
          <a:p>
            <a:pPr defTabSz="914485"/>
            <a:fld id="{2A9CD419-280E-4D86-9DC5-4651472E4155}" type="slidenum">
              <a:rPr lang="en-US"/>
              <a:pPr defTabSz="914485"/>
              <a:t>24</a:t>
            </a:fld>
            <a:endParaRPr lang="en-US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590800" y="1676400"/>
          <a:ext cx="70866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97715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outliers in the data</a:t>
            </a:r>
            <a:endParaRPr lang="en-IN" dirty="0"/>
          </a:p>
        </p:txBody>
      </p:sp>
      <p:pic>
        <p:nvPicPr>
          <p:cNvPr id="3" name="Picture 4" descr="boxplot-arrival-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1" y="1853248"/>
            <a:ext cx="488632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57350" y="2333625"/>
            <a:ext cx="12731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Box plot</a:t>
            </a:r>
            <a:endParaRPr lang="en-IN" sz="2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128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Creating designs</a:t>
            </a:r>
          </a:p>
        </p:txBody>
      </p:sp>
      <p:sp>
        <p:nvSpPr>
          <p:cNvPr id="34819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482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36639" y="523876"/>
            <a:ext cx="990599" cy="304799"/>
          </a:xfrm>
          <a:noFill/>
        </p:spPr>
        <p:txBody>
          <a:bodyPr vert="horz" lIns="91440" tIns="43247" rIns="91440" bIns="45720" rtlCol="0" anchor="t"/>
          <a:lstStyle/>
          <a:p>
            <a:pPr defTabSz="914485"/>
            <a:fld id="{31DFBDDF-6A94-456C-A467-3794F58E3356}" type="slidenum">
              <a:rPr lang="en-US" sz="2800"/>
              <a:pPr defTabSz="914485"/>
              <a:t>26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10468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1447801" y="1510348"/>
            <a:ext cx="8840788" cy="68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Below are two designs of the column data representation of the AIDS data. Which design leads to a chart that is easier to understand?  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2209800" y="2895600"/>
          <a:ext cx="37338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6400800" y="3048000"/>
          <a:ext cx="37338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965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Design – Best Practices</a:t>
            </a: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889272595"/>
              </p:ext>
            </p:extLst>
          </p:nvPr>
        </p:nvGraphicFramePr>
        <p:xfrm>
          <a:off x="1381125" y="3324225"/>
          <a:ext cx="48768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4044362517"/>
              </p:ext>
            </p:extLst>
          </p:nvPr>
        </p:nvGraphicFramePr>
        <p:xfrm>
          <a:off x="7191375" y="3038475"/>
          <a:ext cx="35052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Content Placeholder 3"/>
          <p:cNvSpPr txBox="1">
            <a:spLocks/>
          </p:cNvSpPr>
          <p:nvPr/>
        </p:nvSpPr>
        <p:spPr>
          <a:xfrm>
            <a:off x="1381125" y="1419225"/>
            <a:ext cx="8230810" cy="1219200"/>
          </a:xfrm>
          <a:prstGeom prst="rect">
            <a:avLst/>
          </a:prstGeom>
        </p:spPr>
        <p:txBody>
          <a:bodyPr rIns="86493" bIns="43247"/>
          <a:lstStyle/>
          <a:p>
            <a:pPr marL="252272" indent="-252272" defTabSz="914400">
              <a:buClr>
                <a:schemeClr val="accent1"/>
              </a:buClr>
              <a:buSzPct val="80000"/>
              <a:buFont typeface="Wingdings 2"/>
              <a:buChar char=""/>
              <a:tabLst>
                <a:tab pos="7733324" algn="l"/>
              </a:tabLst>
              <a:defRPr/>
            </a:pPr>
            <a:r>
              <a:rPr lang="en-US" sz="2000" dirty="0"/>
              <a:t>Avoid 3-D effects</a:t>
            </a:r>
          </a:p>
          <a:p>
            <a:pPr marL="252272" indent="-252272" defTabSz="914400">
              <a:buClr>
                <a:schemeClr val="accent1"/>
              </a:buClr>
              <a:buSzPct val="80000"/>
              <a:buFont typeface="Wingdings 2"/>
              <a:buChar char=""/>
              <a:tabLst>
                <a:tab pos="7733324" algn="l"/>
              </a:tabLst>
              <a:defRPr/>
            </a:pPr>
            <a:r>
              <a:rPr lang="en-US" sz="2000" dirty="0"/>
              <a:t>Avoid legends; consider using labels</a:t>
            </a:r>
          </a:p>
          <a:p>
            <a:pPr marL="252272" indent="-252272" defTabSz="914400">
              <a:buClr>
                <a:schemeClr val="accent1"/>
              </a:buClr>
              <a:buSzPct val="80000"/>
              <a:buFont typeface="Wingdings 2"/>
              <a:buChar char=""/>
              <a:tabLst>
                <a:tab pos="7733324" algn="l"/>
              </a:tabLst>
              <a:defRPr/>
            </a:pPr>
            <a:r>
              <a:rPr lang="en-US" sz="2000" dirty="0"/>
              <a:t>Avoid contrasting borders around objects </a:t>
            </a:r>
          </a:p>
          <a:p>
            <a:pPr marL="252272" indent="-252272" defTabSz="914400">
              <a:buClr>
                <a:schemeClr val="accent1"/>
              </a:buClr>
              <a:buSzPct val="80000"/>
              <a:buFont typeface="Wingdings 2"/>
              <a:buChar char=""/>
              <a:tabLst>
                <a:tab pos="7733324" algn="l"/>
              </a:tabLst>
              <a:defRPr/>
            </a:pPr>
            <a:r>
              <a:rPr lang="en-US" sz="2000" dirty="0"/>
              <a:t>Use annotations to highlight key data changes or to focus on specific data points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536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79436" y="138393"/>
            <a:ext cx="9404723" cy="1400530"/>
          </a:xfrm>
        </p:spPr>
        <p:txBody>
          <a:bodyPr>
            <a:normAutofit/>
          </a:bodyPr>
          <a:lstStyle/>
          <a:p>
            <a:r>
              <a:rPr lang="en-US" dirty="0"/>
              <a:t>Graphs: Best practices lead to uncluttered look</a:t>
            </a:r>
          </a:p>
        </p:txBody>
      </p:sp>
      <p:pic>
        <p:nvPicPr>
          <p:cNvPr id="91138" name="Object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56313" y="3635375"/>
            <a:ext cx="4368800" cy="27701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1139" name="Object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81163" y="3649663"/>
            <a:ext cx="4368800" cy="2768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934558" y="1590220"/>
            <a:ext cx="8230810" cy="2117228"/>
          </a:xfrm>
          <a:prstGeom prst="rect">
            <a:avLst/>
          </a:prstGeom>
        </p:spPr>
        <p:txBody>
          <a:bodyPr rIns="86493" bIns="43247"/>
          <a:lstStyle/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1600" dirty="0"/>
              <a:t>Design graph to support message; consider using talking head here, too</a:t>
            </a:r>
          </a:p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1600" dirty="0"/>
              <a:t>Use minimal grid lines, ideally none</a:t>
            </a:r>
          </a:p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1600" dirty="0"/>
              <a:t>Use thin lines, thin axes, thin bars, thin arrows to show trends</a:t>
            </a:r>
          </a:p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1600" dirty="0"/>
              <a:t>Display subtle but visible data point marks—only enough to show trend</a:t>
            </a:r>
          </a:p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1600" dirty="0"/>
              <a:t>Use minimal tick marks to display scale: usually just min/max on Y axis</a:t>
            </a:r>
          </a:p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1600" dirty="0"/>
              <a:t>Label axes; label graphic items </a:t>
            </a:r>
          </a:p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1600" dirty="0"/>
              <a:t>Opt for value labels wherever possible;  delete some to avoid clutter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89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on dashboards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are data dashboards?</a:t>
            </a:r>
          </a:p>
          <a:p>
            <a:r>
              <a:rPr lang="en-US" sz="2400" dirty="0"/>
              <a:t>How do you decide what should go on a dashboard? Domain specific? </a:t>
            </a:r>
          </a:p>
          <a:p>
            <a:r>
              <a:rPr lang="en-US" sz="2400" dirty="0"/>
              <a:t>What are the generic principles?</a:t>
            </a:r>
          </a:p>
          <a:p>
            <a:r>
              <a:rPr lang="en-US" sz="2400" dirty="0"/>
              <a:t>Do only </a:t>
            </a:r>
            <a:r>
              <a:rPr lang="en-US" sz="2400" dirty="0" err="1"/>
              <a:t>descriptives</a:t>
            </a:r>
            <a:r>
              <a:rPr lang="en-US" sz="2400" dirty="0"/>
              <a:t> go on the dashboard? </a:t>
            </a: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8165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A2A83-A6FA-4EC2-9656-94EC5E75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-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867D6-610D-47BB-84D0-E74B6F5F0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321433" cy="41954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A Visual Display</a:t>
            </a:r>
          </a:p>
          <a:p>
            <a:pPr marL="0" indent="0" algn="ctr">
              <a:buNone/>
            </a:pPr>
            <a:r>
              <a:rPr lang="en-US" sz="1600" dirty="0"/>
              <a:t>Of</a:t>
            </a:r>
            <a:r>
              <a:rPr lang="en-US" sz="2800" dirty="0"/>
              <a:t> </a:t>
            </a:r>
          </a:p>
          <a:p>
            <a:pPr marL="0" indent="0" algn="ctr">
              <a:buNone/>
            </a:pPr>
            <a:r>
              <a:rPr lang="en-US" sz="2800" dirty="0"/>
              <a:t>The most important information needed to achieve one or more objectives</a:t>
            </a:r>
          </a:p>
          <a:p>
            <a:pPr marL="0" indent="0" algn="ctr">
              <a:buNone/>
            </a:pPr>
            <a:r>
              <a:rPr lang="en-US" sz="1600" dirty="0"/>
              <a:t>That has been </a:t>
            </a:r>
          </a:p>
          <a:p>
            <a:pPr marL="0" indent="0" algn="ctr">
              <a:buNone/>
            </a:pPr>
            <a:r>
              <a:rPr lang="en-US" sz="2800" dirty="0"/>
              <a:t>Consolidated on a Single Screen</a:t>
            </a:r>
          </a:p>
          <a:p>
            <a:pPr marL="0" indent="0" algn="ctr">
              <a:buNone/>
            </a:pPr>
            <a:r>
              <a:rPr lang="en-US" sz="1600" dirty="0"/>
              <a:t>So it can be </a:t>
            </a:r>
          </a:p>
          <a:p>
            <a:pPr marL="0" indent="0" algn="ctr">
              <a:buNone/>
            </a:pPr>
            <a:r>
              <a:rPr lang="en-US" sz="2800" dirty="0"/>
              <a:t>Monitored and Understood at a glance</a:t>
            </a:r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BEBB5-1325-442E-AA06-0891BB93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511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E77E-1F16-4FBE-AC03-4827FE1F0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Dashboard Design Principle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EA550-B184-455B-8B97-5587F88E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E87A3B-31F6-4197-A85A-B4E0224B68F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338182" y="2067254"/>
            <a:ext cx="9014358" cy="441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098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</TotalTime>
  <Words>1286</Words>
  <Application>Microsoft Office PowerPoint</Application>
  <PresentationFormat>Widescreen</PresentationFormat>
  <Paragraphs>348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 Narrow</vt:lpstr>
      <vt:lpstr>Calibri</vt:lpstr>
      <vt:lpstr>Century Gothic</vt:lpstr>
      <vt:lpstr>Wingdings</vt:lpstr>
      <vt:lpstr>Wingdings 2</vt:lpstr>
      <vt:lpstr>Wingdings 3</vt:lpstr>
      <vt:lpstr>Ion</vt:lpstr>
      <vt:lpstr>Data Visualization </vt:lpstr>
      <vt:lpstr>Good Decisions Are Based On An Accurate Understanding Of Good Data</vt:lpstr>
      <vt:lpstr>Vision is our most powerful sense!</vt:lpstr>
      <vt:lpstr>Types of Data</vt:lpstr>
      <vt:lpstr>Benefit of visual representation of data</vt:lpstr>
      <vt:lpstr>Attributes of Visual perception</vt:lpstr>
      <vt:lpstr>Four “umbrella” principles of effective visualization</vt:lpstr>
      <vt:lpstr>Knowing your purpose drives all other decisions</vt:lpstr>
      <vt:lpstr>Ensuring integrity is not just being correct; it  also means no distortion</vt:lpstr>
      <vt:lpstr>Use the least amount of ink to convey the most amount of information</vt:lpstr>
      <vt:lpstr>Don’t hide data…show it – Use annotations</vt:lpstr>
      <vt:lpstr>Executing your information display is a three-step process</vt:lpstr>
      <vt:lpstr>Defining message</vt:lpstr>
      <vt:lpstr>Defining Message</vt:lpstr>
      <vt:lpstr>Choosing form</vt:lpstr>
      <vt:lpstr>Choosing Form</vt:lpstr>
      <vt:lpstr>Choosing Form – Best Practices</vt:lpstr>
      <vt:lpstr>Choosing Form – Table or Chart?</vt:lpstr>
      <vt:lpstr>Choose appropriate graph type for message</vt:lpstr>
      <vt:lpstr>Some examples on choice of Form</vt:lpstr>
      <vt:lpstr>Sales of Product A exceed sales of B and C</vt:lpstr>
      <vt:lpstr>There is no apparent relationship between tenure and sales</vt:lpstr>
      <vt:lpstr>Competitor D has the smallest share of industry sales</vt:lpstr>
      <vt:lpstr>Earnings per share have decreased every year since 2000</vt:lpstr>
      <vt:lpstr>There are outliers in the data</vt:lpstr>
      <vt:lpstr>Creating designs</vt:lpstr>
      <vt:lpstr>Creating Design</vt:lpstr>
      <vt:lpstr>Creating Design – Best Practices</vt:lpstr>
      <vt:lpstr>Graphs: Best practices lead to uncluttered look</vt:lpstr>
      <vt:lpstr>Visualization on dashboards</vt:lpstr>
      <vt:lpstr>Dashboard - Definition</vt:lpstr>
      <vt:lpstr>Basic Dashboard Design Principle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</dc:title>
  <dc:creator>Dell</dc:creator>
  <cp:lastModifiedBy>Anand Srinivasan</cp:lastModifiedBy>
  <cp:revision>11</cp:revision>
  <dcterms:created xsi:type="dcterms:W3CDTF">2021-12-17T15:24:41Z</dcterms:created>
  <dcterms:modified xsi:type="dcterms:W3CDTF">2021-12-18T04:11:14Z</dcterms:modified>
</cp:coreProperties>
</file>