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1"/>
  </p:sldMasterIdLst>
  <p:notesMasterIdLst>
    <p:notesMasterId r:id="rId11"/>
  </p:notesMasterIdLst>
  <p:sldIdLst>
    <p:sldId id="256" r:id="rId2"/>
    <p:sldId id="290" r:id="rId3"/>
    <p:sldId id="258" r:id="rId4"/>
    <p:sldId id="257" r:id="rId5"/>
    <p:sldId id="289" r:id="rId6"/>
    <p:sldId id="291" r:id="rId7"/>
    <p:sldId id="292" r:id="rId8"/>
    <p:sldId id="293" r:id="rId9"/>
    <p:sldId id="29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0643" autoAdjust="0"/>
  </p:normalViewPr>
  <p:slideViewPr>
    <p:cSldViewPr snapToGrid="0">
      <p:cViewPr varScale="1">
        <p:scale>
          <a:sx n="37" d="100"/>
          <a:sy n="37" d="100"/>
        </p:scale>
        <p:origin x="172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BB1606-98D1-452E-8540-00517F361819}" type="datetimeFigureOut">
              <a:rPr lang="en-IN" smtClean="0"/>
              <a:t>27-12-2021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DA0A83-3374-4E16-8B11-13FCDC916A25}" type="slidenum">
              <a:rPr lang="en-IN" smtClean="0"/>
              <a:t>‹#›</a:t>
            </a:fld>
            <a:endParaRPr lang="en-IN"/>
          </a:p>
        </p:txBody>
      </p:sp>
    </p:spTree>
    <p:extLst>
      <p:ext uri="{BB962C8B-B14F-4D97-AF65-F5344CB8AC3E}">
        <p14:creationId xmlns:p14="http://schemas.microsoft.com/office/powerpoint/2010/main" val="1114589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US Today</a:t>
            </a:r>
          </a:p>
        </p:txBody>
      </p:sp>
      <p:sp>
        <p:nvSpPr>
          <p:cNvPr id="4" name="Slide Number Placeholder 3"/>
          <p:cNvSpPr>
            <a:spLocks noGrp="1"/>
          </p:cNvSpPr>
          <p:nvPr>
            <p:ph type="sldNum" sz="quarter" idx="10"/>
          </p:nvPr>
        </p:nvSpPr>
        <p:spPr/>
        <p:txBody>
          <a:bodyPr/>
          <a:lstStyle/>
          <a:p>
            <a:fld id="{08C5776F-AA8B-496F-A4E0-BA06DE94DD7C}" type="slidenum">
              <a:rPr lang="en-US" smtClean="0"/>
              <a:pPr/>
              <a:t>2</a:t>
            </a:fld>
            <a:endParaRPr lang="en-US"/>
          </a:p>
        </p:txBody>
      </p:sp>
    </p:spTree>
    <p:extLst>
      <p:ext uri="{BB962C8B-B14F-4D97-AF65-F5344CB8AC3E}">
        <p14:creationId xmlns:p14="http://schemas.microsoft.com/office/powerpoint/2010/main" val="2168312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8C5776F-AA8B-496F-A4E0-BA06DE94DD7C}" type="slidenum">
              <a:rPr lang="en-US" smtClean="0"/>
              <a:pPr/>
              <a:t>3</a:t>
            </a:fld>
            <a:endParaRPr lang="en-US"/>
          </a:p>
        </p:txBody>
      </p:sp>
    </p:spTree>
    <p:extLst>
      <p:ext uri="{BB962C8B-B14F-4D97-AF65-F5344CB8AC3E}">
        <p14:creationId xmlns:p14="http://schemas.microsoft.com/office/powerpoint/2010/main" val="3475541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err="1"/>
              <a:t>ToI</a:t>
            </a:r>
            <a:endParaRPr lang="en-US" dirty="0"/>
          </a:p>
        </p:txBody>
      </p:sp>
      <p:sp>
        <p:nvSpPr>
          <p:cNvPr id="4" name="Slide Number Placeholder 3"/>
          <p:cNvSpPr>
            <a:spLocks noGrp="1"/>
          </p:cNvSpPr>
          <p:nvPr>
            <p:ph type="sldNum" sz="quarter" idx="10"/>
          </p:nvPr>
        </p:nvSpPr>
        <p:spPr/>
        <p:txBody>
          <a:bodyPr/>
          <a:lstStyle/>
          <a:p>
            <a:fld id="{08C5776F-AA8B-496F-A4E0-BA06DE94DD7C}" type="slidenum">
              <a:rPr lang="en-US" smtClean="0"/>
              <a:pPr/>
              <a:t>4</a:t>
            </a:fld>
            <a:endParaRPr lang="en-US"/>
          </a:p>
        </p:txBody>
      </p:sp>
    </p:spTree>
    <p:extLst>
      <p:ext uri="{BB962C8B-B14F-4D97-AF65-F5344CB8AC3E}">
        <p14:creationId xmlns:p14="http://schemas.microsoft.com/office/powerpoint/2010/main" val="35157370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8C5776F-AA8B-496F-A4E0-BA06DE94DD7C}" type="slidenum">
              <a:rPr lang="en-US" smtClean="0"/>
              <a:pPr/>
              <a:t>5</a:t>
            </a:fld>
            <a:endParaRPr lang="en-US"/>
          </a:p>
        </p:txBody>
      </p:sp>
    </p:spTree>
    <p:extLst>
      <p:ext uri="{BB962C8B-B14F-4D97-AF65-F5344CB8AC3E}">
        <p14:creationId xmlns:p14="http://schemas.microsoft.com/office/powerpoint/2010/main" val="599054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b="0" i="0" dirty="0">
                <a:solidFill>
                  <a:srgbClr val="282829"/>
                </a:solidFill>
                <a:effectLst/>
                <a:latin typeface="-apple-system"/>
              </a:rPr>
              <a:t>Among other things, the human eye is sensitive to the area occupied by a given color. There are better attributes — for example our eyes are more sensitive to position, which is why many people say bar charts easier to read.</a:t>
            </a:r>
          </a:p>
          <a:p>
            <a:pPr algn="l" rtl="0"/>
            <a:r>
              <a:rPr lang="en-US" b="0" i="0" dirty="0">
                <a:solidFill>
                  <a:srgbClr val="282829"/>
                </a:solidFill>
                <a:effectLst/>
                <a:latin typeface="-apple-system"/>
              </a:rPr>
              <a:t>Going back to 3D pie charts, the color of the sides usually match with the color on the top, so the total area on the screen or page occupied by the colors in front are larger that the area of the wedge. Because there's more area painted with the front colors, your brain sees them as more dominant and bigger than the actual proportion.</a:t>
            </a:r>
          </a:p>
          <a:p>
            <a:pPr algn="l" rtl="0"/>
            <a:r>
              <a:rPr lang="en-US" b="0" i="0" dirty="0">
                <a:solidFill>
                  <a:srgbClr val="282829"/>
                </a:solidFill>
                <a:effectLst/>
                <a:latin typeface="-apple-system"/>
              </a:rPr>
              <a:t>The same effect happens even more in 3D exploding charts. Any wedge that is set apart from the rest of the chart is drawn with exposed sides, which exaggerates the wedges, even more so if the exposed sides are perpendicular to the viewing vector. The exploded wedge can appear in in front of the other parts of pie that are in the back, obscure them and cause those parts to show less color.</a:t>
            </a:r>
          </a:p>
          <a:p>
            <a:pPr algn="l" rtl="0"/>
            <a:r>
              <a:rPr lang="en-US" b="0" i="0" dirty="0">
                <a:solidFill>
                  <a:srgbClr val="282829"/>
                </a:solidFill>
                <a:effectLst/>
                <a:latin typeface="-apple-system"/>
              </a:rPr>
              <a:t>Furthermore, if the 3D uses a perspective projection, then the area occupied by the part of the pie in the front is exaggerated by the mathematics of projections.</a:t>
            </a:r>
          </a:p>
          <a:p>
            <a:endParaRPr lang="en-IN" dirty="0"/>
          </a:p>
        </p:txBody>
      </p:sp>
      <p:sp>
        <p:nvSpPr>
          <p:cNvPr id="4" name="Slide Number Placeholder 3"/>
          <p:cNvSpPr>
            <a:spLocks noGrp="1"/>
          </p:cNvSpPr>
          <p:nvPr>
            <p:ph type="sldNum" sz="quarter" idx="5"/>
          </p:nvPr>
        </p:nvSpPr>
        <p:spPr/>
        <p:txBody>
          <a:bodyPr/>
          <a:lstStyle/>
          <a:p>
            <a:fld id="{CBDA0A83-3374-4E16-8B11-13FCDC916A25}" type="slidenum">
              <a:rPr lang="en-IN" smtClean="0"/>
              <a:t>6</a:t>
            </a:fld>
            <a:endParaRPr lang="en-IN"/>
          </a:p>
        </p:txBody>
      </p:sp>
    </p:spTree>
    <p:extLst>
      <p:ext uri="{BB962C8B-B14F-4D97-AF65-F5344CB8AC3E}">
        <p14:creationId xmlns:p14="http://schemas.microsoft.com/office/powerpoint/2010/main" val="277921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3A91406-C875-4B24-B45D-AEF908FDEA8B}" type="datetime1">
              <a:rPr lang="en-US" smtClean="0"/>
              <a:t>12/27/2021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80900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A98F2ECA-6CA7-42EE-AAB9-FFE8788F9893}" type="datetime1">
              <a:rPr lang="en-US" smtClean="0"/>
              <a:t>12/27/2021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96969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64FCB84-F326-4036-AA8C-109365272BC7}" type="datetime1">
              <a:rPr lang="en-US" smtClean="0"/>
              <a:t>12/27/2021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5523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16C8F-49C7-43DA-8B61-5A67C9C1F44A}" type="datetime1">
              <a:rPr lang="en-US" smtClean="0"/>
              <a:t>12/27/2021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3507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2CD5AD-AD32-4A49-9CA1-8C0CD7F28289}" type="datetime1">
              <a:rPr lang="en-US" smtClean="0"/>
              <a:t>12/27/2021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547075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ACD9E91-2426-4C61-BA6F-B1993829FF3A}" type="datetime1">
              <a:rPr lang="en-US" smtClean="0"/>
              <a:t>12/27/2021</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534965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949F429-4C81-4D37-89A1-7492C1E1DE63}" type="datetime1">
              <a:rPr lang="en-US" smtClean="0"/>
              <a:t>12/27/2021</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47542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60145124-AD82-44CB-8D91-CC9567F1FA2A}" type="datetime1">
              <a:rPr lang="en-US" smtClean="0"/>
              <a:t>12/27/2021</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7925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6BC98B-466E-41F4-8549-2B00AC9F92F9}" type="datetime1">
              <a:rPr lang="en-US" smtClean="0"/>
              <a:t>12/27/2021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3277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C0C1E69-3FE6-414A-B8FC-A049A4490C5D}" type="datetime1">
              <a:rPr lang="en-US" smtClean="0"/>
              <a:t>12/27/2021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956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94D7FDB-4D5F-4FEB-8D35-123DACE1C12E}" type="datetime1">
              <a:rPr lang="en-US" smtClean="0"/>
              <a:t>12/27/2021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5956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632C410-F9F7-4284-8526-C204E10D3BA2}" type="datetime1">
              <a:rPr lang="en-US" smtClean="0"/>
              <a:t>12/27/2021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608975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7DF3A3-2343-41AA-8C94-E0C5FD7CAA8A}" type="datetime1">
              <a:rPr lang="en-US" smtClean="0"/>
              <a:t>12/27/2021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4218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76F12A5-13C5-4C6D-97E0-725E81243ADE}" type="datetime1">
              <a:rPr lang="en-US" smtClean="0"/>
              <a:t>12/27/2021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6670358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305A5FF-A98B-4E31-A189-C2F918DD98DE}" type="datetime1">
              <a:rPr lang="en-US" smtClean="0"/>
              <a:t>12/27/2021</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2279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AECFBAE-1D0F-4046-B2E4-EDE1A7C8C623}" type="datetime1">
              <a:rPr lang="en-US" smtClean="0"/>
              <a:t>12/27/2021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7707549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57B633F-4CFB-4882-8368-80DDD27E41AA}" type="datetime1">
              <a:rPr lang="en-US" smtClean="0"/>
              <a:t>12/27/2021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48176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C1C26A6-7E35-4E68-9347-D95A92CEE2A5}" type="datetime1">
              <a:rPr lang="en-US" smtClean="0"/>
              <a:t>12/27/2021</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18408432"/>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 Visualization </a:t>
            </a:r>
            <a:endParaRPr lang="en-IN" dirty="0"/>
          </a:p>
        </p:txBody>
      </p:sp>
      <p:sp>
        <p:nvSpPr>
          <p:cNvPr id="3" name="Subtitle 2"/>
          <p:cNvSpPr>
            <a:spLocks noGrp="1"/>
          </p:cNvSpPr>
          <p:nvPr>
            <p:ph type="subTitle" idx="1"/>
          </p:nvPr>
        </p:nvSpPr>
        <p:spPr/>
        <p:txBody>
          <a:bodyPr/>
          <a:lstStyle/>
          <a:p>
            <a:r>
              <a:rPr lang="en-US" dirty="0"/>
              <a:t>Misleading visuals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371351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025" y="152400"/>
            <a:ext cx="9553575" cy="1251062"/>
          </a:xfrm>
        </p:spPr>
        <p:txBody>
          <a:bodyPr>
            <a:normAutofit/>
          </a:bodyPr>
          <a:lstStyle/>
          <a:p>
            <a:r>
              <a:rPr lang="en-US" cap="none" dirty="0"/>
              <a:t>Misleading axes</a:t>
            </a:r>
          </a:p>
        </p:txBody>
      </p:sp>
      <p:sp>
        <p:nvSpPr>
          <p:cNvPr id="3" name="Slide Number Placeholder 2"/>
          <p:cNvSpPr>
            <a:spLocks noGrp="1"/>
          </p:cNvSpPr>
          <p:nvPr>
            <p:ph type="sldNum" sz="quarter" idx="12"/>
          </p:nvPr>
        </p:nvSpPr>
        <p:spPr/>
        <p:txBody>
          <a:bodyPr/>
          <a:lstStyle/>
          <a:p>
            <a:fld id="{D57F1E4F-1CFF-5643-939E-217C01CDF565}" type="slidenum">
              <a:rPr lang="en-US" smtClean="0"/>
              <a:pPr/>
              <a:t>2</a:t>
            </a:fld>
            <a:endParaRPr lang="en-US" dirty="0"/>
          </a:p>
        </p:txBody>
      </p:sp>
      <p:pic>
        <p:nvPicPr>
          <p:cNvPr id="5" name="Picture 4">
            <a:extLst>
              <a:ext uri="{FF2B5EF4-FFF2-40B4-BE49-F238E27FC236}">
                <a16:creationId xmlns:a16="http://schemas.microsoft.com/office/drawing/2014/main" id="{C8B32035-E16F-49ED-8D76-40B6A4C83DD2}"/>
              </a:ext>
            </a:extLst>
          </p:cNvPr>
          <p:cNvPicPr>
            <a:picLocks noChangeAspect="1"/>
          </p:cNvPicPr>
          <p:nvPr/>
        </p:nvPicPr>
        <p:blipFill rotWithShape="1">
          <a:blip r:embed="rId3"/>
          <a:srcRect l="11429" t="37143" r="55357" b="21905"/>
          <a:stretch/>
        </p:blipFill>
        <p:spPr>
          <a:xfrm>
            <a:off x="530108" y="1858446"/>
            <a:ext cx="5565892" cy="3860216"/>
          </a:xfrm>
          <a:prstGeom prst="rect">
            <a:avLst/>
          </a:prstGeom>
        </p:spPr>
      </p:pic>
      <p:sp>
        <p:nvSpPr>
          <p:cNvPr id="7" name="Rectangle 3">
            <a:extLst>
              <a:ext uri="{FF2B5EF4-FFF2-40B4-BE49-F238E27FC236}">
                <a16:creationId xmlns:a16="http://schemas.microsoft.com/office/drawing/2014/main" id="{2D036F78-F897-43C7-B5A5-FAB31F495F38}"/>
              </a:ext>
            </a:extLst>
          </p:cNvPr>
          <p:cNvSpPr txBox="1">
            <a:spLocks noChangeArrowheads="1"/>
          </p:cNvSpPr>
          <p:nvPr/>
        </p:nvSpPr>
        <p:spPr>
          <a:xfrm>
            <a:off x="6255202" y="2231570"/>
            <a:ext cx="5272769" cy="2547259"/>
          </a:xfrm>
          <a:prstGeom prst="rect">
            <a:avLst/>
          </a:prstGeom>
        </p:spPr>
        <p:txBody>
          <a:bodyPr vert="horz" lIns="91440" tIns="45720" rIns="86493" bIns="43247"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nSpc>
                <a:spcPct val="80000"/>
              </a:lnSpc>
              <a:spcAft>
                <a:spcPct val="50000"/>
              </a:spcAft>
            </a:pPr>
            <a:r>
              <a:rPr lang="en-US" sz="2400" dirty="0">
                <a:solidFill>
                  <a:schemeClr val="accent3">
                    <a:lumMod val="40000"/>
                    <a:lumOff val="60000"/>
                  </a:schemeClr>
                </a:solidFill>
              </a:rPr>
              <a:t>It appears that the welfare problem is spiraling out of control. </a:t>
            </a:r>
          </a:p>
          <a:p>
            <a:pPr>
              <a:lnSpc>
                <a:spcPct val="80000"/>
              </a:lnSpc>
              <a:spcAft>
                <a:spcPct val="50000"/>
              </a:spcAft>
            </a:pPr>
            <a:r>
              <a:rPr lang="en-US" sz="2400" dirty="0">
                <a:solidFill>
                  <a:schemeClr val="accent3">
                    <a:lumMod val="40000"/>
                    <a:lumOff val="60000"/>
                  </a:schemeClr>
                </a:solidFill>
              </a:rPr>
              <a:t>But note where the y-axis starts!</a:t>
            </a:r>
          </a:p>
        </p:txBody>
      </p:sp>
      <p:sp>
        <p:nvSpPr>
          <p:cNvPr id="8" name="TextBox 7">
            <a:extLst>
              <a:ext uri="{FF2B5EF4-FFF2-40B4-BE49-F238E27FC236}">
                <a16:creationId xmlns:a16="http://schemas.microsoft.com/office/drawing/2014/main" id="{64E6F2CC-487D-407F-A1F3-F4E9642E29B5}"/>
              </a:ext>
            </a:extLst>
          </p:cNvPr>
          <p:cNvSpPr txBox="1"/>
          <p:nvPr/>
        </p:nvSpPr>
        <p:spPr>
          <a:xfrm>
            <a:off x="569458" y="6173646"/>
            <a:ext cx="5606143" cy="430887"/>
          </a:xfrm>
          <a:prstGeom prst="rect">
            <a:avLst/>
          </a:prstGeom>
          <a:noFill/>
        </p:spPr>
        <p:txBody>
          <a:bodyPr wrap="square" rtlCol="0">
            <a:spAutoFit/>
          </a:bodyPr>
          <a:lstStyle/>
          <a:p>
            <a:r>
              <a:rPr lang="en-IN" sz="1100" b="0" i="1" dirty="0">
                <a:solidFill>
                  <a:srgbClr val="777777"/>
                </a:solidFill>
                <a:effectLst/>
                <a:latin typeface="pt sans" panose="020B0604020202020204" pitchFamily="34" charset="0"/>
              </a:rPr>
              <a:t>https://www.statisticshowto.com/probability-and-statistics/descriptive-statistics/misleading-graphs/</a:t>
            </a:r>
            <a:endParaRPr lang="en-IN" sz="1100" dirty="0"/>
          </a:p>
        </p:txBody>
      </p:sp>
    </p:spTree>
    <p:extLst>
      <p:ext uri="{BB962C8B-B14F-4D97-AF65-F5344CB8AC3E}">
        <p14:creationId xmlns:p14="http://schemas.microsoft.com/office/powerpoint/2010/main" val="487151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1" y="212195"/>
            <a:ext cx="9421813" cy="1507067"/>
          </a:xfrm>
        </p:spPr>
        <p:txBody>
          <a:bodyPr>
            <a:normAutofit/>
          </a:bodyPr>
          <a:lstStyle/>
          <a:p>
            <a:r>
              <a:rPr lang="en-US" dirty="0"/>
              <a:t>Wrong data</a:t>
            </a:r>
          </a:p>
        </p:txBody>
      </p:sp>
      <p:sp>
        <p:nvSpPr>
          <p:cNvPr id="3" name="Slide Number Placeholder 2"/>
          <p:cNvSpPr>
            <a:spLocks noGrp="1"/>
          </p:cNvSpPr>
          <p:nvPr>
            <p:ph type="sldNum" sz="quarter" idx="12"/>
          </p:nvPr>
        </p:nvSpPr>
        <p:spPr/>
        <p:txBody>
          <a:bodyPr/>
          <a:lstStyle/>
          <a:p>
            <a:fld id="{D57F1E4F-1CFF-5643-939E-217C01CDF565}" type="slidenum">
              <a:rPr lang="en-US" smtClean="0"/>
              <a:pPr/>
              <a:t>3</a:t>
            </a:fld>
            <a:endParaRPr lang="en-US" dirty="0"/>
          </a:p>
        </p:txBody>
      </p:sp>
      <p:sp>
        <p:nvSpPr>
          <p:cNvPr id="8" name="TextBox 7">
            <a:extLst>
              <a:ext uri="{FF2B5EF4-FFF2-40B4-BE49-F238E27FC236}">
                <a16:creationId xmlns:a16="http://schemas.microsoft.com/office/drawing/2014/main" id="{F7292561-F4DE-45C0-83CF-1682245796A0}"/>
              </a:ext>
            </a:extLst>
          </p:cNvPr>
          <p:cNvSpPr txBox="1"/>
          <p:nvPr/>
        </p:nvSpPr>
        <p:spPr>
          <a:xfrm>
            <a:off x="740228" y="5999474"/>
            <a:ext cx="5606143" cy="261610"/>
          </a:xfrm>
          <a:prstGeom prst="rect">
            <a:avLst/>
          </a:prstGeom>
          <a:noFill/>
        </p:spPr>
        <p:txBody>
          <a:bodyPr wrap="square" rtlCol="0">
            <a:spAutoFit/>
          </a:bodyPr>
          <a:lstStyle/>
          <a:p>
            <a:r>
              <a:rPr lang="en-IN" sz="1100" b="0" i="1" dirty="0">
                <a:effectLst/>
                <a:latin typeface="pt sans" panose="020B0604020202020204" pitchFamily="34" charset="0"/>
              </a:rPr>
              <a:t>http://flowingdata.com/2009/11/26/fox-news-makes-the-best-pie-chart-ever/</a:t>
            </a:r>
            <a:endParaRPr lang="en-IN" sz="1100" dirty="0"/>
          </a:p>
        </p:txBody>
      </p:sp>
      <p:pic>
        <p:nvPicPr>
          <p:cNvPr id="10" name="Picture 9">
            <a:extLst>
              <a:ext uri="{FF2B5EF4-FFF2-40B4-BE49-F238E27FC236}">
                <a16:creationId xmlns:a16="http://schemas.microsoft.com/office/drawing/2014/main" id="{7C529784-49EA-488A-BF8F-C12857EDB25A}"/>
              </a:ext>
            </a:extLst>
          </p:cNvPr>
          <p:cNvPicPr>
            <a:picLocks noChangeAspect="1"/>
          </p:cNvPicPr>
          <p:nvPr/>
        </p:nvPicPr>
        <p:blipFill rotWithShape="1">
          <a:blip r:embed="rId3"/>
          <a:srcRect l="22411" t="25069" r="40357" b="23175"/>
          <a:stretch/>
        </p:blipFill>
        <p:spPr>
          <a:xfrm>
            <a:off x="740228" y="1947862"/>
            <a:ext cx="4539343" cy="3549424"/>
          </a:xfrm>
          <a:prstGeom prst="rect">
            <a:avLst/>
          </a:prstGeom>
        </p:spPr>
      </p:pic>
      <p:sp>
        <p:nvSpPr>
          <p:cNvPr id="13" name="Rectangle 3">
            <a:extLst>
              <a:ext uri="{FF2B5EF4-FFF2-40B4-BE49-F238E27FC236}">
                <a16:creationId xmlns:a16="http://schemas.microsoft.com/office/drawing/2014/main" id="{18F64C45-0906-4D95-8D68-998FAD73CA24}"/>
              </a:ext>
            </a:extLst>
          </p:cNvPr>
          <p:cNvSpPr txBox="1">
            <a:spLocks noChangeArrowheads="1"/>
          </p:cNvSpPr>
          <p:nvPr/>
        </p:nvSpPr>
        <p:spPr>
          <a:xfrm>
            <a:off x="5841545" y="2503714"/>
            <a:ext cx="5272769" cy="1507067"/>
          </a:xfrm>
          <a:prstGeom prst="rect">
            <a:avLst/>
          </a:prstGeom>
        </p:spPr>
        <p:txBody>
          <a:bodyPr vert="horz" lIns="91440" tIns="45720" rIns="86493" bIns="43247"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nSpc>
                <a:spcPct val="80000"/>
              </a:lnSpc>
              <a:spcAft>
                <a:spcPct val="50000"/>
              </a:spcAft>
            </a:pPr>
            <a:r>
              <a:rPr lang="en-US" sz="2400" dirty="0">
                <a:solidFill>
                  <a:schemeClr val="accent3">
                    <a:lumMod val="40000"/>
                    <a:lumOff val="60000"/>
                  </a:schemeClr>
                </a:solidFill>
              </a:rPr>
              <a:t>The weights of the categories do not add up</a:t>
            </a:r>
          </a:p>
        </p:txBody>
      </p:sp>
    </p:spTree>
    <p:extLst>
      <p:ext uri="{BB962C8B-B14F-4D97-AF65-F5344CB8AC3E}">
        <p14:creationId xmlns:p14="http://schemas.microsoft.com/office/powerpoint/2010/main" val="128150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025" y="152400"/>
            <a:ext cx="9553575" cy="1251062"/>
          </a:xfrm>
        </p:spPr>
        <p:txBody>
          <a:bodyPr>
            <a:normAutofit/>
          </a:bodyPr>
          <a:lstStyle/>
          <a:p>
            <a:r>
              <a:rPr lang="en-US" cap="none" dirty="0"/>
              <a:t>Inappropriate chart type</a:t>
            </a:r>
          </a:p>
        </p:txBody>
      </p:sp>
      <p:sp>
        <p:nvSpPr>
          <p:cNvPr id="3" name="Slide Number Placeholder 2"/>
          <p:cNvSpPr>
            <a:spLocks noGrp="1"/>
          </p:cNvSpPr>
          <p:nvPr>
            <p:ph type="sldNum" sz="quarter" idx="12"/>
          </p:nvPr>
        </p:nvSpPr>
        <p:spPr/>
        <p:txBody>
          <a:bodyPr/>
          <a:lstStyle/>
          <a:p>
            <a:fld id="{D57F1E4F-1CFF-5643-939E-217C01CDF565}" type="slidenum">
              <a:rPr lang="en-US" smtClean="0"/>
              <a:pPr/>
              <a:t>4</a:t>
            </a:fld>
            <a:endParaRPr lang="en-US" dirty="0"/>
          </a:p>
        </p:txBody>
      </p:sp>
      <p:pic>
        <p:nvPicPr>
          <p:cNvPr id="11" name="Picture 10">
            <a:extLst>
              <a:ext uri="{FF2B5EF4-FFF2-40B4-BE49-F238E27FC236}">
                <a16:creationId xmlns:a16="http://schemas.microsoft.com/office/drawing/2014/main" id="{3EB4A67B-2E80-46E4-BD56-A9DE19A29C64}"/>
              </a:ext>
            </a:extLst>
          </p:cNvPr>
          <p:cNvPicPr>
            <a:picLocks noChangeAspect="1"/>
          </p:cNvPicPr>
          <p:nvPr/>
        </p:nvPicPr>
        <p:blipFill rotWithShape="1">
          <a:blip r:embed="rId3"/>
          <a:srcRect t="19048" b="38412"/>
          <a:stretch/>
        </p:blipFill>
        <p:spPr>
          <a:xfrm>
            <a:off x="372835" y="1502227"/>
            <a:ext cx="5396594" cy="5101541"/>
          </a:xfrm>
          <a:prstGeom prst="rect">
            <a:avLst/>
          </a:prstGeom>
        </p:spPr>
      </p:pic>
      <p:sp>
        <p:nvSpPr>
          <p:cNvPr id="5" name="Rectangle 3">
            <a:extLst>
              <a:ext uri="{FF2B5EF4-FFF2-40B4-BE49-F238E27FC236}">
                <a16:creationId xmlns:a16="http://schemas.microsoft.com/office/drawing/2014/main" id="{E6903F1D-F276-424A-975C-0FCFBB90D362}"/>
              </a:ext>
            </a:extLst>
          </p:cNvPr>
          <p:cNvSpPr txBox="1">
            <a:spLocks noChangeArrowheads="1"/>
          </p:cNvSpPr>
          <p:nvPr/>
        </p:nvSpPr>
        <p:spPr>
          <a:xfrm>
            <a:off x="6255202" y="2231570"/>
            <a:ext cx="5272769" cy="2547259"/>
          </a:xfrm>
          <a:prstGeom prst="rect">
            <a:avLst/>
          </a:prstGeom>
        </p:spPr>
        <p:txBody>
          <a:bodyPr vert="horz" lIns="91440" tIns="45720" rIns="86493" bIns="43247"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nSpc>
                <a:spcPct val="80000"/>
              </a:lnSpc>
              <a:spcAft>
                <a:spcPct val="50000"/>
              </a:spcAft>
            </a:pPr>
            <a:r>
              <a:rPr lang="en-US" sz="2400" dirty="0">
                <a:solidFill>
                  <a:schemeClr val="accent3">
                    <a:lumMod val="40000"/>
                    <a:lumOff val="60000"/>
                  </a:schemeClr>
                </a:solidFill>
              </a:rPr>
              <a:t>It is difficult to compare the two datasets using the stacked bar chart.</a:t>
            </a:r>
          </a:p>
          <a:p>
            <a:pPr>
              <a:lnSpc>
                <a:spcPct val="80000"/>
              </a:lnSpc>
              <a:spcAft>
                <a:spcPct val="50000"/>
              </a:spcAft>
            </a:pPr>
            <a:r>
              <a:rPr lang="en-US" sz="2400" dirty="0">
                <a:solidFill>
                  <a:schemeClr val="accent3">
                    <a:lumMod val="40000"/>
                    <a:lumOff val="60000"/>
                  </a:schemeClr>
                </a:solidFill>
              </a:rPr>
              <a:t>Bar chart with two series of columns would be better.</a:t>
            </a:r>
          </a:p>
        </p:txBody>
      </p:sp>
    </p:spTree>
    <p:extLst>
      <p:ext uri="{BB962C8B-B14F-4D97-AF65-F5344CB8AC3E}">
        <p14:creationId xmlns:p14="http://schemas.microsoft.com/office/powerpoint/2010/main" val="2602642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1" y="157767"/>
            <a:ext cx="9421813" cy="1507067"/>
          </a:xfrm>
        </p:spPr>
        <p:txBody>
          <a:bodyPr>
            <a:normAutofit/>
          </a:bodyPr>
          <a:lstStyle/>
          <a:p>
            <a:r>
              <a:rPr lang="en-US" dirty="0"/>
              <a:t>Incorrect bar chart</a:t>
            </a:r>
          </a:p>
        </p:txBody>
      </p:sp>
      <p:sp>
        <p:nvSpPr>
          <p:cNvPr id="3" name="Slide Number Placeholder 2"/>
          <p:cNvSpPr>
            <a:spLocks noGrp="1"/>
          </p:cNvSpPr>
          <p:nvPr>
            <p:ph type="sldNum" sz="quarter" idx="12"/>
          </p:nvPr>
        </p:nvSpPr>
        <p:spPr/>
        <p:txBody>
          <a:bodyPr/>
          <a:lstStyle/>
          <a:p>
            <a:fld id="{D57F1E4F-1CFF-5643-939E-217C01CDF565}" type="slidenum">
              <a:rPr lang="en-US" smtClean="0"/>
              <a:pPr/>
              <a:t>5</a:t>
            </a:fld>
            <a:endParaRPr lang="en-US" dirty="0"/>
          </a:p>
        </p:txBody>
      </p:sp>
      <p:pic>
        <p:nvPicPr>
          <p:cNvPr id="7" name="Picture 6">
            <a:extLst>
              <a:ext uri="{FF2B5EF4-FFF2-40B4-BE49-F238E27FC236}">
                <a16:creationId xmlns:a16="http://schemas.microsoft.com/office/drawing/2014/main" id="{2F490118-1937-42CB-8FF1-17A438E34E52}"/>
              </a:ext>
            </a:extLst>
          </p:cNvPr>
          <p:cNvPicPr>
            <a:picLocks noChangeAspect="1"/>
          </p:cNvPicPr>
          <p:nvPr/>
        </p:nvPicPr>
        <p:blipFill rotWithShape="1">
          <a:blip r:embed="rId3"/>
          <a:srcRect l="15546" t="15506" r="38394" b="17619"/>
          <a:stretch/>
        </p:blipFill>
        <p:spPr>
          <a:xfrm>
            <a:off x="611866" y="1912502"/>
            <a:ext cx="5615667" cy="4586270"/>
          </a:xfrm>
          <a:prstGeom prst="rect">
            <a:avLst/>
          </a:prstGeom>
        </p:spPr>
      </p:pic>
      <p:sp>
        <p:nvSpPr>
          <p:cNvPr id="10" name="TextBox 9">
            <a:extLst>
              <a:ext uri="{FF2B5EF4-FFF2-40B4-BE49-F238E27FC236}">
                <a16:creationId xmlns:a16="http://schemas.microsoft.com/office/drawing/2014/main" id="{62862CAB-5721-4EFE-9281-27DECB77EBFC}"/>
              </a:ext>
            </a:extLst>
          </p:cNvPr>
          <p:cNvSpPr txBox="1"/>
          <p:nvPr/>
        </p:nvSpPr>
        <p:spPr>
          <a:xfrm>
            <a:off x="611866" y="1447800"/>
            <a:ext cx="5484134" cy="370114"/>
          </a:xfrm>
          <a:prstGeom prst="rect">
            <a:avLst/>
          </a:prstGeom>
          <a:noFill/>
        </p:spPr>
        <p:txBody>
          <a:bodyPr wrap="square" rtlCol="0">
            <a:spAutoFit/>
          </a:bodyPr>
          <a:lstStyle/>
          <a:p>
            <a:r>
              <a:rPr lang="en-US" dirty="0"/>
              <a:t>%increase in petrol prices</a:t>
            </a:r>
            <a:endParaRPr lang="en-IN" dirty="0"/>
          </a:p>
        </p:txBody>
      </p:sp>
      <p:sp>
        <p:nvSpPr>
          <p:cNvPr id="15" name="Rectangle 3">
            <a:extLst>
              <a:ext uri="{FF2B5EF4-FFF2-40B4-BE49-F238E27FC236}">
                <a16:creationId xmlns:a16="http://schemas.microsoft.com/office/drawing/2014/main" id="{C5F0CDF1-A676-4940-A501-EE05D212F3E6}"/>
              </a:ext>
            </a:extLst>
          </p:cNvPr>
          <p:cNvSpPr txBox="1">
            <a:spLocks noChangeArrowheads="1"/>
          </p:cNvSpPr>
          <p:nvPr/>
        </p:nvSpPr>
        <p:spPr>
          <a:xfrm>
            <a:off x="6490378" y="1447800"/>
            <a:ext cx="5272769" cy="2547259"/>
          </a:xfrm>
          <a:prstGeom prst="rect">
            <a:avLst/>
          </a:prstGeom>
        </p:spPr>
        <p:txBody>
          <a:bodyPr vert="horz" lIns="91440" tIns="45720" rIns="86493" bIns="43247"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000" b="0" i="0" dirty="0">
                <a:solidFill>
                  <a:schemeClr val="accent3">
                    <a:lumMod val="40000"/>
                    <a:lumOff val="60000"/>
                  </a:schemeClr>
                </a:solidFill>
                <a:effectLst/>
                <a:latin typeface="PTSerif"/>
              </a:rPr>
              <a:t>An arrow points downward to Sept data point, however there is a positive change to the price</a:t>
            </a:r>
            <a:r>
              <a:rPr lang="en-US" dirty="0">
                <a:solidFill>
                  <a:schemeClr val="accent3">
                    <a:lumMod val="40000"/>
                    <a:lumOff val="60000"/>
                  </a:schemeClr>
                </a:solidFill>
                <a:latin typeface="PTSerif"/>
              </a:rPr>
              <a:t>.</a:t>
            </a:r>
          </a:p>
          <a:p>
            <a:r>
              <a:rPr lang="en-US" sz="2000" b="0" i="0" dirty="0">
                <a:solidFill>
                  <a:schemeClr val="accent3">
                    <a:lumMod val="40000"/>
                    <a:lumOff val="60000"/>
                  </a:schemeClr>
                </a:solidFill>
                <a:effectLst/>
                <a:latin typeface="PTSerif"/>
              </a:rPr>
              <a:t>However, the %increase has reduced for Sept. </a:t>
            </a:r>
          </a:p>
        </p:txBody>
      </p:sp>
      <p:pic>
        <p:nvPicPr>
          <p:cNvPr id="13" name="Picture 12">
            <a:extLst>
              <a:ext uri="{FF2B5EF4-FFF2-40B4-BE49-F238E27FC236}">
                <a16:creationId xmlns:a16="http://schemas.microsoft.com/office/drawing/2014/main" id="{1A6B3103-0BF6-45EE-A068-8FCF856CFB09}"/>
              </a:ext>
            </a:extLst>
          </p:cNvPr>
          <p:cNvPicPr>
            <a:picLocks noChangeAspect="1"/>
          </p:cNvPicPr>
          <p:nvPr/>
        </p:nvPicPr>
        <p:blipFill rotWithShape="1">
          <a:blip r:embed="rId4"/>
          <a:srcRect l="29286" t="32540" r="32410" b="32222"/>
          <a:stretch/>
        </p:blipFill>
        <p:spPr>
          <a:xfrm>
            <a:off x="7214962" y="4075450"/>
            <a:ext cx="3505200" cy="1813880"/>
          </a:xfrm>
          <a:prstGeom prst="rect">
            <a:avLst/>
          </a:prstGeom>
        </p:spPr>
      </p:pic>
      <p:sp>
        <p:nvSpPr>
          <p:cNvPr id="16" name="TextBox 15">
            <a:extLst>
              <a:ext uri="{FF2B5EF4-FFF2-40B4-BE49-F238E27FC236}">
                <a16:creationId xmlns:a16="http://schemas.microsoft.com/office/drawing/2014/main" id="{F12E41D0-AC6F-4604-9EEB-6281F9FBE686}"/>
              </a:ext>
            </a:extLst>
          </p:cNvPr>
          <p:cNvSpPr txBox="1"/>
          <p:nvPr/>
        </p:nvSpPr>
        <p:spPr>
          <a:xfrm>
            <a:off x="7214962" y="6153091"/>
            <a:ext cx="4365172" cy="400110"/>
          </a:xfrm>
          <a:prstGeom prst="rect">
            <a:avLst/>
          </a:prstGeom>
          <a:noFill/>
        </p:spPr>
        <p:txBody>
          <a:bodyPr wrap="square" rtlCol="0">
            <a:spAutoFit/>
          </a:bodyPr>
          <a:lstStyle/>
          <a:p>
            <a:r>
              <a:rPr lang="en-US" sz="1000" dirty="0"/>
              <a:t>https://qz.com/india/1388030/indias-bjp-peddled-a-prime-example-of-chartjunk-to-its-millions-of-followers/</a:t>
            </a:r>
            <a:endParaRPr lang="en-IN" sz="1000" dirty="0"/>
          </a:p>
        </p:txBody>
      </p:sp>
      <p:sp>
        <p:nvSpPr>
          <p:cNvPr id="19" name="TextBox 18">
            <a:extLst>
              <a:ext uri="{FF2B5EF4-FFF2-40B4-BE49-F238E27FC236}">
                <a16:creationId xmlns:a16="http://schemas.microsoft.com/office/drawing/2014/main" id="{E851951E-0BC8-4A46-9CB9-36C2F14DC9FA}"/>
              </a:ext>
            </a:extLst>
          </p:cNvPr>
          <p:cNvSpPr txBox="1"/>
          <p:nvPr/>
        </p:nvSpPr>
        <p:spPr>
          <a:xfrm>
            <a:off x="7214962" y="6162161"/>
            <a:ext cx="4365172" cy="400110"/>
          </a:xfrm>
          <a:prstGeom prst="rect">
            <a:avLst/>
          </a:prstGeom>
          <a:noFill/>
        </p:spPr>
        <p:txBody>
          <a:bodyPr wrap="square" rtlCol="0">
            <a:spAutoFit/>
          </a:bodyPr>
          <a:lstStyle/>
          <a:p>
            <a:r>
              <a:rPr lang="en-US" sz="1000" dirty="0"/>
              <a:t>https://qz.com/india/1388030/indias-bjp-peddled-a-prime-example-of-chartjunk-to-its-millions-of-followers/</a:t>
            </a:r>
            <a:endParaRPr lang="en-IN" sz="1000" dirty="0"/>
          </a:p>
        </p:txBody>
      </p:sp>
      <p:sp>
        <p:nvSpPr>
          <p:cNvPr id="20" name="TextBox 19">
            <a:extLst>
              <a:ext uri="{FF2B5EF4-FFF2-40B4-BE49-F238E27FC236}">
                <a16:creationId xmlns:a16="http://schemas.microsoft.com/office/drawing/2014/main" id="{199D56A2-2F55-4752-8ADA-F85DD75BFF01}"/>
              </a:ext>
            </a:extLst>
          </p:cNvPr>
          <p:cNvSpPr txBox="1"/>
          <p:nvPr/>
        </p:nvSpPr>
        <p:spPr>
          <a:xfrm>
            <a:off x="7954057" y="3745678"/>
            <a:ext cx="2027009" cy="253916"/>
          </a:xfrm>
          <a:prstGeom prst="rect">
            <a:avLst/>
          </a:prstGeom>
          <a:noFill/>
        </p:spPr>
        <p:txBody>
          <a:bodyPr wrap="square" rtlCol="0">
            <a:spAutoFit/>
          </a:bodyPr>
          <a:lstStyle/>
          <a:p>
            <a:r>
              <a:rPr lang="en-US" sz="1050" dirty="0"/>
              <a:t>Accurate chart might be </a:t>
            </a:r>
            <a:endParaRPr lang="en-IN" sz="1050" dirty="0"/>
          </a:p>
        </p:txBody>
      </p:sp>
    </p:spTree>
    <p:extLst>
      <p:ext uri="{BB962C8B-B14F-4D97-AF65-F5344CB8AC3E}">
        <p14:creationId xmlns:p14="http://schemas.microsoft.com/office/powerpoint/2010/main" val="3567229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AF2FA1-FC6A-4742-8336-746B4C6380A3}"/>
              </a:ext>
            </a:extLst>
          </p:cNvPr>
          <p:cNvSpPr>
            <a:spLocks noGrp="1"/>
          </p:cNvSpPr>
          <p:nvPr>
            <p:ph type="title"/>
          </p:nvPr>
        </p:nvSpPr>
        <p:spPr/>
        <p:txBody>
          <a:bodyPr/>
          <a:lstStyle/>
          <a:p>
            <a:r>
              <a:rPr lang="en-US" dirty="0"/>
              <a:t>Misleading 3D Pie Chart</a:t>
            </a:r>
            <a:endParaRPr lang="en-IN" dirty="0"/>
          </a:p>
        </p:txBody>
      </p:sp>
      <p:sp>
        <p:nvSpPr>
          <p:cNvPr id="3" name="Slide Number Placeholder 2">
            <a:extLst>
              <a:ext uri="{FF2B5EF4-FFF2-40B4-BE49-F238E27FC236}">
                <a16:creationId xmlns:a16="http://schemas.microsoft.com/office/drawing/2014/main" id="{B97C4B93-0455-4810-BF83-5A575B228BEE}"/>
              </a:ext>
            </a:extLst>
          </p:cNvPr>
          <p:cNvSpPr>
            <a:spLocks noGrp="1"/>
          </p:cNvSpPr>
          <p:nvPr>
            <p:ph type="sldNum" sz="quarter" idx="12"/>
          </p:nvPr>
        </p:nvSpPr>
        <p:spPr/>
        <p:txBody>
          <a:bodyPr/>
          <a:lstStyle/>
          <a:p>
            <a:fld id="{D57F1E4F-1CFF-5643-939E-217C01CDF565}" type="slidenum">
              <a:rPr lang="en-US" smtClean="0"/>
              <a:pPr/>
              <a:t>6</a:t>
            </a:fld>
            <a:endParaRPr lang="en-US" dirty="0"/>
          </a:p>
        </p:txBody>
      </p:sp>
      <p:pic>
        <p:nvPicPr>
          <p:cNvPr id="5" name="Picture 4">
            <a:extLst>
              <a:ext uri="{FF2B5EF4-FFF2-40B4-BE49-F238E27FC236}">
                <a16:creationId xmlns:a16="http://schemas.microsoft.com/office/drawing/2014/main" id="{AD00E2BA-0ABE-44E3-94E4-043AE1CE01AF}"/>
              </a:ext>
            </a:extLst>
          </p:cNvPr>
          <p:cNvPicPr>
            <a:picLocks noChangeAspect="1"/>
          </p:cNvPicPr>
          <p:nvPr/>
        </p:nvPicPr>
        <p:blipFill rotWithShape="1">
          <a:blip r:embed="rId3"/>
          <a:srcRect l="21072" t="43968" r="24107" b="22063"/>
          <a:stretch/>
        </p:blipFill>
        <p:spPr>
          <a:xfrm>
            <a:off x="232454" y="2664323"/>
            <a:ext cx="6683828" cy="2329544"/>
          </a:xfrm>
          <a:prstGeom prst="rect">
            <a:avLst/>
          </a:prstGeom>
        </p:spPr>
      </p:pic>
      <p:sp>
        <p:nvSpPr>
          <p:cNvPr id="6" name="Rectangle 3">
            <a:extLst>
              <a:ext uri="{FF2B5EF4-FFF2-40B4-BE49-F238E27FC236}">
                <a16:creationId xmlns:a16="http://schemas.microsoft.com/office/drawing/2014/main" id="{0CBE12A0-0DC5-41DA-9993-84068CD6AF06}"/>
              </a:ext>
            </a:extLst>
          </p:cNvPr>
          <p:cNvSpPr txBox="1">
            <a:spLocks noChangeArrowheads="1"/>
          </p:cNvSpPr>
          <p:nvPr/>
        </p:nvSpPr>
        <p:spPr>
          <a:xfrm>
            <a:off x="7147831" y="2261553"/>
            <a:ext cx="4684941" cy="2743200"/>
          </a:xfrm>
          <a:prstGeom prst="rect">
            <a:avLst/>
          </a:prstGeom>
        </p:spPr>
        <p:txBody>
          <a:bodyPr vert="horz" lIns="91440" tIns="45720" rIns="86493" bIns="43247"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nSpc>
                <a:spcPct val="80000"/>
              </a:lnSpc>
              <a:spcAft>
                <a:spcPct val="50000"/>
              </a:spcAft>
            </a:pPr>
            <a:r>
              <a:rPr lang="en-US" sz="2400" dirty="0">
                <a:solidFill>
                  <a:schemeClr val="accent3">
                    <a:lumMod val="40000"/>
                    <a:lumOff val="60000"/>
                  </a:schemeClr>
                </a:solidFill>
              </a:rPr>
              <a:t>The slices closer to you will appear larger than those further away.</a:t>
            </a:r>
          </a:p>
          <a:p>
            <a:pPr>
              <a:lnSpc>
                <a:spcPct val="80000"/>
              </a:lnSpc>
              <a:spcAft>
                <a:spcPct val="50000"/>
              </a:spcAft>
            </a:pPr>
            <a:endParaRPr lang="en-US" sz="2400" dirty="0">
              <a:solidFill>
                <a:schemeClr val="accent3">
                  <a:lumMod val="40000"/>
                  <a:lumOff val="60000"/>
                </a:schemeClr>
              </a:solidFill>
            </a:endParaRPr>
          </a:p>
          <a:p>
            <a:pPr>
              <a:lnSpc>
                <a:spcPct val="80000"/>
              </a:lnSpc>
              <a:spcAft>
                <a:spcPct val="50000"/>
              </a:spcAft>
            </a:pPr>
            <a:r>
              <a:rPr lang="en-US" sz="2400" dirty="0">
                <a:solidFill>
                  <a:schemeClr val="accent3">
                    <a:lumMod val="40000"/>
                    <a:lumOff val="60000"/>
                  </a:schemeClr>
                </a:solidFill>
              </a:rPr>
              <a:t>Compare Item A and Item C in both the graph</a:t>
            </a:r>
          </a:p>
        </p:txBody>
      </p:sp>
      <p:sp>
        <p:nvSpPr>
          <p:cNvPr id="10" name="TextBox 9">
            <a:extLst>
              <a:ext uri="{FF2B5EF4-FFF2-40B4-BE49-F238E27FC236}">
                <a16:creationId xmlns:a16="http://schemas.microsoft.com/office/drawing/2014/main" id="{5BE8DEB8-0827-4008-9394-CE245D577005}"/>
              </a:ext>
            </a:extLst>
          </p:cNvPr>
          <p:cNvSpPr txBox="1"/>
          <p:nvPr/>
        </p:nvSpPr>
        <p:spPr>
          <a:xfrm>
            <a:off x="232454" y="5527943"/>
            <a:ext cx="6096000" cy="276999"/>
          </a:xfrm>
          <a:prstGeom prst="rect">
            <a:avLst/>
          </a:prstGeom>
          <a:noFill/>
        </p:spPr>
        <p:txBody>
          <a:bodyPr wrap="square">
            <a:spAutoFit/>
          </a:bodyPr>
          <a:lstStyle/>
          <a:p>
            <a:r>
              <a:rPr lang="en-IN" sz="1200" dirty="0"/>
              <a:t>https://www.noigroup.com/noijam/how-to-spot-a-misleading-graph/</a:t>
            </a:r>
          </a:p>
        </p:txBody>
      </p:sp>
    </p:spTree>
    <p:extLst>
      <p:ext uri="{BB962C8B-B14F-4D97-AF65-F5344CB8AC3E}">
        <p14:creationId xmlns:p14="http://schemas.microsoft.com/office/powerpoint/2010/main" val="3234588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FF72-FC48-4F12-AA1F-E70B3350A44F}"/>
              </a:ext>
            </a:extLst>
          </p:cNvPr>
          <p:cNvSpPr>
            <a:spLocks noGrp="1"/>
          </p:cNvSpPr>
          <p:nvPr>
            <p:ph type="title"/>
          </p:nvPr>
        </p:nvSpPr>
        <p:spPr/>
        <p:txBody>
          <a:bodyPr/>
          <a:lstStyle/>
          <a:p>
            <a:r>
              <a:rPr lang="en-US" dirty="0"/>
              <a:t>Misleading 3D Pie Chart..</a:t>
            </a:r>
            <a:endParaRPr lang="en-IN" dirty="0"/>
          </a:p>
        </p:txBody>
      </p:sp>
      <p:sp>
        <p:nvSpPr>
          <p:cNvPr id="3" name="Slide Number Placeholder 2">
            <a:extLst>
              <a:ext uri="{FF2B5EF4-FFF2-40B4-BE49-F238E27FC236}">
                <a16:creationId xmlns:a16="http://schemas.microsoft.com/office/drawing/2014/main" id="{9B63F6BA-5733-4515-BC0C-0B5D3E51C85A}"/>
              </a:ext>
            </a:extLst>
          </p:cNvPr>
          <p:cNvSpPr>
            <a:spLocks noGrp="1"/>
          </p:cNvSpPr>
          <p:nvPr>
            <p:ph type="sldNum" sz="quarter" idx="12"/>
          </p:nvPr>
        </p:nvSpPr>
        <p:spPr/>
        <p:txBody>
          <a:bodyPr/>
          <a:lstStyle/>
          <a:p>
            <a:fld id="{D57F1E4F-1CFF-5643-939E-217C01CDF565}" type="slidenum">
              <a:rPr lang="en-US" smtClean="0"/>
              <a:pPr/>
              <a:t>7</a:t>
            </a:fld>
            <a:endParaRPr lang="en-US" dirty="0"/>
          </a:p>
        </p:txBody>
      </p:sp>
      <p:pic>
        <p:nvPicPr>
          <p:cNvPr id="5" name="Picture 4">
            <a:extLst>
              <a:ext uri="{FF2B5EF4-FFF2-40B4-BE49-F238E27FC236}">
                <a16:creationId xmlns:a16="http://schemas.microsoft.com/office/drawing/2014/main" id="{C6AAAD23-4B42-475E-A850-89D3E1217446}"/>
              </a:ext>
            </a:extLst>
          </p:cNvPr>
          <p:cNvPicPr>
            <a:picLocks noChangeAspect="1"/>
          </p:cNvPicPr>
          <p:nvPr/>
        </p:nvPicPr>
        <p:blipFill rotWithShape="1">
          <a:blip r:embed="rId2"/>
          <a:srcRect l="20803" t="23016" r="21786" b="29682"/>
          <a:stretch/>
        </p:blipFill>
        <p:spPr>
          <a:xfrm>
            <a:off x="254225" y="2405742"/>
            <a:ext cx="6999516" cy="3243943"/>
          </a:xfrm>
          <a:prstGeom prst="rect">
            <a:avLst/>
          </a:prstGeom>
        </p:spPr>
      </p:pic>
      <p:sp>
        <p:nvSpPr>
          <p:cNvPr id="7" name="TextBox 6">
            <a:extLst>
              <a:ext uri="{FF2B5EF4-FFF2-40B4-BE49-F238E27FC236}">
                <a16:creationId xmlns:a16="http://schemas.microsoft.com/office/drawing/2014/main" id="{586A662D-BEC6-4B32-8FE0-FEC3038D709E}"/>
              </a:ext>
            </a:extLst>
          </p:cNvPr>
          <p:cNvSpPr txBox="1"/>
          <p:nvPr/>
        </p:nvSpPr>
        <p:spPr>
          <a:xfrm>
            <a:off x="489857" y="5808506"/>
            <a:ext cx="6096000" cy="461665"/>
          </a:xfrm>
          <a:prstGeom prst="rect">
            <a:avLst/>
          </a:prstGeom>
          <a:noFill/>
        </p:spPr>
        <p:txBody>
          <a:bodyPr wrap="square">
            <a:spAutoFit/>
          </a:bodyPr>
          <a:lstStyle/>
          <a:p>
            <a:r>
              <a:rPr lang="en-US" sz="1200" b="0" i="0" dirty="0">
                <a:effectLst/>
                <a:latin typeface="Arial" panose="020B0604020202020204" pitchFamily="34" charset="0"/>
              </a:rPr>
              <a:t>In, J., &amp; Lee, S. (2017). Statistical data presentation. </a:t>
            </a:r>
            <a:r>
              <a:rPr lang="en-US" sz="1200" b="0" i="1" dirty="0">
                <a:effectLst/>
                <a:latin typeface="Arial" panose="020B0604020202020204" pitchFamily="34" charset="0"/>
              </a:rPr>
              <a:t>Korean journal of anesthesiology</a:t>
            </a:r>
            <a:r>
              <a:rPr lang="en-US" sz="1200" b="0" i="0" dirty="0">
                <a:effectLst/>
                <a:latin typeface="Arial" panose="020B0604020202020204" pitchFamily="34" charset="0"/>
              </a:rPr>
              <a:t>, </a:t>
            </a:r>
            <a:r>
              <a:rPr lang="en-US" sz="1200" b="0" i="1" dirty="0">
                <a:effectLst/>
                <a:latin typeface="Arial" panose="020B0604020202020204" pitchFamily="34" charset="0"/>
              </a:rPr>
              <a:t>70</a:t>
            </a:r>
            <a:r>
              <a:rPr lang="en-US" sz="1200" b="0" i="0" dirty="0">
                <a:effectLst/>
                <a:latin typeface="Arial" panose="020B0604020202020204" pitchFamily="34" charset="0"/>
              </a:rPr>
              <a:t>(3), 267.</a:t>
            </a:r>
            <a:endParaRPr lang="en-IN" sz="1200" dirty="0"/>
          </a:p>
        </p:txBody>
      </p:sp>
      <p:sp>
        <p:nvSpPr>
          <p:cNvPr id="8" name="Rectangle 3">
            <a:extLst>
              <a:ext uri="{FF2B5EF4-FFF2-40B4-BE49-F238E27FC236}">
                <a16:creationId xmlns:a16="http://schemas.microsoft.com/office/drawing/2014/main" id="{2A6AC616-7715-45CC-8A7A-57E1E43EB3AB}"/>
              </a:ext>
            </a:extLst>
          </p:cNvPr>
          <p:cNvSpPr txBox="1">
            <a:spLocks noChangeArrowheads="1"/>
          </p:cNvSpPr>
          <p:nvPr/>
        </p:nvSpPr>
        <p:spPr>
          <a:xfrm>
            <a:off x="7402286" y="2261553"/>
            <a:ext cx="4536396" cy="2743200"/>
          </a:xfrm>
          <a:prstGeom prst="rect">
            <a:avLst/>
          </a:prstGeom>
        </p:spPr>
        <p:txBody>
          <a:bodyPr vert="horz" lIns="91440" tIns="45720" rIns="86493" bIns="43247" rtlCol="0" anchor="ct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nSpc>
                <a:spcPct val="80000"/>
              </a:lnSpc>
              <a:spcAft>
                <a:spcPct val="50000"/>
              </a:spcAft>
            </a:pPr>
            <a:r>
              <a:rPr lang="en-US" sz="2400" dirty="0">
                <a:solidFill>
                  <a:schemeClr val="accent3">
                    <a:lumMod val="40000"/>
                    <a:lumOff val="60000"/>
                  </a:schemeClr>
                </a:solidFill>
              </a:rPr>
              <a:t>A and B look quite similar in the 3D graph!</a:t>
            </a:r>
          </a:p>
        </p:txBody>
      </p:sp>
    </p:spTree>
    <p:extLst>
      <p:ext uri="{BB962C8B-B14F-4D97-AF65-F5344CB8AC3E}">
        <p14:creationId xmlns:p14="http://schemas.microsoft.com/office/powerpoint/2010/main" val="1931197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9028C-C8B2-4CB9-B329-ABC396C7C4ED}"/>
              </a:ext>
            </a:extLst>
          </p:cNvPr>
          <p:cNvSpPr>
            <a:spLocks noGrp="1"/>
          </p:cNvSpPr>
          <p:nvPr>
            <p:ph type="title"/>
          </p:nvPr>
        </p:nvSpPr>
        <p:spPr>
          <a:xfrm>
            <a:off x="1549625" y="3132075"/>
            <a:ext cx="9404723" cy="767688"/>
          </a:xfrm>
        </p:spPr>
        <p:txBody>
          <a:bodyPr/>
          <a:lstStyle/>
          <a:p>
            <a:pPr algn="ctr"/>
            <a:r>
              <a:rPr lang="en-US" b="1" dirty="0"/>
              <a:t>T</a:t>
            </a:r>
            <a:r>
              <a:rPr lang="en-IN" b="1" dirty="0"/>
              <a:t>hank you</a:t>
            </a:r>
          </a:p>
        </p:txBody>
      </p:sp>
      <p:sp>
        <p:nvSpPr>
          <p:cNvPr id="3" name="Slide Number Placeholder 2">
            <a:extLst>
              <a:ext uri="{FF2B5EF4-FFF2-40B4-BE49-F238E27FC236}">
                <a16:creationId xmlns:a16="http://schemas.microsoft.com/office/drawing/2014/main" id="{1B8355D3-0115-4453-9A06-B5B1E66C789D}"/>
              </a:ext>
            </a:extLst>
          </p:cNvPr>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42193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9930-16A2-45C6-A62F-44D274C9C861}"/>
              </a:ext>
            </a:extLst>
          </p:cNvPr>
          <p:cNvSpPr>
            <a:spLocks noGrp="1"/>
          </p:cNvSpPr>
          <p:nvPr>
            <p:ph type="title"/>
          </p:nvPr>
        </p:nvSpPr>
        <p:spPr>
          <a:xfrm>
            <a:off x="1393638" y="2777706"/>
            <a:ext cx="9404723" cy="1111376"/>
          </a:xfrm>
        </p:spPr>
        <p:txBody>
          <a:bodyPr/>
          <a:lstStyle/>
          <a:p>
            <a:pPr algn="ctr"/>
            <a:r>
              <a:rPr lang="en-US" b="1"/>
              <a:t>Tutorial 1.2</a:t>
            </a:r>
            <a:br>
              <a:rPr lang="en-US" b="1"/>
            </a:br>
            <a:r>
              <a:rPr lang="en-US" b="1"/>
              <a:t>Creating </a:t>
            </a:r>
            <a:r>
              <a:rPr lang="en-US" b="1" dirty="0"/>
              <a:t>a dashboard</a:t>
            </a:r>
            <a:endParaRPr lang="en-IN" b="1" dirty="0"/>
          </a:p>
        </p:txBody>
      </p:sp>
      <p:sp>
        <p:nvSpPr>
          <p:cNvPr id="3" name="Slide Number Placeholder 2">
            <a:extLst>
              <a:ext uri="{FF2B5EF4-FFF2-40B4-BE49-F238E27FC236}">
                <a16:creationId xmlns:a16="http://schemas.microsoft.com/office/drawing/2014/main" id="{24CEE022-673F-470A-8D87-81E32649C26A}"/>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4862829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1885</TotalTime>
  <Words>483</Words>
  <Application>Microsoft Office PowerPoint</Application>
  <PresentationFormat>Widescreen</PresentationFormat>
  <Paragraphs>49</Paragraphs>
  <Slides>9</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-apple-system</vt:lpstr>
      <vt:lpstr>Arial</vt:lpstr>
      <vt:lpstr>Calibri</vt:lpstr>
      <vt:lpstr>Century Gothic</vt:lpstr>
      <vt:lpstr>pt sans</vt:lpstr>
      <vt:lpstr>PTSerif</vt:lpstr>
      <vt:lpstr>Wingdings 3</vt:lpstr>
      <vt:lpstr>Ion</vt:lpstr>
      <vt:lpstr>Data Visualization </vt:lpstr>
      <vt:lpstr>Misleading axes</vt:lpstr>
      <vt:lpstr>Wrong data</vt:lpstr>
      <vt:lpstr>Inappropriate chart type</vt:lpstr>
      <vt:lpstr>Incorrect bar chart</vt:lpstr>
      <vt:lpstr>Misleading 3D Pie Chart</vt:lpstr>
      <vt:lpstr>Misleading 3D Pie Chart..</vt:lpstr>
      <vt:lpstr>Thank you</vt:lpstr>
      <vt:lpstr>Tutorial 1.2 Creating a dashboard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Visualization </dc:title>
  <dc:creator>Dell</dc:creator>
  <cp:lastModifiedBy>Avilasha Annanya Sandilya</cp:lastModifiedBy>
  <cp:revision>41</cp:revision>
  <dcterms:created xsi:type="dcterms:W3CDTF">2021-12-17T15:24:41Z</dcterms:created>
  <dcterms:modified xsi:type="dcterms:W3CDTF">2021-12-27T10:07:29Z</dcterms:modified>
</cp:coreProperties>
</file>